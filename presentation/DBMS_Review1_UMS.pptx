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>
      <p:cViewPr varScale="1">
        <p:scale>
          <a:sx n="56" d="100"/>
          <a:sy n="56" d="100"/>
        </p:scale>
        <p:origin x="614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639780" y="2671444"/>
            <a:ext cx="5511165" cy="563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8B775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320" y="1365304"/>
            <a:ext cx="17134205" cy="122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0048" y="2193818"/>
            <a:ext cx="7675244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265" y="523179"/>
            <a:ext cx="11690985" cy="2012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50" spc="-875" dirty="0">
                <a:solidFill>
                  <a:srgbClr val="331B0D"/>
                </a:solidFill>
                <a:latin typeface="Verdana"/>
                <a:cs typeface="Verdana"/>
              </a:rPr>
              <a:t>D</a:t>
            </a:r>
            <a:r>
              <a:rPr sz="13050" spc="-819" dirty="0">
                <a:solidFill>
                  <a:srgbClr val="331B0D"/>
                </a:solidFill>
                <a:latin typeface="Verdana"/>
                <a:cs typeface="Verdana"/>
              </a:rPr>
              <a:t>B</a:t>
            </a:r>
            <a:r>
              <a:rPr sz="13050" spc="-780" dirty="0">
                <a:solidFill>
                  <a:srgbClr val="331B0D"/>
                </a:solidFill>
                <a:latin typeface="Verdana"/>
                <a:cs typeface="Verdana"/>
              </a:rPr>
              <a:t>M</a:t>
            </a:r>
            <a:r>
              <a:rPr sz="13050" spc="-35" dirty="0">
                <a:solidFill>
                  <a:srgbClr val="331B0D"/>
                </a:solidFill>
                <a:latin typeface="Verdana"/>
                <a:cs typeface="Verdana"/>
              </a:rPr>
              <a:t>S</a:t>
            </a:r>
            <a:r>
              <a:rPr sz="13050" spc="-248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13050" spc="-780" dirty="0">
                <a:solidFill>
                  <a:srgbClr val="331B0D"/>
                </a:solidFill>
                <a:latin typeface="Verdana"/>
                <a:cs typeface="Verdana"/>
              </a:rPr>
              <a:t>P</a:t>
            </a:r>
            <a:r>
              <a:rPr sz="13050" spc="-869" dirty="0">
                <a:solidFill>
                  <a:srgbClr val="331B0D"/>
                </a:solidFill>
                <a:latin typeface="Verdana"/>
                <a:cs typeface="Verdana"/>
              </a:rPr>
              <a:t>R</a:t>
            </a:r>
            <a:r>
              <a:rPr sz="13050" spc="-1365" dirty="0">
                <a:solidFill>
                  <a:srgbClr val="331B0D"/>
                </a:solidFill>
                <a:latin typeface="Verdana"/>
                <a:cs typeface="Verdana"/>
              </a:rPr>
              <a:t>O</a:t>
            </a:r>
            <a:r>
              <a:rPr sz="13050" spc="-965" dirty="0">
                <a:solidFill>
                  <a:srgbClr val="331B0D"/>
                </a:solidFill>
                <a:latin typeface="Verdana"/>
                <a:cs typeface="Verdana"/>
              </a:rPr>
              <a:t>J</a:t>
            </a:r>
            <a:r>
              <a:rPr sz="13050" spc="-1000" dirty="0">
                <a:solidFill>
                  <a:srgbClr val="331B0D"/>
                </a:solidFill>
                <a:latin typeface="Verdana"/>
                <a:cs typeface="Verdana"/>
              </a:rPr>
              <a:t>E</a:t>
            </a:r>
            <a:r>
              <a:rPr sz="13050" spc="-880" dirty="0">
                <a:solidFill>
                  <a:srgbClr val="331B0D"/>
                </a:solidFill>
                <a:latin typeface="Verdana"/>
                <a:cs typeface="Verdana"/>
              </a:rPr>
              <a:t>C</a:t>
            </a:r>
            <a:r>
              <a:rPr sz="13050" spc="-30" dirty="0">
                <a:solidFill>
                  <a:srgbClr val="331B0D"/>
                </a:solidFill>
                <a:latin typeface="Verdana"/>
                <a:cs typeface="Verdana"/>
              </a:rPr>
              <a:t>T</a:t>
            </a:r>
            <a:endParaRPr sz="130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7965" y="3849341"/>
            <a:ext cx="11595100" cy="66675"/>
          </a:xfrm>
          <a:custGeom>
            <a:avLst/>
            <a:gdLst/>
            <a:ahLst/>
            <a:cxnLst/>
            <a:rect l="l" t="t" r="r" b="b"/>
            <a:pathLst>
              <a:path w="11595100" h="66675">
                <a:moveTo>
                  <a:pt x="11594900" y="66674"/>
                </a:moveTo>
                <a:lnTo>
                  <a:pt x="0" y="66674"/>
                </a:lnTo>
                <a:lnTo>
                  <a:pt x="0" y="0"/>
                </a:lnTo>
                <a:lnTo>
                  <a:pt x="11594900" y="0"/>
                </a:lnTo>
                <a:lnTo>
                  <a:pt x="11594900" y="66674"/>
                </a:lnTo>
                <a:close/>
              </a:path>
            </a:pathLst>
          </a:custGeom>
          <a:solidFill>
            <a:srgbClr val="33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5265" y="3100072"/>
            <a:ext cx="116624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b="1" spc="-484" dirty="0">
                <a:solidFill>
                  <a:srgbClr val="331B0D"/>
                </a:solidFill>
                <a:latin typeface="Tahoma"/>
                <a:cs typeface="Tahoma"/>
              </a:rPr>
              <a:t>U</a:t>
            </a:r>
            <a:r>
              <a:rPr sz="5500" b="1" spc="-495" dirty="0">
                <a:solidFill>
                  <a:srgbClr val="331B0D"/>
                </a:solidFill>
                <a:latin typeface="Tahoma"/>
                <a:cs typeface="Tahoma"/>
              </a:rPr>
              <a:t>N</a:t>
            </a:r>
            <a:r>
              <a:rPr sz="5500" b="1" spc="-725" dirty="0">
                <a:solidFill>
                  <a:srgbClr val="331B0D"/>
                </a:solidFill>
                <a:latin typeface="Tahoma"/>
                <a:cs typeface="Tahoma"/>
              </a:rPr>
              <a:t>I</a:t>
            </a:r>
            <a:r>
              <a:rPr sz="5500" b="1" spc="-470" dirty="0">
                <a:solidFill>
                  <a:srgbClr val="331B0D"/>
                </a:solidFill>
                <a:latin typeface="Tahoma"/>
                <a:cs typeface="Tahoma"/>
              </a:rPr>
              <a:t>V</a:t>
            </a:r>
            <a:r>
              <a:rPr sz="5500" b="1" spc="-480" dirty="0">
                <a:solidFill>
                  <a:srgbClr val="331B0D"/>
                </a:solidFill>
                <a:latin typeface="Tahoma"/>
                <a:cs typeface="Tahoma"/>
              </a:rPr>
              <a:t>E</a:t>
            </a:r>
            <a:r>
              <a:rPr sz="5500" b="1" spc="-500" dirty="0">
                <a:solidFill>
                  <a:srgbClr val="331B0D"/>
                </a:solidFill>
                <a:latin typeface="Tahoma"/>
                <a:cs typeface="Tahoma"/>
              </a:rPr>
              <a:t>R</a:t>
            </a:r>
            <a:r>
              <a:rPr sz="5500" b="1" spc="-455" dirty="0">
                <a:solidFill>
                  <a:srgbClr val="331B0D"/>
                </a:solidFill>
                <a:latin typeface="Tahoma"/>
                <a:cs typeface="Tahoma"/>
              </a:rPr>
              <a:t>S</a:t>
            </a:r>
            <a:r>
              <a:rPr sz="5500" b="1" spc="-725" dirty="0">
                <a:solidFill>
                  <a:srgbClr val="331B0D"/>
                </a:solidFill>
                <a:latin typeface="Tahoma"/>
                <a:cs typeface="Tahoma"/>
              </a:rPr>
              <a:t>I</a:t>
            </a:r>
            <a:r>
              <a:rPr sz="5500" b="1" spc="-475" dirty="0">
                <a:solidFill>
                  <a:srgbClr val="331B0D"/>
                </a:solidFill>
                <a:latin typeface="Tahoma"/>
                <a:cs typeface="Tahoma"/>
              </a:rPr>
              <a:t>T</a:t>
            </a:r>
            <a:r>
              <a:rPr sz="5500" b="1" spc="-145" dirty="0">
                <a:solidFill>
                  <a:srgbClr val="331B0D"/>
                </a:solidFill>
                <a:latin typeface="Tahoma"/>
                <a:cs typeface="Tahoma"/>
              </a:rPr>
              <a:t>Y</a:t>
            </a:r>
            <a:r>
              <a:rPr sz="5500" b="1" spc="-750" dirty="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sz="5500" b="1" spc="-240" dirty="0">
                <a:solidFill>
                  <a:srgbClr val="331B0D"/>
                </a:solidFill>
                <a:latin typeface="Tahoma"/>
                <a:cs typeface="Tahoma"/>
              </a:rPr>
              <a:t>MANAGEMENT</a:t>
            </a:r>
            <a:r>
              <a:rPr sz="5500" b="1" spc="-760" dirty="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sz="5500" b="1" spc="-60" dirty="0">
                <a:solidFill>
                  <a:srgbClr val="331B0D"/>
                </a:solidFill>
                <a:latin typeface="Tahoma"/>
                <a:cs typeface="Tahoma"/>
              </a:rPr>
              <a:t>SYSTEM</a:t>
            </a:r>
            <a:endParaRPr sz="5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0" y="7137709"/>
            <a:ext cx="8585476" cy="2600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400" b="1" spc="225" dirty="0">
                <a:solidFill>
                  <a:srgbClr val="8B7753"/>
                </a:solidFill>
                <a:latin typeface="Tahoma"/>
                <a:cs typeface="Tahoma"/>
              </a:rPr>
              <a:t>TEAM</a:t>
            </a:r>
            <a:r>
              <a:rPr lang="en-IN" sz="2400" b="1" spc="43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lang="en-IN" sz="2400" b="1" spc="195" dirty="0">
                <a:solidFill>
                  <a:srgbClr val="8B7753"/>
                </a:solidFill>
                <a:latin typeface="Tahoma"/>
                <a:cs typeface="Tahoma"/>
              </a:rPr>
              <a:t>MEMBERS: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25B11DS045   -	B.ROHITH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25B11DS286   -	K.ANANDH SAI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25B11DS331   -	M.GOWRI SHANKAR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25B11DS034   -	Ayush Kumar Singh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25B11DS211   -	K.SIVA LAKSHMI RAHUL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257C1-0C38-5F40-008C-3ADF06F3AC06}"/>
              </a:ext>
            </a:extLst>
          </p:cNvPr>
          <p:cNvSpPr txBox="1"/>
          <p:nvPr/>
        </p:nvSpPr>
        <p:spPr>
          <a:xfrm>
            <a:off x="2861173" y="2494605"/>
            <a:ext cx="9341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Database Management Systems (2501IT05)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D8B46-B19C-3C43-B131-E522D6FF27D3}"/>
              </a:ext>
            </a:extLst>
          </p:cNvPr>
          <p:cNvSpPr txBox="1"/>
          <p:nvPr/>
        </p:nvSpPr>
        <p:spPr>
          <a:xfrm>
            <a:off x="3657600" y="4282921"/>
            <a:ext cx="934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Project Guide</a:t>
            </a:r>
            <a:r>
              <a:rPr lang="en-IN" b="1" dirty="0"/>
              <a:t>: PARASA KEERTHANA 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860684"/>
            <a:ext cx="1047749" cy="1266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8914" y="3723852"/>
            <a:ext cx="1485899" cy="1533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49128" y="3365384"/>
            <a:ext cx="809624" cy="17621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solidFill>
                  <a:srgbClr val="331B0D"/>
                </a:solidFill>
                <a:latin typeface="Verdana"/>
                <a:cs typeface="Verdana"/>
              </a:rPr>
              <a:t>Project</a:t>
            </a:r>
            <a:r>
              <a:rPr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4800" spc="-385" dirty="0">
                <a:solidFill>
                  <a:srgbClr val="331B0D"/>
                </a:solidFill>
                <a:latin typeface="Verdana"/>
                <a:cs typeface="Verdana"/>
              </a:rPr>
              <a:t>Overview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5690869"/>
            <a:ext cx="1255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8B7753"/>
                </a:solidFill>
                <a:latin typeface="Verdana"/>
                <a:cs typeface="Verdana"/>
              </a:rPr>
              <a:t>Problem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6401434"/>
            <a:ext cx="4335573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Managing student, faculty, course,</a:t>
            </a:r>
            <a:r>
              <a:rPr lang="en-IN" sz="2400" dirty="0"/>
              <a:t> 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enrolment, and academic records manually can be complex, time-consuming, and prone to errors.</a:t>
            </a:r>
            <a:endParaRPr sz="21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6213" y="5690869"/>
            <a:ext cx="123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8B7753"/>
                </a:solidFill>
                <a:latin typeface="Verdana"/>
                <a:cs typeface="Verdana"/>
              </a:rPr>
              <a:t>Solution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6213" y="6401434"/>
            <a:ext cx="4335573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 centralized MySQL-based University Management System that organizes academic data using related tables, keys, constraints, and relationships.</a:t>
            </a:r>
            <a:endParaRPr sz="21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36428" y="5690869"/>
            <a:ext cx="219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8B7753"/>
                </a:solidFill>
                <a:latin typeface="Verdana"/>
                <a:cs typeface="Verdana"/>
              </a:rPr>
              <a:t>Why</a:t>
            </a:r>
            <a:r>
              <a:rPr sz="2400" spc="-18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54" dirty="0">
                <a:solidFill>
                  <a:srgbClr val="8B7753"/>
                </a:solidFill>
                <a:latin typeface="Verdana"/>
                <a:cs typeface="Verdana"/>
              </a:rPr>
              <a:t>It</a:t>
            </a:r>
            <a:r>
              <a:rPr sz="2400" spc="-17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B7753"/>
                </a:solidFill>
                <a:latin typeface="Verdana"/>
                <a:cs typeface="Verdana"/>
              </a:rPr>
              <a:t>Matters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25400" y="6401434"/>
            <a:ext cx="5334000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615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The system reduces data redundancy, improves data consistency, maintains relationships between records, and enables efficient access to university information.</a:t>
            </a:r>
            <a:endParaRPr sz="24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1010284"/>
            <a:ext cx="208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8B7753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3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solidFill>
                  <a:srgbClr val="331B0D"/>
                </a:solidFill>
                <a:latin typeface="Verdana"/>
                <a:cs typeface="Verdana"/>
              </a:rPr>
              <a:t>Project</a:t>
            </a:r>
            <a:r>
              <a:rPr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4800" spc="-335" dirty="0">
                <a:solidFill>
                  <a:srgbClr val="331B0D"/>
                </a:solidFill>
                <a:latin typeface="Verdana"/>
                <a:cs typeface="Verdana"/>
              </a:rPr>
              <a:t>Objective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097216"/>
            <a:ext cx="150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8B7753"/>
                </a:solidFill>
                <a:latin typeface="Verdana"/>
                <a:cs typeface="Verdana"/>
              </a:rPr>
              <a:t>Main</a:t>
            </a:r>
            <a:r>
              <a:rPr sz="2400" spc="-14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B7753"/>
                </a:solidFill>
                <a:latin typeface="Verdana"/>
                <a:cs typeface="Verdana"/>
              </a:rPr>
              <a:t>Goal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1010284"/>
            <a:ext cx="208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8B7753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3971716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5086141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6200566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7314991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8429416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69330" y="3764707"/>
            <a:ext cx="6912670" cy="5902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sz="2400" b="1" dirty="0"/>
              <a:t>Centralize Data:</a:t>
            </a:r>
            <a:r>
              <a:rPr lang="en-IN" sz="2400" dirty="0"/>
              <a:t> Design a relational database to organize university academic and administrative data. </a:t>
            </a:r>
          </a:p>
          <a:p>
            <a:pPr lvl="0"/>
            <a:r>
              <a:rPr lang="en-IN" sz="2400" b="1" dirty="0"/>
              <a:t>Identify Entities:</a:t>
            </a:r>
            <a:r>
              <a:rPr lang="en-IN" sz="2400" dirty="0"/>
              <a:t> Define the major entities such as College, Department, Student, Faculty, Course, and Enrolment along with their </a:t>
            </a:r>
            <a:r>
              <a:rPr lang="en-IN" sz="2400" dirty="0" err="1"/>
              <a:t>attributes</a:t>
            </a:r>
            <a:endParaRPr lang="en-IN" sz="2400" dirty="0"/>
          </a:p>
          <a:p>
            <a:pPr lvl="0"/>
            <a:r>
              <a:rPr lang="en-IN" sz="2400" b="1" dirty="0"/>
              <a:t>Define Relationships:</a:t>
            </a:r>
            <a:r>
              <a:rPr lang="en-IN" sz="2400" dirty="0"/>
              <a:t> Establish meaningful relationships between entities using appropriate cardinalities. </a:t>
            </a:r>
          </a:p>
          <a:p>
            <a:pPr lvl="0"/>
            <a:r>
              <a:rPr lang="en-IN" sz="2400" b="1" dirty="0"/>
              <a:t>Ensure Data Integrity:</a:t>
            </a:r>
            <a:r>
              <a:rPr lang="en-IN" sz="2400" dirty="0"/>
              <a:t> Define </a:t>
            </a:r>
            <a:r>
              <a:rPr lang="en-IN" sz="2400" b="1" dirty="0"/>
              <a:t>Primary Keys and Foreign Keys</a:t>
            </a:r>
            <a:r>
              <a:rPr lang="en-IN" sz="2400" dirty="0"/>
              <a:t> to uniquely identify records and maintain referential integrity. </a:t>
            </a:r>
          </a:p>
          <a:p>
            <a:pPr lvl="0"/>
            <a:r>
              <a:rPr lang="en-IN" sz="2400" b="1" dirty="0"/>
              <a:t>Prepare Database Schema:</a:t>
            </a:r>
            <a:r>
              <a:rPr lang="en-IN" sz="2400" dirty="0"/>
              <a:t> Convert the ER model into a structured relational schema suitable for implementation as a relational database.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endParaRPr sz="2100" dirty="0">
              <a:latin typeface="Verdana"/>
              <a:cs typeface="Verdan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8246" y="-114300"/>
            <a:ext cx="18268950" cy="7138670"/>
          </a:xfrm>
          <a:custGeom>
            <a:avLst/>
            <a:gdLst/>
            <a:ahLst/>
            <a:cxnLst/>
            <a:rect l="l" t="t" r="r" b="b"/>
            <a:pathLst>
              <a:path w="18268950" h="7138670">
                <a:moveTo>
                  <a:pt x="9144000" y="7138219"/>
                </a:moveTo>
                <a:lnTo>
                  <a:pt x="0" y="5984589"/>
                </a:lnTo>
                <a:lnTo>
                  <a:pt x="0" y="0"/>
                </a:lnTo>
                <a:lnTo>
                  <a:pt x="18268950" y="0"/>
                </a:lnTo>
                <a:lnTo>
                  <a:pt x="18268950" y="5986992"/>
                </a:lnTo>
                <a:lnTo>
                  <a:pt x="9144000" y="713821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lang="en-IN" sz="4800" spc="-270" dirty="0">
                <a:solidFill>
                  <a:srgbClr val="331B0D"/>
                </a:solidFill>
                <a:latin typeface="Verdana"/>
                <a:cs typeface="Verdana"/>
              </a:rPr>
              <a:t>What</a:t>
            </a:r>
            <a:r>
              <a:rPr lang="en-IN" sz="4800" spc="-919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IN" sz="4800" dirty="0">
                <a:solidFill>
                  <a:srgbClr val="331B0D"/>
                </a:solidFill>
                <a:latin typeface="Verdana"/>
                <a:cs typeface="Verdana"/>
              </a:rPr>
              <a:t>We</a:t>
            </a:r>
            <a:r>
              <a:rPr lang="en-IN"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IN" sz="4800" spc="-330" dirty="0">
                <a:solidFill>
                  <a:srgbClr val="331B0D"/>
                </a:solidFill>
                <a:latin typeface="Verdana"/>
                <a:cs typeface="Verdana"/>
              </a:rPr>
              <a:t>Found</a:t>
            </a:r>
            <a:endParaRPr lang="en-IN" sz="4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1010284"/>
            <a:ext cx="343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DATABASE DESIGN APPROACH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" y="3299933"/>
            <a:ext cx="6057085" cy="348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-665" dirty="0">
                <a:solidFill>
                  <a:srgbClr val="8B7753"/>
                </a:solidFill>
                <a:latin typeface="Tahoma"/>
                <a:cs typeface="Tahoma"/>
              </a:rPr>
              <a:t>1</a:t>
            </a:r>
            <a:r>
              <a:rPr lang="en-US" sz="3200" b="1" spc="-665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Structured Data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University information can be organized into related entities such as College, Department, Student, Faculty, Course, and Enrolment.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3431" y="3123005"/>
            <a:ext cx="6249215" cy="3472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solidFill>
                  <a:srgbClr val="8B7753"/>
                </a:solidFill>
                <a:latin typeface="Tahoma"/>
                <a:cs typeface="Tahoma"/>
              </a:rPr>
              <a:t>2</a:t>
            </a:r>
            <a:endParaRPr lang="en-US" sz="3200" b="1" spc="-50" dirty="0">
              <a:solidFill>
                <a:srgbClr val="8B7753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Reduced Redundancy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A well-designed relational database organizes data into separate related tables, reducing unnecessary duplication and making records easier to maintain.</a:t>
            </a:r>
            <a:endParaRPr lang="en-IN" sz="3200" b="1" spc="-50" dirty="0">
              <a:solidFill>
                <a:srgbClr val="8B7753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1626" y="3299933"/>
            <a:ext cx="5176374" cy="3472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10" dirty="0">
                <a:solidFill>
                  <a:srgbClr val="8B7753"/>
                </a:solidFill>
                <a:latin typeface="Tahoma"/>
                <a:cs typeface="Tahoma"/>
              </a:rPr>
              <a:t>3</a:t>
            </a:r>
            <a:endParaRPr lang="en-US" sz="3200" b="1" spc="10" dirty="0">
              <a:solidFill>
                <a:srgbClr val="8B7753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Data Integrity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Keys establish relationships between tables and help maintain consistency and accuracy of university records.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1130" y="7714896"/>
            <a:ext cx="12910328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i="1" spc="-95" dirty="0">
                <a:solidFill>
                  <a:srgbClr val="8B7753"/>
                </a:solidFill>
                <a:latin typeface="Verdana"/>
                <a:cs typeface="Verdana"/>
              </a:rPr>
              <a:t>Key</a:t>
            </a:r>
            <a:r>
              <a:rPr sz="2400" i="1" spc="-150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8B7753"/>
                </a:solidFill>
                <a:latin typeface="Verdana"/>
                <a:cs typeface="Verdana"/>
              </a:rPr>
              <a:t>Insight</a:t>
            </a:r>
            <a:endParaRPr sz="2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 well-structured database makes university data organized, consistent, and easy to manage</a:t>
            </a:r>
            <a:r>
              <a:rPr sz="2100" i="1" spc="-40" dirty="0">
                <a:solidFill>
                  <a:srgbClr val="331B0D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0554" y="998251"/>
            <a:ext cx="408495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E</a:t>
            </a:r>
            <a:r>
              <a:rPr u="heavy" spc="-17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n</a:t>
            </a: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t</a:t>
            </a:r>
            <a:r>
              <a:rPr u="heavy" spc="-15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i</a:t>
            </a: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t</a:t>
            </a:r>
            <a:r>
              <a:rPr u="heavy" spc="-68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y</a:t>
            </a:r>
            <a:r>
              <a:rPr u="heavy" spc="390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 </a:t>
            </a:r>
            <a:r>
              <a:rPr u="heavy" spc="-204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Descriptions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14400" y="4814427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247" y="1790700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9447" y="1613783"/>
            <a:ext cx="17450435" cy="8132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005">
              <a:lnSpc>
                <a:spcPct val="115799"/>
              </a:lnSpc>
              <a:spcBef>
                <a:spcPts val="100"/>
              </a:spcBef>
            </a:pPr>
            <a:r>
              <a:rPr lang="en-IN" sz="3600" b="1" dirty="0"/>
              <a:t> 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College</a:t>
            </a:r>
            <a:r>
              <a:rPr lang="en-IN" sz="3600" b="1" dirty="0"/>
              <a:t>:</a:t>
            </a:r>
            <a:r>
              <a:rPr lang="en-IN" sz="3600" dirty="0"/>
              <a:t> Represents the university/institution. Attributes include </a:t>
            </a:r>
            <a:r>
              <a:rPr lang="en-IN" sz="3600" b="1" dirty="0" err="1"/>
              <a:t>CollegeID</a:t>
            </a:r>
            <a:r>
              <a:rPr lang="en-IN" sz="3600" b="1" dirty="0"/>
              <a:t>,    </a:t>
            </a:r>
            <a:r>
              <a:rPr lang="en-IN" sz="3600" b="1" dirty="0" err="1"/>
              <a:t>CollegeName</a:t>
            </a:r>
            <a:r>
              <a:rPr lang="en-IN" sz="3600" b="1" dirty="0"/>
              <a:t>, Address, </a:t>
            </a:r>
            <a:r>
              <a:rPr lang="en-IN" sz="3600" b="1" dirty="0" err="1"/>
              <a:t>ContactInfo</a:t>
            </a:r>
            <a:r>
              <a:rPr lang="en-IN" sz="3600" b="1" dirty="0"/>
              <a:t>, </a:t>
            </a:r>
            <a:r>
              <a:rPr lang="en-IN" sz="3600" b="1" dirty="0" err="1"/>
              <a:t>EstablishedDate</a:t>
            </a:r>
            <a:r>
              <a:rPr sz="3400" spc="-10" dirty="0">
                <a:latin typeface="Lucida Sans Unicode"/>
                <a:cs typeface="Lucida Sans Unicode"/>
              </a:rPr>
              <a:t>.</a:t>
            </a:r>
            <a:endParaRPr sz="3400" dirty="0">
              <a:latin typeface="Lucida Sans Unicode"/>
              <a:cs typeface="Lucida Sans Unicode"/>
            </a:endParaRPr>
          </a:p>
          <a:p>
            <a:pPr marL="12700" marR="716280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Department</a:t>
            </a:r>
            <a:r>
              <a:rPr lang="en-IN" sz="3600" b="1" dirty="0"/>
              <a:t>:</a:t>
            </a:r>
            <a:r>
              <a:rPr lang="en-IN" sz="3600" dirty="0"/>
              <a:t> Represents an academic division within a college. Attributes include </a:t>
            </a:r>
            <a:r>
              <a:rPr lang="en-IN" sz="3600" b="1" dirty="0" err="1"/>
              <a:t>DepartmentID</a:t>
            </a:r>
            <a:r>
              <a:rPr lang="en-IN" sz="3600" b="1" dirty="0"/>
              <a:t>, </a:t>
            </a:r>
            <a:r>
              <a:rPr lang="en-IN" sz="3600" b="1" dirty="0" err="1"/>
              <a:t>DepartmentName</a:t>
            </a:r>
            <a:r>
              <a:rPr lang="en-IN" sz="3600" b="1" dirty="0"/>
              <a:t>, </a:t>
            </a:r>
            <a:r>
              <a:rPr lang="en-IN" sz="3600" b="1" dirty="0" err="1"/>
              <a:t>HeadOfDepartment</a:t>
            </a:r>
            <a:r>
              <a:rPr lang="en-IN" sz="3600" b="1" dirty="0"/>
              <a:t>, Location, Contact</a:t>
            </a:r>
            <a:r>
              <a:rPr sz="3400" spc="35" dirty="0">
                <a:latin typeface="Lucida Sans Unicode"/>
                <a:cs typeface="Lucida Sans Unicode"/>
              </a:rPr>
              <a:t>.</a:t>
            </a:r>
            <a:endParaRPr sz="3400" dirty="0">
              <a:latin typeface="Lucida Sans Unicode"/>
              <a:cs typeface="Lucida Sans Unicode"/>
            </a:endParaRP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Student</a:t>
            </a:r>
            <a:r>
              <a:rPr lang="en-IN" sz="3600" b="1" dirty="0"/>
              <a:t>:</a:t>
            </a:r>
            <a:r>
              <a:rPr lang="en-IN" sz="3600" dirty="0"/>
              <a:t> Stores student information. Attributes include </a:t>
            </a:r>
            <a:r>
              <a:rPr lang="en-IN" sz="3600" b="1" dirty="0" err="1"/>
              <a:t>StudentID</a:t>
            </a:r>
            <a:r>
              <a:rPr lang="en-IN" sz="3600" b="1" dirty="0"/>
              <a:t>, Name, Email, Phone, Gender, </a:t>
            </a:r>
            <a:r>
              <a:rPr lang="en-IN" sz="3600" b="1" dirty="0" err="1"/>
              <a:t>AdmissionDate</a:t>
            </a:r>
            <a:r>
              <a:rPr lang="en-IN" sz="3600" b="1" dirty="0"/>
              <a:t>, Status,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Faculty</a:t>
            </a:r>
            <a:r>
              <a:rPr lang="en-IN" sz="3600" b="1" dirty="0"/>
              <a:t>:</a:t>
            </a:r>
            <a:r>
              <a:rPr lang="en-IN" sz="3600" dirty="0"/>
              <a:t> Stores faculty information. Attributes include </a:t>
            </a:r>
            <a:r>
              <a:rPr lang="en-IN" sz="3600" b="1" dirty="0" err="1"/>
              <a:t>FacultyID</a:t>
            </a:r>
            <a:r>
              <a:rPr lang="en-IN" sz="3600" b="1" dirty="0"/>
              <a:t>, Name, Qualification, Experience, Salary,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  <a:r>
              <a:rPr sz="3400" spc="-215" dirty="0">
                <a:latin typeface="Lucida Sans Unicode"/>
                <a:cs typeface="Lucida Sans Unicode"/>
              </a:rPr>
              <a:t> </a:t>
            </a:r>
            <a:endParaRPr lang="en-US" sz="3400" spc="-215" dirty="0">
              <a:latin typeface="Lucida Sans Unicode"/>
              <a:cs typeface="Lucida Sans Unicode"/>
            </a:endParaRP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Course</a:t>
            </a:r>
            <a:r>
              <a:rPr lang="en-IN" sz="3600" b="1" dirty="0"/>
              <a:t>:</a:t>
            </a:r>
            <a:r>
              <a:rPr lang="en-IN" sz="3600" dirty="0"/>
              <a:t> Defines academic courses. Attributes include </a:t>
            </a:r>
            <a:r>
              <a:rPr lang="en-IN" sz="3600" b="1" dirty="0" err="1"/>
              <a:t>CourseID</a:t>
            </a:r>
            <a:r>
              <a:rPr lang="en-IN" sz="3600" b="1" dirty="0"/>
              <a:t>, </a:t>
            </a:r>
            <a:r>
              <a:rPr lang="en-IN" sz="3600" b="1" dirty="0" err="1"/>
              <a:t>CourseName</a:t>
            </a:r>
            <a:r>
              <a:rPr lang="en-IN" sz="3600" b="1" dirty="0"/>
              <a:t>, </a:t>
            </a:r>
            <a:r>
              <a:rPr lang="en-IN" sz="3600" b="1" dirty="0" err="1"/>
              <a:t>CourseCode</a:t>
            </a:r>
            <a:r>
              <a:rPr lang="en-IN" sz="3600" b="1" dirty="0"/>
              <a:t>, Credits, Duration, Prerequisites,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</a:p>
          <a:p>
            <a:r>
              <a:rPr lang="en-IN" sz="3600" b="1" dirty="0"/>
              <a:t>•</a:t>
            </a:r>
            <a:r>
              <a:rPr lang="en-IN" sz="3600" b="1" dirty="0" err="1">
                <a:solidFill>
                  <a:schemeClr val="bg2">
                    <a:lumMod val="50000"/>
                  </a:schemeClr>
                </a:solidFill>
              </a:rPr>
              <a:t>Enrollment</a:t>
            </a:r>
            <a:r>
              <a:rPr lang="en-IN" sz="3600" b="1" dirty="0"/>
              <a:t>:</a:t>
            </a:r>
            <a:r>
              <a:rPr lang="en-IN" sz="3600" dirty="0"/>
              <a:t> Represents a student's registration for a course. Attributes include </a:t>
            </a:r>
            <a:r>
              <a:rPr lang="en-IN" sz="3600" b="1" dirty="0" err="1"/>
              <a:t>EnrollmentID</a:t>
            </a:r>
            <a:r>
              <a:rPr lang="en-IN" sz="3600" b="1" dirty="0"/>
              <a:t>, </a:t>
            </a:r>
            <a:r>
              <a:rPr lang="en-IN" sz="3600" b="1" dirty="0" err="1"/>
              <a:t>StudentID</a:t>
            </a:r>
            <a:r>
              <a:rPr lang="en-IN" sz="3600" b="1" dirty="0"/>
              <a:t>, </a:t>
            </a:r>
            <a:r>
              <a:rPr lang="en-IN" sz="3600" b="1" dirty="0" err="1"/>
              <a:t>CourseID</a:t>
            </a:r>
            <a:r>
              <a:rPr lang="en-IN" sz="3600" b="1" dirty="0"/>
              <a:t>, </a:t>
            </a:r>
            <a:r>
              <a:rPr lang="en-IN" sz="3600" b="1" dirty="0" err="1"/>
              <a:t>EnrollmentDate</a:t>
            </a:r>
            <a:r>
              <a:rPr lang="en-IN" sz="3600" b="1" dirty="0"/>
              <a:t>, Grade</a:t>
            </a:r>
            <a:r>
              <a:rPr lang="en-IN" sz="3600" dirty="0"/>
              <a:t>.</a:t>
            </a:r>
          </a:p>
          <a:p>
            <a:pPr marL="12700" marR="918844">
              <a:lnSpc>
                <a:spcPct val="115799"/>
              </a:lnSpc>
            </a:pPr>
            <a:endParaRPr sz="3400" dirty="0">
              <a:latin typeface="Lucida Sans Unicode"/>
              <a:cs typeface="Lucida Sans Unicod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20167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35" dirty="0">
                <a:solidFill>
                  <a:srgbClr val="8B7753"/>
                </a:solidFill>
                <a:latin typeface="Tahoma"/>
                <a:cs typeface="Tahoma"/>
              </a:rPr>
              <a:t>ATTRIBUTES</a:t>
            </a:r>
            <a:endParaRPr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1497965"/>
            <a:ext cx="152400" cy="1523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1320" y="1190618"/>
            <a:ext cx="17428845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Attributes</a:t>
            </a:r>
            <a:r>
              <a:rPr spc="-155" dirty="0"/>
              <a:t> </a:t>
            </a:r>
            <a:r>
              <a:rPr dirty="0"/>
              <a:t>are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55" dirty="0"/>
              <a:t> </a:t>
            </a:r>
            <a:r>
              <a:rPr spc="-10" dirty="0"/>
              <a:t>individual</a:t>
            </a:r>
            <a:r>
              <a:rPr spc="-150" dirty="0"/>
              <a:t> </a:t>
            </a:r>
            <a:r>
              <a:rPr dirty="0"/>
              <a:t>data</a:t>
            </a:r>
            <a:r>
              <a:rPr spc="-155" dirty="0"/>
              <a:t> </a:t>
            </a:r>
            <a:r>
              <a:rPr spc="-10" dirty="0"/>
              <a:t>fields</a:t>
            </a:r>
            <a:r>
              <a:rPr spc="-150" dirty="0"/>
              <a:t> </a:t>
            </a:r>
            <a:r>
              <a:rPr dirty="0"/>
              <a:t>that</a:t>
            </a:r>
            <a:r>
              <a:rPr spc="-155" dirty="0"/>
              <a:t> </a:t>
            </a:r>
            <a:r>
              <a:rPr dirty="0"/>
              <a:t>describe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dirty="0"/>
              <a:t>properties</a:t>
            </a:r>
            <a:r>
              <a:rPr spc="-15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an</a:t>
            </a:r>
            <a:r>
              <a:rPr spc="-155" dirty="0"/>
              <a:t> </a:t>
            </a:r>
            <a:r>
              <a:rPr dirty="0"/>
              <a:t>entity</a:t>
            </a:r>
            <a:r>
              <a:rPr spc="-150" dirty="0"/>
              <a:t> </a:t>
            </a:r>
            <a:r>
              <a:rPr spc="-55" dirty="0"/>
              <a:t>in</a:t>
            </a:r>
            <a:r>
              <a:rPr spc="-155" dirty="0"/>
              <a:t> </a:t>
            </a:r>
            <a:r>
              <a:rPr spc="-50" dirty="0"/>
              <a:t>a </a:t>
            </a:r>
            <a:r>
              <a:rPr spc="-10" dirty="0"/>
              <a:t>database.</a:t>
            </a:r>
          </a:p>
          <a:p>
            <a:pPr marL="654050">
              <a:lnSpc>
                <a:spcPct val="100000"/>
              </a:lnSpc>
              <a:spcBef>
                <a:spcPts val="645"/>
              </a:spcBef>
            </a:pPr>
            <a:r>
              <a:rPr spc="-10" dirty="0"/>
              <a:t>They</a:t>
            </a:r>
            <a:r>
              <a:rPr spc="-200" dirty="0"/>
              <a:t> </a:t>
            </a:r>
            <a:r>
              <a:rPr spc="85" dirty="0"/>
              <a:t>act</a:t>
            </a:r>
            <a:r>
              <a:rPr spc="-200" dirty="0"/>
              <a:t> </a:t>
            </a:r>
            <a:r>
              <a:rPr spc="-20" dirty="0"/>
              <a:t>as</a:t>
            </a:r>
            <a:r>
              <a:rPr spc="-200" dirty="0"/>
              <a:t> </a:t>
            </a:r>
            <a:r>
              <a:rPr spc="-10" dirty="0"/>
              <a:t>columns</a:t>
            </a:r>
            <a:r>
              <a:rPr spc="-200" dirty="0"/>
              <a:t> </a:t>
            </a:r>
            <a:r>
              <a:rPr spc="-55" dirty="0"/>
              <a:t>in</a:t>
            </a:r>
            <a:r>
              <a:rPr spc="-200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10" dirty="0"/>
              <a:t>table,</a:t>
            </a:r>
            <a:r>
              <a:rPr spc="-200" dirty="0"/>
              <a:t> </a:t>
            </a:r>
            <a:r>
              <a:rPr spc="-50" dirty="0"/>
              <a:t>storing</a:t>
            </a:r>
            <a:r>
              <a:rPr spc="-200" dirty="0"/>
              <a:t> </a:t>
            </a:r>
            <a:r>
              <a:rPr dirty="0"/>
              <a:t>specific</a:t>
            </a:r>
            <a:r>
              <a:rPr spc="-200" dirty="0"/>
              <a:t> </a:t>
            </a:r>
            <a:r>
              <a:rPr spc="-20" dirty="0"/>
              <a:t>information</a:t>
            </a:r>
            <a:r>
              <a:rPr spc="-200" dirty="0"/>
              <a:t> </a:t>
            </a:r>
            <a:r>
              <a:rPr dirty="0"/>
              <a:t>about</a:t>
            </a:r>
            <a:r>
              <a:rPr spc="-200" dirty="0"/>
              <a:t> </a:t>
            </a:r>
            <a:r>
              <a:rPr dirty="0"/>
              <a:t>each</a:t>
            </a:r>
            <a:r>
              <a:rPr spc="-200" dirty="0"/>
              <a:t> </a:t>
            </a:r>
            <a:r>
              <a:rPr spc="-10" dirty="0"/>
              <a:t>record.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125FF-EAAB-2A8A-0B1F-91B8FCB1B265}"/>
              </a:ext>
            </a:extLst>
          </p:cNvPr>
          <p:cNvSpPr txBox="1"/>
          <p:nvPr/>
        </p:nvSpPr>
        <p:spPr>
          <a:xfrm>
            <a:off x="689475" y="3821916"/>
            <a:ext cx="920541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Examples</a:t>
            </a:r>
          </a:p>
          <a:p>
            <a:pPr>
              <a:buNone/>
            </a:pPr>
            <a:r>
              <a:rPr lang="en-IN" sz="3200" b="1" dirty="0"/>
              <a:t>College:</a:t>
            </a:r>
            <a:r>
              <a:rPr lang="en-IN" sz="3200" dirty="0"/>
              <a:t> </a:t>
            </a:r>
            <a:r>
              <a:rPr lang="en-IN" sz="3200" dirty="0" err="1"/>
              <a:t>CollegeID</a:t>
            </a:r>
            <a:r>
              <a:rPr lang="en-IN" sz="3200" dirty="0"/>
              <a:t>, </a:t>
            </a:r>
            <a:r>
              <a:rPr lang="en-IN" sz="3200" dirty="0" err="1"/>
              <a:t>CollegeName</a:t>
            </a:r>
            <a:r>
              <a:rPr lang="en-IN" sz="3200" dirty="0"/>
              <a:t>, Address, </a:t>
            </a:r>
            <a:r>
              <a:rPr lang="en-IN" sz="3200" dirty="0" err="1"/>
              <a:t>ContactInfo</a:t>
            </a:r>
            <a:r>
              <a:rPr lang="en-IN" sz="3200" dirty="0"/>
              <a:t>, </a:t>
            </a:r>
            <a:r>
              <a:rPr lang="en-IN" sz="3200" dirty="0" err="1"/>
              <a:t>EstablishedDate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Department:</a:t>
            </a:r>
            <a:r>
              <a:rPr lang="en-IN" sz="3200" dirty="0"/>
              <a:t> </a:t>
            </a:r>
            <a:r>
              <a:rPr lang="en-IN" sz="3200" dirty="0" err="1"/>
              <a:t>DepartmentID</a:t>
            </a:r>
            <a:r>
              <a:rPr lang="en-IN" sz="3200" dirty="0"/>
              <a:t>, </a:t>
            </a:r>
            <a:r>
              <a:rPr lang="en-IN" sz="3200" dirty="0" err="1"/>
              <a:t>DepartmentName</a:t>
            </a:r>
            <a:r>
              <a:rPr lang="en-IN" sz="3200" dirty="0"/>
              <a:t>, </a:t>
            </a:r>
            <a:r>
              <a:rPr lang="en-IN" sz="3200" dirty="0" err="1"/>
              <a:t>HeadOfDepartment</a:t>
            </a:r>
            <a:r>
              <a:rPr lang="en-IN" sz="3200" dirty="0"/>
              <a:t>, Location, Contact</a:t>
            </a:r>
          </a:p>
          <a:p>
            <a:pPr>
              <a:buNone/>
            </a:pPr>
            <a:r>
              <a:rPr lang="en-IN" sz="3200" b="1" dirty="0"/>
              <a:t>Student:</a:t>
            </a:r>
            <a:r>
              <a:rPr lang="en-IN" sz="3200" dirty="0"/>
              <a:t> </a:t>
            </a:r>
            <a:r>
              <a:rPr lang="en-IN" sz="3200" dirty="0" err="1"/>
              <a:t>StudentID</a:t>
            </a:r>
            <a:r>
              <a:rPr lang="en-IN" sz="3200" dirty="0"/>
              <a:t>, Name, Email, Phone, Gender, </a:t>
            </a:r>
            <a:r>
              <a:rPr lang="en-IN" sz="3200" dirty="0" err="1"/>
              <a:t>AdmissionDate</a:t>
            </a:r>
            <a:r>
              <a:rPr lang="en-IN" sz="3200" dirty="0"/>
              <a:t>, Status,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Faculty:</a:t>
            </a:r>
            <a:r>
              <a:rPr lang="en-IN" sz="3200" dirty="0"/>
              <a:t> </a:t>
            </a:r>
            <a:r>
              <a:rPr lang="en-IN" sz="3200" dirty="0" err="1"/>
              <a:t>FacultyID</a:t>
            </a:r>
            <a:r>
              <a:rPr lang="en-IN" sz="3200" dirty="0"/>
              <a:t>, Name, Qualification, Experience, Salary,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Course:</a:t>
            </a:r>
            <a:r>
              <a:rPr lang="en-IN" sz="3200" dirty="0"/>
              <a:t> </a:t>
            </a:r>
            <a:r>
              <a:rPr lang="en-IN" sz="3200" dirty="0" err="1"/>
              <a:t>CourseID</a:t>
            </a:r>
            <a:r>
              <a:rPr lang="en-IN" sz="3200" dirty="0"/>
              <a:t>, </a:t>
            </a:r>
            <a:r>
              <a:rPr lang="en-IN" sz="3200" dirty="0" err="1"/>
              <a:t>CourseName</a:t>
            </a:r>
            <a:r>
              <a:rPr lang="en-IN" sz="3200" dirty="0"/>
              <a:t>, </a:t>
            </a:r>
            <a:r>
              <a:rPr lang="en-IN" sz="3200" dirty="0" err="1"/>
              <a:t>CourseCode</a:t>
            </a:r>
            <a:r>
              <a:rPr lang="en-IN" sz="3200" dirty="0"/>
              <a:t>, Credits, Duration, Prerequisites,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 err="1"/>
              <a:t>Enrollment</a:t>
            </a:r>
            <a:r>
              <a:rPr lang="en-IN" sz="3200" b="1" dirty="0"/>
              <a:t>:</a:t>
            </a:r>
            <a:r>
              <a:rPr lang="en-IN" sz="3200" dirty="0"/>
              <a:t> </a:t>
            </a:r>
            <a:r>
              <a:rPr lang="en-IN" sz="3200" dirty="0" err="1"/>
              <a:t>EnrollmentID</a:t>
            </a:r>
            <a:r>
              <a:rPr lang="en-IN" sz="3200" dirty="0"/>
              <a:t>, </a:t>
            </a:r>
            <a:r>
              <a:rPr lang="en-IN" sz="3200" dirty="0" err="1"/>
              <a:t>StudentID</a:t>
            </a:r>
            <a:r>
              <a:rPr lang="en-IN" sz="3200" dirty="0"/>
              <a:t>, </a:t>
            </a:r>
            <a:r>
              <a:rPr lang="en-IN" sz="3200" dirty="0" err="1"/>
              <a:t>CourseID</a:t>
            </a:r>
            <a:r>
              <a:rPr lang="en-IN" sz="3200" dirty="0"/>
              <a:t>, </a:t>
            </a:r>
            <a:r>
              <a:rPr lang="en-IN" sz="3200" dirty="0" err="1"/>
              <a:t>EnrollmentDate</a:t>
            </a:r>
            <a:r>
              <a:rPr lang="en-IN" sz="3200" dirty="0"/>
              <a:t>, Grade</a:t>
            </a:r>
          </a:p>
        </p:txBody>
      </p:sp>
      <p:pic>
        <p:nvPicPr>
          <p:cNvPr id="24" name="object 4">
            <a:extLst>
              <a:ext uri="{FF2B5EF4-FFF2-40B4-BE49-F238E27FC236}">
                <a16:creationId xmlns:a16="http://schemas.microsoft.com/office/drawing/2014/main" id="{46AF4EA0-913A-7CF7-B7A6-B8A46324B7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686" y="4533900"/>
            <a:ext cx="152400" cy="152399"/>
          </a:xfrm>
          <a:prstGeom prst="rect">
            <a:avLst/>
          </a:prstGeom>
        </p:spPr>
      </p:pic>
      <p:pic>
        <p:nvPicPr>
          <p:cNvPr id="26" name="object 4">
            <a:extLst>
              <a:ext uri="{FF2B5EF4-FFF2-40B4-BE49-F238E27FC236}">
                <a16:creationId xmlns:a16="http://schemas.microsoft.com/office/drawing/2014/main" id="{FDE74175-2F80-DB5B-75D7-B53EF91263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524502"/>
            <a:ext cx="152400" cy="152399"/>
          </a:xfrm>
          <a:prstGeom prst="rect">
            <a:avLst/>
          </a:prstGeom>
        </p:spPr>
      </p:pic>
      <p:pic>
        <p:nvPicPr>
          <p:cNvPr id="28" name="object 4">
            <a:extLst>
              <a:ext uri="{FF2B5EF4-FFF2-40B4-BE49-F238E27FC236}">
                <a16:creationId xmlns:a16="http://schemas.microsoft.com/office/drawing/2014/main" id="{7049E925-32BF-C22E-5B28-DAD40EF3BC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6515104"/>
            <a:ext cx="152400" cy="152399"/>
          </a:xfrm>
          <a:prstGeom prst="rect">
            <a:avLst/>
          </a:prstGeom>
        </p:spPr>
      </p:pic>
      <p:pic>
        <p:nvPicPr>
          <p:cNvPr id="30" name="object 4">
            <a:extLst>
              <a:ext uri="{FF2B5EF4-FFF2-40B4-BE49-F238E27FC236}">
                <a16:creationId xmlns:a16="http://schemas.microsoft.com/office/drawing/2014/main" id="{89A7B1DF-9499-519F-254A-9E6C7A7B88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4" y="7517648"/>
            <a:ext cx="152400" cy="152399"/>
          </a:xfrm>
          <a:prstGeom prst="rect">
            <a:avLst/>
          </a:prstGeom>
        </p:spPr>
      </p:pic>
      <p:pic>
        <p:nvPicPr>
          <p:cNvPr id="32" name="object 4">
            <a:extLst>
              <a:ext uri="{FF2B5EF4-FFF2-40B4-BE49-F238E27FC236}">
                <a16:creationId xmlns:a16="http://schemas.microsoft.com/office/drawing/2014/main" id="{2B67F9F4-97EA-0974-BFED-173A6BE5F3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83" y="8443992"/>
            <a:ext cx="152400" cy="152399"/>
          </a:xfrm>
          <a:prstGeom prst="rect">
            <a:avLst/>
          </a:prstGeom>
        </p:spPr>
      </p:pic>
      <p:pic>
        <p:nvPicPr>
          <p:cNvPr id="34" name="object 4">
            <a:extLst>
              <a:ext uri="{FF2B5EF4-FFF2-40B4-BE49-F238E27FC236}">
                <a16:creationId xmlns:a16="http://schemas.microsoft.com/office/drawing/2014/main" id="{0C29AFB6-F7C2-C692-F6D7-9A0D21F677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4" y="9446536"/>
            <a:ext cx="152400" cy="1523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18300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20" dirty="0">
                <a:solidFill>
                  <a:srgbClr val="8B7753"/>
                </a:solidFill>
                <a:latin typeface="Tahoma"/>
                <a:cs typeface="Tahoma"/>
              </a:rPr>
              <a:t>RELATIONS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1672650"/>
            <a:ext cx="152400" cy="1523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1320" y="1365304"/>
            <a:ext cx="17134205" cy="166519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pc="-10" dirty="0"/>
              <a:t>Relationships</a:t>
            </a:r>
            <a:r>
              <a:rPr spc="-200" dirty="0"/>
              <a:t> </a:t>
            </a:r>
            <a:r>
              <a:rPr dirty="0"/>
              <a:t>define</a:t>
            </a:r>
            <a:r>
              <a:rPr spc="-200" dirty="0"/>
              <a:t> </a:t>
            </a:r>
            <a:r>
              <a:rPr dirty="0"/>
              <a:t>how</a:t>
            </a:r>
            <a:r>
              <a:rPr spc="-195" dirty="0"/>
              <a:t> </a:t>
            </a:r>
            <a:r>
              <a:rPr dirty="0"/>
              <a:t>entities</a:t>
            </a:r>
            <a:r>
              <a:rPr spc="-200" dirty="0"/>
              <a:t> </a:t>
            </a:r>
            <a:r>
              <a:rPr spc="-55" dirty="0"/>
              <a:t>in</a:t>
            </a:r>
            <a:r>
              <a:rPr spc="-200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dirty="0"/>
              <a:t>database</a:t>
            </a:r>
            <a:r>
              <a:rPr spc="-200" dirty="0"/>
              <a:t> </a:t>
            </a:r>
            <a:r>
              <a:rPr dirty="0"/>
              <a:t>are</a:t>
            </a:r>
            <a:r>
              <a:rPr spc="-200" dirty="0"/>
              <a:t> </a:t>
            </a:r>
            <a:r>
              <a:rPr spc="45" dirty="0"/>
              <a:t>connected</a:t>
            </a:r>
            <a:r>
              <a:rPr spc="-195" dirty="0"/>
              <a:t> </a:t>
            </a:r>
            <a:r>
              <a:rPr dirty="0"/>
              <a:t>to</a:t>
            </a:r>
            <a:r>
              <a:rPr spc="-200" dirty="0"/>
              <a:t> </a:t>
            </a:r>
            <a:r>
              <a:rPr dirty="0"/>
              <a:t>each</a:t>
            </a:r>
            <a:r>
              <a:rPr spc="-200" dirty="0"/>
              <a:t> </a:t>
            </a:r>
            <a:r>
              <a:rPr spc="-10" dirty="0"/>
              <a:t>other.</a:t>
            </a:r>
            <a:br>
              <a:rPr lang="en-US" spc="-10" dirty="0"/>
            </a:br>
            <a:r>
              <a:rPr lang="en-IN" dirty="0"/>
              <a:t>They show how entities are connected and help maintain meaningful relationships between tables.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4072950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4673025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27310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873175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6473250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7073324"/>
            <a:ext cx="152400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7673399"/>
            <a:ext cx="152400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8273474"/>
            <a:ext cx="152400" cy="152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2349" y="3165529"/>
            <a:ext cx="17104360" cy="551856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spc="-300" dirty="0">
                <a:solidFill>
                  <a:srgbClr val="8B7753"/>
                </a:solidFill>
                <a:latin typeface="Arial Black"/>
                <a:cs typeface="Arial Black"/>
              </a:rPr>
              <a:t>Examples</a:t>
            </a:r>
            <a:r>
              <a:rPr sz="3400" spc="-315" dirty="0">
                <a:solidFill>
                  <a:srgbClr val="8B7753"/>
                </a:solidFill>
                <a:latin typeface="Arial Black"/>
                <a:cs typeface="Arial Black"/>
              </a:rPr>
              <a:t> </a:t>
            </a:r>
            <a:r>
              <a:rPr sz="3400" spc="-140" dirty="0">
                <a:solidFill>
                  <a:srgbClr val="8B7753"/>
                </a:solidFill>
                <a:latin typeface="Arial Black"/>
                <a:cs typeface="Arial Black"/>
              </a:rPr>
              <a:t>from</a:t>
            </a:r>
            <a:r>
              <a:rPr sz="3400" spc="-315" dirty="0">
                <a:solidFill>
                  <a:srgbClr val="8B7753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8B7753"/>
                </a:solidFill>
                <a:latin typeface="Arial Black"/>
                <a:cs typeface="Arial Black"/>
              </a:rPr>
              <a:t>UMS</a:t>
            </a:r>
            <a:endParaRPr sz="3400" dirty="0">
              <a:latin typeface="Arial Black"/>
              <a:cs typeface="Arial Black"/>
            </a:endParaRPr>
          </a:p>
          <a:p>
            <a:pPr marL="111125">
              <a:lnSpc>
                <a:spcPct val="100000"/>
              </a:lnSpc>
              <a:spcBef>
                <a:spcPts val="645"/>
              </a:spcBef>
            </a:pPr>
            <a:r>
              <a:rPr sz="3400" spc="-35" dirty="0">
                <a:latin typeface="Lucida Sans Unicode"/>
                <a:cs typeface="Lucida Sans Unicode"/>
              </a:rPr>
              <a:t>College</a:t>
            </a:r>
            <a:r>
              <a:rPr sz="3400" spc="-235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23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Lucida Sans Unicode"/>
                <a:cs typeface="Lucida Sans Unicode"/>
              </a:rPr>
              <a:t>One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college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have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departments.</a:t>
            </a:r>
            <a:endParaRPr sz="3400" dirty="0">
              <a:latin typeface="Lucida Sans Unicode"/>
              <a:cs typeface="Lucida Sans Unicode"/>
            </a:endParaRPr>
          </a:p>
          <a:p>
            <a:pPr marL="111125" marR="3924935">
              <a:lnSpc>
                <a:spcPct val="115799"/>
              </a:lnSpc>
              <a:tabLst>
                <a:tab pos="607695" algn="l"/>
              </a:tabLst>
            </a:pPr>
            <a:r>
              <a:rPr lang="en-IN" sz="3600" dirty="0" err="1"/>
              <a:t>CollegeID</a:t>
            </a:r>
            <a:r>
              <a:rPr lang="en-IN" sz="3600" dirty="0"/>
              <a:t> in Department is a foreign key referencing College.</a:t>
            </a:r>
          </a:p>
          <a:p>
            <a:pPr marL="111125" marR="3924935">
              <a:lnSpc>
                <a:spcPct val="115799"/>
              </a:lnSpc>
              <a:tabLst>
                <a:tab pos="607695" algn="l"/>
              </a:tabLst>
            </a:pPr>
            <a:r>
              <a:rPr sz="3400" dirty="0">
                <a:latin typeface="Lucida Sans Unicode"/>
                <a:cs typeface="Lucida Sans Unicode"/>
              </a:rPr>
              <a:t>Department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60" dirty="0">
                <a:latin typeface="Lucida Sans Unicode"/>
                <a:cs typeface="Lucida Sans Unicode"/>
              </a:rPr>
              <a:t>Student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484" dirty="0">
                <a:latin typeface="Lucida Sans Unicode"/>
                <a:cs typeface="Lucida Sans Unicode"/>
              </a:rPr>
              <a:t>/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45" dirty="0">
                <a:latin typeface="Lucida Sans Unicode"/>
                <a:cs typeface="Lucida Sans Unicode"/>
              </a:rPr>
              <a:t>Faculty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484" dirty="0">
                <a:latin typeface="Lucida Sans Unicode"/>
                <a:cs typeface="Lucida Sans Unicode"/>
              </a:rPr>
              <a:t>/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spc="80" dirty="0">
                <a:latin typeface="Lucida Sans Unicode"/>
                <a:cs typeface="Lucida Sans Unicode"/>
              </a:rPr>
              <a:t>Each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department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manages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multiple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students,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faculty,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courses.</a:t>
            </a:r>
            <a:endParaRPr sz="3400" dirty="0">
              <a:latin typeface="Lucida Sans Unicode"/>
              <a:cs typeface="Lucida Sans Unicode"/>
            </a:endParaRPr>
          </a:p>
          <a:p>
            <a:pPr marL="111125" marR="3750310">
              <a:lnSpc>
                <a:spcPct val="115799"/>
              </a:lnSpc>
              <a:tabLst>
                <a:tab pos="607695" algn="l"/>
              </a:tabLst>
            </a:pPr>
            <a:r>
              <a:rPr sz="3400" dirty="0">
                <a:latin typeface="Lucida Sans Unicode"/>
                <a:cs typeface="Lucida Sans Unicode"/>
              </a:rPr>
              <a:t>DepartmentID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these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tables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spc="-95" dirty="0">
                <a:latin typeface="Lucida Sans Unicode"/>
                <a:cs typeface="Lucida Sans Unicode"/>
              </a:rPr>
              <a:t>links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them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to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their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department. </a:t>
            </a:r>
            <a:r>
              <a:rPr sz="3400" spc="60" dirty="0">
                <a:latin typeface="Lucida Sans Unicode"/>
                <a:cs typeface="Lucida Sans Unicode"/>
              </a:rPr>
              <a:t>Student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(via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Enrolment)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spc="45" dirty="0">
                <a:latin typeface="Lucida Sans Unicode"/>
                <a:cs typeface="Lucida Sans Unicode"/>
              </a:rPr>
              <a:t>Students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enrol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multiple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30" dirty="0">
                <a:latin typeface="Lucida Sans Unicode"/>
                <a:cs typeface="Lucida Sans Unicode"/>
              </a:rPr>
              <a:t>courses,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each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course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have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students.</a:t>
            </a:r>
            <a:endParaRPr sz="3400" dirty="0">
              <a:latin typeface="Lucida Sans Unicode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8873550"/>
            <a:ext cx="152400" cy="15239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7285" y="8648156"/>
            <a:ext cx="15562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90" dirty="0">
                <a:latin typeface="Lucida Sans Unicode"/>
                <a:cs typeface="Lucida Sans Unicode"/>
              </a:rPr>
              <a:t>This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80" dirty="0">
                <a:latin typeface="Lucida Sans Unicode"/>
                <a:cs typeface="Lucida Sans Unicode"/>
              </a:rPr>
              <a:t>is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55" dirty="0">
                <a:latin typeface="Lucida Sans Unicode"/>
                <a:cs typeface="Lucida Sans Unicode"/>
              </a:rPr>
              <a:t>many-</a:t>
            </a:r>
            <a:r>
              <a:rPr sz="3400" spc="-200" dirty="0">
                <a:latin typeface="Lucida Sans Unicode"/>
                <a:cs typeface="Lucida Sans Unicode"/>
              </a:rPr>
              <a:t>to-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relationship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handled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45" dirty="0">
                <a:latin typeface="Lucida Sans Unicode"/>
                <a:cs typeface="Lucida Sans Unicode"/>
              </a:rPr>
              <a:t>through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Enrolment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table.</a:t>
            </a:r>
            <a:endParaRPr sz="3400" dirty="0">
              <a:latin typeface="Lucida Sans Unicode"/>
              <a:cs typeface="Lucida Sans Unicod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2CC6EC-A97D-BB43-20CA-4A302AAAA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98" y="661987"/>
            <a:ext cx="15925800" cy="8963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413480" y="8887968"/>
            <a:ext cx="384048" cy="36576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4A022D-3DDA-4307-8CDC-D11D4AC9E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"/>
            <a:ext cx="17068800" cy="998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47904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IMPLEMENTATION AND RULES</a:t>
            </a:r>
            <a:endParaRPr sz="2200" b="1" dirty="0">
              <a:solidFill>
                <a:schemeClr val="bg2">
                  <a:lumMod val="50000"/>
                </a:schemeClr>
              </a:solidFill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6912" y="2094856"/>
            <a:ext cx="142874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6912" y="3123555"/>
            <a:ext cx="142874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6912" y="4152255"/>
            <a:ext cx="142874" cy="1428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6912" y="5180955"/>
            <a:ext cx="142874" cy="1428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6912" y="6209655"/>
            <a:ext cx="142874" cy="1428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66912" y="7238355"/>
            <a:ext cx="142874" cy="1428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66912" y="7752705"/>
            <a:ext cx="142874" cy="1428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66912" y="8267055"/>
            <a:ext cx="142874" cy="14287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38200" y="1485900"/>
            <a:ext cx="14157325" cy="8422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b="1" dirty="0"/>
              <a:t>1. Primary Key Constraints</a:t>
            </a:r>
            <a:endParaRPr lang="en-IN" sz="3200" dirty="0"/>
          </a:p>
          <a:p>
            <a:pPr lvl="0"/>
            <a:r>
              <a:rPr lang="en-IN" sz="3200" dirty="0"/>
              <a:t>Each table has a unique Primary Key. </a:t>
            </a:r>
          </a:p>
          <a:p>
            <a:pPr lvl="0"/>
            <a:r>
              <a:rPr lang="en-IN" sz="3200" dirty="0"/>
              <a:t>Example: </a:t>
            </a:r>
            <a:r>
              <a:rPr lang="en-IN" sz="3200" dirty="0" err="1"/>
              <a:t>StudentID</a:t>
            </a:r>
            <a:r>
              <a:rPr lang="en-IN" sz="3200" dirty="0"/>
              <a:t>, </a:t>
            </a:r>
            <a:r>
              <a:rPr lang="en-IN" sz="3200" dirty="0" err="1"/>
              <a:t>CourseID</a:t>
            </a:r>
            <a:r>
              <a:rPr lang="en-IN" sz="3200" dirty="0"/>
              <a:t>, </a:t>
            </a:r>
            <a:r>
              <a:rPr lang="en-IN" sz="3200" dirty="0" err="1"/>
              <a:t>DepartmentID</a:t>
            </a:r>
            <a:r>
              <a:rPr lang="en-IN" sz="3200" dirty="0"/>
              <a:t>. </a:t>
            </a:r>
          </a:p>
          <a:p>
            <a:r>
              <a:rPr lang="en-IN" sz="3200" b="1" dirty="0"/>
              <a:t>2. Foreign Key Constraints</a:t>
            </a:r>
            <a:endParaRPr lang="en-IN" sz="3200" dirty="0"/>
          </a:p>
          <a:p>
            <a:pPr lvl="0"/>
            <a:r>
              <a:rPr lang="en-IN" sz="3200" dirty="0"/>
              <a:t>Foreign Keys connect related tables. </a:t>
            </a:r>
          </a:p>
          <a:p>
            <a:pPr lvl="0"/>
            <a:r>
              <a:rPr lang="en-IN" sz="3200" dirty="0" err="1"/>
              <a:t>Example:DepartmentID</a:t>
            </a:r>
            <a:r>
              <a:rPr lang="en-IN" sz="3200" dirty="0"/>
              <a:t> in Student, Faculty, and Course references </a:t>
            </a:r>
            <a:r>
              <a:rPr lang="en-IN" sz="3200" dirty="0" err="1"/>
              <a:t>DepartmentID</a:t>
            </a:r>
            <a:r>
              <a:rPr lang="en-IN" sz="3200" dirty="0"/>
              <a:t> in Department.</a:t>
            </a:r>
          </a:p>
          <a:p>
            <a:r>
              <a:rPr lang="en-IN" sz="3200" b="1" dirty="0"/>
              <a:t>3. NOT NULL Constraints</a:t>
            </a:r>
            <a:endParaRPr lang="en-IN" sz="3200" dirty="0"/>
          </a:p>
          <a:p>
            <a:pPr lvl="0"/>
            <a:r>
              <a:rPr lang="en-IN" sz="3200" dirty="0"/>
              <a:t>Required fields should not contain NULL values. </a:t>
            </a:r>
          </a:p>
          <a:p>
            <a:pPr lvl="0"/>
            <a:r>
              <a:rPr lang="en-IN" sz="3200" dirty="0"/>
              <a:t>Example: Student Name and Course Name. </a:t>
            </a:r>
          </a:p>
          <a:p>
            <a:r>
              <a:rPr lang="en-IN" sz="3200" b="1" dirty="0"/>
              <a:t>4. UNIQUE Constraints</a:t>
            </a:r>
            <a:endParaRPr lang="en-IN" sz="3200" dirty="0"/>
          </a:p>
          <a:p>
            <a:pPr lvl="0"/>
            <a:r>
              <a:rPr lang="en-IN" sz="3200" dirty="0"/>
              <a:t>Prevent duplicate values in important fields. </a:t>
            </a:r>
          </a:p>
          <a:p>
            <a:pPr lvl="0"/>
            <a:r>
              <a:rPr lang="en-IN" sz="3200" dirty="0"/>
              <a:t>Example: Student Email. </a:t>
            </a:r>
          </a:p>
          <a:p>
            <a:r>
              <a:rPr lang="en-IN" sz="3200" b="1" dirty="0"/>
              <a:t>5. Referential Integrity</a:t>
            </a:r>
            <a:endParaRPr lang="en-IN" sz="3200" dirty="0"/>
          </a:p>
          <a:p>
            <a:pPr lvl="0"/>
            <a:r>
              <a:rPr lang="en-IN" sz="3200" dirty="0"/>
              <a:t>Foreign Key values must match existing records in the referenced table. </a:t>
            </a:r>
          </a:p>
          <a:p>
            <a:pPr lvl="0"/>
            <a:r>
              <a:rPr lang="en-IN" sz="3200" dirty="0"/>
              <a:t>Prevents invalid relationships between tables.</a:t>
            </a:r>
          </a:p>
          <a:p>
            <a:pPr marL="12700" marR="4100829" indent="635635">
              <a:lnSpc>
                <a:spcPct val="114399"/>
              </a:lnSpc>
              <a:spcBef>
                <a:spcPts val="100"/>
              </a:spcBef>
            </a:pPr>
            <a:endParaRPr sz="2950" dirty="0">
              <a:latin typeface="Lucida Sans Unicode"/>
              <a:cs typeface="Lucida Sans Unicod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02848" y="647700"/>
            <a:ext cx="16791940" cy="1109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QUERIES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TO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90" dirty="0">
                <a:solidFill>
                  <a:srgbClr val="8B7753"/>
                </a:solidFill>
                <a:latin typeface="Tahoma"/>
                <a:cs typeface="Tahoma"/>
              </a:rPr>
              <a:t>PERFORM</a:t>
            </a:r>
            <a:r>
              <a:rPr sz="2200" b="1" spc="405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30" dirty="0">
                <a:solidFill>
                  <a:srgbClr val="8B7753"/>
                </a:solidFill>
                <a:latin typeface="Tahoma"/>
                <a:cs typeface="Tahoma"/>
              </a:rPr>
              <a:t>TASK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DML (Data Manipulation Language):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1.Insert a record into the Student table (INSERT)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dirty="0"/>
              <a:t>INSERT INTO Student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dirty="0"/>
              <a:t>(</a:t>
            </a:r>
            <a:r>
              <a:rPr lang="en-IN" sz="2800" dirty="0" err="1"/>
              <a:t>StudentID</a:t>
            </a:r>
            <a:r>
              <a:rPr lang="en-IN" sz="2800" dirty="0"/>
              <a:t>, Name, Email, Phone, Gender, </a:t>
            </a:r>
            <a:r>
              <a:rPr lang="en-IN" sz="2800" dirty="0" err="1"/>
              <a:t>AdmissionDate</a:t>
            </a:r>
            <a:r>
              <a:rPr lang="en-IN" sz="2800" dirty="0"/>
              <a:t>, Status, </a:t>
            </a:r>
            <a:r>
              <a:rPr lang="en-IN" sz="2800" dirty="0" err="1"/>
              <a:t>DepartmentID</a:t>
            </a:r>
            <a:r>
              <a:rPr lang="en-IN" sz="2800" dirty="0"/>
              <a:t>)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dirty="0"/>
              <a:t>VALUES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dirty="0"/>
              <a:t>('STU001', 'Rahul Kumar', 'rahul@gmail.com', '9876543210',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dirty="0"/>
              <a:t> 'M', '2026-06-10', 'Active', 'D001');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Update a student's phone number (UPDATE)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US" sz="2800" dirty="0"/>
              <a:t>UPDATE Student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US" sz="2800" dirty="0"/>
              <a:t>SET Phone = '9876543211'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r>
              <a:rPr lang="en-US" sz="2800" dirty="0"/>
              <a:t>WHERE </a:t>
            </a:r>
            <a:r>
              <a:rPr lang="en-US" sz="2800" dirty="0" err="1"/>
              <a:t>StudentID</a:t>
            </a:r>
            <a:r>
              <a:rPr lang="en-US" sz="2800" dirty="0"/>
              <a:t> = 'STU001';</a:t>
            </a:r>
          </a:p>
          <a:p>
            <a:pPr>
              <a:spcBef>
                <a:spcPts val="1025"/>
              </a:spcBef>
            </a:pPr>
            <a:r>
              <a:rPr lang="en-IN" sz="2800" b="1" dirty="0"/>
              <a:t>3. Delete a student record (DELETE)</a:t>
            </a:r>
          </a:p>
          <a:p>
            <a:pPr>
              <a:spcBef>
                <a:spcPts val="1025"/>
              </a:spcBef>
            </a:pPr>
            <a:r>
              <a:rPr lang="en-IN" sz="2800" dirty="0"/>
              <a:t>DELETE FROM Student</a:t>
            </a:r>
          </a:p>
          <a:p>
            <a:pPr>
              <a:spcBef>
                <a:spcPts val="1025"/>
              </a:spcBef>
            </a:pPr>
            <a:r>
              <a:rPr lang="en-IN" sz="2800" dirty="0"/>
              <a:t>WHERE </a:t>
            </a:r>
            <a:r>
              <a:rPr lang="en-IN" sz="2800" dirty="0" err="1"/>
              <a:t>StudentID</a:t>
            </a:r>
            <a:r>
              <a:rPr lang="en-IN" sz="2800" dirty="0"/>
              <a:t> = 'STU001';</a:t>
            </a: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lang="en-IN" sz="2800" dirty="0"/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lang="en-IN" sz="2800" dirty="0"/>
          </a:p>
          <a:p>
            <a:pPr marL="457200" indent="-457200">
              <a:lnSpc>
                <a:spcPct val="100000"/>
              </a:lnSpc>
              <a:spcBef>
                <a:spcPts val="1025"/>
              </a:spcBef>
              <a:buAutoNum type="arabicPeriod"/>
            </a:pPr>
            <a:endParaRPr sz="2500" dirty="0"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F44378-5FE5-2BD9-B0F1-5390E1EB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096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611092-6D81-0D28-C4F5-442F33EC1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23" y="0"/>
            <a:ext cx="1818095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46405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QUERIES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TO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90" dirty="0">
                <a:solidFill>
                  <a:srgbClr val="8B7753"/>
                </a:solidFill>
                <a:latin typeface="Tahoma"/>
                <a:cs typeface="Tahoma"/>
              </a:rPr>
              <a:t>PERFORM</a:t>
            </a:r>
            <a:r>
              <a:rPr sz="2200" b="1" spc="405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30" dirty="0">
                <a:solidFill>
                  <a:srgbClr val="8B7753"/>
                </a:solidFill>
                <a:latin typeface="Tahoma"/>
                <a:cs typeface="Tahoma"/>
              </a:rPr>
              <a:t>TASK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990" y="1338341"/>
            <a:ext cx="15825469" cy="913006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85">
              <a:lnSpc>
                <a:spcPct val="100000"/>
              </a:lnSpc>
              <a:spcBef>
                <a:spcPts val="120"/>
              </a:spcBef>
              <a:buSzPct val="84615"/>
              <a:tabLst>
                <a:tab pos="543560" algn="l"/>
              </a:tabLst>
            </a:pPr>
            <a:r>
              <a:rPr lang="en-US"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13. List</a:t>
            </a:r>
            <a:r>
              <a:rPr lang="en-US" sz="2600" spc="-6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students</a:t>
            </a:r>
            <a:r>
              <a:rPr lang="en-US" sz="2600" spc="-6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with</a:t>
            </a:r>
            <a:r>
              <a:rPr lang="en-US" sz="2600" spc="-6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their</a:t>
            </a:r>
            <a:r>
              <a:rPr lang="en-US" sz="2600" spc="-60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department</a:t>
            </a:r>
            <a:r>
              <a:rPr lang="en-US" sz="2600" spc="-6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506FFF"/>
                </a:solidFill>
                <a:latin typeface="Lucida Sans Unicode"/>
                <a:cs typeface="Lucida Sans Unicode"/>
              </a:rPr>
              <a:t>names.</a:t>
            </a:r>
            <a:r>
              <a:rPr lang="en-US" sz="2600" spc="-6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105" dirty="0">
                <a:solidFill>
                  <a:srgbClr val="506FFF"/>
                </a:solidFill>
                <a:latin typeface="Lucida Sans Unicode"/>
                <a:cs typeface="Lucida Sans Unicode"/>
              </a:rPr>
              <a:t>(JOIN)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 marR="7332980">
              <a:lnSpc>
                <a:spcPts val="2700"/>
              </a:lnSpc>
              <a:spcBef>
                <a:spcPts val="2720"/>
              </a:spcBef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90" dirty="0">
                <a:latin typeface="Lucida Sans Unicode"/>
                <a:cs typeface="Lucida Sans Unicode"/>
              </a:rPr>
              <a:t> </a:t>
            </a:r>
            <a:r>
              <a:rPr lang="en-US" sz="2600" spc="-50" dirty="0" err="1">
                <a:latin typeface="Lucida Sans Unicode"/>
                <a:cs typeface="Lucida Sans Unicode"/>
              </a:rPr>
              <a:t>s.Name</a:t>
            </a:r>
            <a:r>
              <a:rPr lang="en-US" sz="2600" spc="-50" dirty="0">
                <a:latin typeface="Lucida Sans Unicode"/>
                <a:cs typeface="Lucida Sans Unicode"/>
              </a:rPr>
              <a:t>,</a:t>
            </a:r>
            <a:r>
              <a:rPr lang="en-US" sz="2600" spc="-90" dirty="0">
                <a:latin typeface="Lucida Sans Unicode"/>
                <a:cs typeface="Lucida Sans Unicode"/>
              </a:rPr>
              <a:t> </a:t>
            </a:r>
            <a:r>
              <a:rPr lang="en-US" sz="2600" dirty="0" err="1">
                <a:latin typeface="Lucida Sans Unicode"/>
                <a:cs typeface="Lucida Sans Unicode"/>
              </a:rPr>
              <a:t>d.DepartmentName</a:t>
            </a:r>
            <a:r>
              <a:rPr lang="en-US" sz="2600" spc="-85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9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student</a:t>
            </a:r>
            <a:r>
              <a:rPr lang="en-US" sz="2600" spc="-85" dirty="0"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latin typeface="Lucida Sans Unicode"/>
                <a:cs typeface="Lucida Sans Unicode"/>
              </a:rPr>
              <a:t>s </a:t>
            </a:r>
            <a:r>
              <a:rPr lang="en-US" sz="2600" spc="70" dirty="0">
                <a:latin typeface="Lucida Sans Unicode"/>
                <a:cs typeface="Lucida Sans Unicode"/>
              </a:rPr>
              <a:t>INNER</a:t>
            </a:r>
            <a:r>
              <a:rPr lang="en-US" sz="2600" spc="-80" dirty="0">
                <a:latin typeface="Lucida Sans Unicode"/>
                <a:cs typeface="Lucida Sans Unicode"/>
              </a:rPr>
              <a:t> </a:t>
            </a:r>
            <a:r>
              <a:rPr lang="en-US" sz="2600" spc="180" dirty="0">
                <a:latin typeface="Lucida Sans Unicode"/>
                <a:cs typeface="Lucida Sans Unicode"/>
              </a:rPr>
              <a:t>JOIN</a:t>
            </a:r>
            <a:r>
              <a:rPr lang="en-US" sz="2600" spc="-75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department</a:t>
            </a:r>
            <a:r>
              <a:rPr lang="en-US" sz="2600" spc="-80" dirty="0"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latin typeface="Lucida Sans Unicode"/>
                <a:cs typeface="Lucida Sans Unicode"/>
              </a:rPr>
              <a:t>d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680"/>
              </a:lnSpc>
            </a:pPr>
            <a:r>
              <a:rPr lang="en-US" sz="2600" dirty="0">
                <a:latin typeface="Lucida Sans Unicode"/>
                <a:cs typeface="Lucida Sans Unicode"/>
              </a:rPr>
              <a:t>ON</a:t>
            </a:r>
            <a:r>
              <a:rPr lang="en-US" sz="2600" spc="-120" dirty="0">
                <a:latin typeface="Lucida Sans Unicode"/>
                <a:cs typeface="Lucida Sans Unicode"/>
              </a:rPr>
              <a:t> </a:t>
            </a:r>
            <a:r>
              <a:rPr lang="en-US" sz="2600" dirty="0" err="1">
                <a:latin typeface="Lucida Sans Unicode"/>
                <a:cs typeface="Lucida Sans Unicode"/>
              </a:rPr>
              <a:t>s.DepartmentID</a:t>
            </a:r>
            <a:r>
              <a:rPr lang="en-US" sz="2600" spc="-120" dirty="0">
                <a:latin typeface="Lucida Sans Unicode"/>
                <a:cs typeface="Lucida Sans Unicode"/>
              </a:rPr>
              <a:t> </a:t>
            </a:r>
            <a:r>
              <a:rPr lang="en-US" sz="2600" spc="-640" dirty="0">
                <a:latin typeface="Lucida Sans Unicode"/>
                <a:cs typeface="Lucida Sans Unicode"/>
              </a:rPr>
              <a:t>=</a:t>
            </a:r>
            <a:r>
              <a:rPr lang="en-US" sz="2600" spc="-120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d.DepartmentID</a:t>
            </a:r>
            <a:r>
              <a:rPr lang="en-US" sz="2600" spc="-10" dirty="0">
                <a:latin typeface="Lucida Sans Unicode"/>
                <a:cs typeface="Lucida Sans Unicode"/>
              </a:rPr>
              <a:t>;</a:t>
            </a:r>
          </a:p>
          <a:p>
            <a:pPr marL="12700">
              <a:lnSpc>
                <a:spcPts val="2680"/>
              </a:lnSpc>
            </a:pPr>
            <a:endParaRPr lang="en-US"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910"/>
              </a:lnSpc>
            </a:pPr>
            <a:r>
              <a:rPr lang="en-IN" sz="2800" dirty="0">
                <a:solidFill>
                  <a:schemeClr val="accent1"/>
                </a:solidFill>
              </a:rPr>
              <a:t>14. Get all students whether enrolled or not. (LEFT JOIN</a:t>
            </a:r>
            <a:r>
              <a:rPr lang="en-IN" sz="2800" dirty="0"/>
              <a:t>)</a:t>
            </a:r>
          </a:p>
          <a:p>
            <a:pPr marL="12700">
              <a:lnSpc>
                <a:spcPts val="2910"/>
              </a:lnSpc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14" dirty="0">
                <a:latin typeface="Lucida Sans Unicode"/>
                <a:cs typeface="Lucida Sans Unicode"/>
              </a:rPr>
              <a:t> </a:t>
            </a:r>
            <a:r>
              <a:rPr lang="en-US" sz="2600" spc="-50" dirty="0" err="1">
                <a:latin typeface="Lucida Sans Unicode"/>
                <a:cs typeface="Lucida Sans Unicode"/>
              </a:rPr>
              <a:t>s.Name</a:t>
            </a:r>
            <a:r>
              <a:rPr lang="en-US" sz="2600" spc="-50" dirty="0">
                <a:latin typeface="Lucida Sans Unicode"/>
                <a:cs typeface="Lucida Sans Unicode"/>
              </a:rPr>
              <a:t>,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-25" dirty="0" err="1">
                <a:latin typeface="Lucida Sans Unicode"/>
                <a:cs typeface="Lucida Sans Unicode"/>
              </a:rPr>
              <a:t>e.CourseID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student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latin typeface="Lucida Sans Unicode"/>
                <a:cs typeface="Lucida Sans Unicode"/>
              </a:rPr>
              <a:t>s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LEFT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180" dirty="0">
                <a:latin typeface="Lucida Sans Unicode"/>
                <a:cs typeface="Lucida Sans Unicode"/>
              </a:rPr>
              <a:t>JOIN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enrollment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e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ON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dirty="0" err="1">
                <a:latin typeface="Lucida Sans Unicode"/>
                <a:cs typeface="Lucida Sans Unicode"/>
              </a:rPr>
              <a:t>s.StudentID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-640" dirty="0">
                <a:latin typeface="Lucida Sans Unicode"/>
                <a:cs typeface="Lucida Sans Unicode"/>
              </a:rPr>
              <a:t>=</a:t>
            </a:r>
            <a:r>
              <a:rPr lang="en-US" sz="2600" spc="-110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e.StudentID</a:t>
            </a:r>
            <a:r>
              <a:rPr lang="en-US" sz="2600" spc="-10" dirty="0">
                <a:latin typeface="Lucida Sans Unicode"/>
                <a:cs typeface="Lucida Sans Unicode"/>
              </a:rPr>
              <a:t>;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 marR="4759960">
              <a:lnSpc>
                <a:spcPts val="2700"/>
              </a:lnSpc>
              <a:spcBef>
                <a:spcPts val="2720"/>
              </a:spcBef>
              <a:buSzPct val="84615"/>
              <a:tabLst>
                <a:tab pos="548005" algn="l"/>
              </a:tabLst>
            </a:pPr>
            <a:r>
              <a:rPr lang="en-IN" sz="2800" dirty="0">
                <a:solidFill>
                  <a:schemeClr val="accent1"/>
                </a:solidFill>
              </a:rPr>
              <a:t>15. Combine </a:t>
            </a:r>
            <a:r>
              <a:rPr lang="en-IN" sz="2800" dirty="0" err="1">
                <a:solidFill>
                  <a:schemeClr val="accent1"/>
                </a:solidFill>
              </a:rPr>
              <a:t>StudentIDs</a:t>
            </a:r>
            <a:r>
              <a:rPr lang="en-IN" sz="2800" dirty="0">
                <a:solidFill>
                  <a:schemeClr val="accent1"/>
                </a:solidFill>
              </a:rPr>
              <a:t> from CSE and EC departments. (UNION)</a:t>
            </a:r>
          </a:p>
          <a:p>
            <a:pPr marL="12700" marR="4759960">
              <a:lnSpc>
                <a:spcPts val="2700"/>
              </a:lnSpc>
              <a:spcBef>
                <a:spcPts val="2720"/>
              </a:spcBef>
              <a:buSzPct val="84615"/>
              <a:tabLst>
                <a:tab pos="548005" algn="l"/>
              </a:tabLst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50" dirty="0" err="1">
                <a:latin typeface="Lucida Sans Unicode"/>
                <a:cs typeface="Lucida Sans Unicode"/>
              </a:rPr>
              <a:t>StudentID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student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DepartmentID</a:t>
            </a:r>
            <a:r>
              <a:rPr lang="en-US" sz="2600" spc="-10" dirty="0">
                <a:latin typeface="Lucida Sans Unicode"/>
                <a:cs typeface="Lucida Sans Unicode"/>
              </a:rPr>
              <a:t>='DACSE001' </a:t>
            </a:r>
            <a:r>
              <a:rPr lang="en-US" sz="2600" spc="40" dirty="0">
                <a:latin typeface="Lucida Sans Unicode"/>
                <a:cs typeface="Lucida Sans Unicode"/>
              </a:rPr>
              <a:t>UNION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680"/>
              </a:lnSpc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50" dirty="0" err="1">
                <a:latin typeface="Lucida Sans Unicode"/>
                <a:cs typeface="Lucida Sans Unicode"/>
              </a:rPr>
              <a:t>StudentID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student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DepartmentID</a:t>
            </a:r>
            <a:r>
              <a:rPr lang="en-US" sz="2600" spc="-10" dirty="0">
                <a:latin typeface="Lucida Sans Unicode"/>
                <a:cs typeface="Lucida Sans Unicode"/>
              </a:rPr>
              <a:t>='DAEC001';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 marR="3226435">
              <a:lnSpc>
                <a:spcPts val="2700"/>
              </a:lnSpc>
              <a:spcBef>
                <a:spcPts val="2720"/>
              </a:spcBef>
              <a:buSzPct val="84615"/>
              <a:tabLst>
                <a:tab pos="556895" algn="l"/>
              </a:tabLst>
            </a:pPr>
            <a:r>
              <a:rPr lang="en-IN" sz="2800" dirty="0">
                <a:solidFill>
                  <a:schemeClr val="accent1"/>
                </a:solidFill>
              </a:rPr>
              <a:t>16. Find faculties earning more than all EC faculty members. (ALL)</a:t>
            </a:r>
          </a:p>
          <a:p>
            <a:pPr marL="12700" marR="3226435">
              <a:lnSpc>
                <a:spcPts val="2700"/>
              </a:lnSpc>
              <a:spcBef>
                <a:spcPts val="2720"/>
              </a:spcBef>
              <a:buSzPct val="84615"/>
              <a:tabLst>
                <a:tab pos="556895" algn="l"/>
              </a:tabLst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55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Name</a:t>
            </a:r>
            <a:r>
              <a:rPr lang="en-US" sz="2600" spc="-155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55" dirty="0">
                <a:latin typeface="Lucida Sans Unicode"/>
                <a:cs typeface="Lucida Sans Unicode"/>
              </a:rPr>
              <a:t> </a:t>
            </a:r>
            <a:r>
              <a:rPr lang="en-US" sz="2600" spc="35" dirty="0">
                <a:latin typeface="Lucida Sans Unicode"/>
                <a:cs typeface="Lucida Sans Unicode"/>
              </a:rPr>
              <a:t>faculty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680"/>
              </a:lnSpc>
            </a:pP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65" dirty="0">
                <a:latin typeface="Lucida Sans Unicode"/>
                <a:cs typeface="Lucida Sans Unicode"/>
              </a:rPr>
              <a:t> </a:t>
            </a:r>
            <a:r>
              <a:rPr lang="en-US" sz="2600" spc="55" dirty="0">
                <a:latin typeface="Lucida Sans Unicode"/>
                <a:cs typeface="Lucida Sans Unicode"/>
              </a:rPr>
              <a:t>Salary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-685" dirty="0">
                <a:latin typeface="Lucida Sans Unicode"/>
                <a:cs typeface="Lucida Sans Unicode"/>
              </a:rPr>
              <a:t>&gt;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ALL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60" dirty="0">
                <a:latin typeface="Lucida Sans Unicode"/>
                <a:cs typeface="Lucida Sans Unicode"/>
              </a:rPr>
              <a:t>(SELECT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55" dirty="0">
                <a:latin typeface="Lucida Sans Unicode"/>
                <a:cs typeface="Lucida Sans Unicode"/>
              </a:rPr>
              <a:t>Salary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45" dirty="0">
                <a:latin typeface="Lucida Sans Unicode"/>
                <a:cs typeface="Lucida Sans Unicode"/>
              </a:rPr>
              <a:t>faculty</a:t>
            </a:r>
            <a:r>
              <a:rPr lang="en-US" sz="2600" spc="-160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65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DepartmentID</a:t>
            </a:r>
            <a:r>
              <a:rPr lang="en-US" sz="2600" spc="-10" dirty="0">
                <a:latin typeface="Lucida Sans Unicode"/>
                <a:cs typeface="Lucida Sans Unicode"/>
              </a:rPr>
              <a:t>='DAEC001');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 marR="3623945">
              <a:lnSpc>
                <a:spcPts val="2700"/>
              </a:lnSpc>
              <a:spcBef>
                <a:spcPts val="2720"/>
              </a:spcBef>
              <a:buSzPct val="84615"/>
              <a:tabLst>
                <a:tab pos="473075" algn="l"/>
              </a:tabLst>
            </a:pPr>
            <a:r>
              <a:rPr lang="en-IN" sz="2800" dirty="0">
                <a:solidFill>
                  <a:schemeClr val="accent1"/>
                </a:solidFill>
              </a:rPr>
              <a:t>17. Select students who took courses taught by a specific faculty. (Subquery)</a:t>
            </a:r>
          </a:p>
          <a:p>
            <a:pPr marL="12700" marR="3623945">
              <a:lnSpc>
                <a:spcPts val="2700"/>
              </a:lnSpc>
              <a:spcBef>
                <a:spcPts val="2720"/>
              </a:spcBef>
              <a:buSzPct val="84615"/>
              <a:tabLst>
                <a:tab pos="473075" algn="l"/>
              </a:tabLst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Name</a:t>
            </a:r>
            <a:r>
              <a:rPr lang="en-US" sz="2600" spc="-130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student</a:t>
            </a:r>
            <a:r>
              <a:rPr lang="en-US" sz="2600" spc="-130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spc="50" dirty="0" err="1">
                <a:latin typeface="Lucida Sans Unicode"/>
                <a:cs typeface="Lucida Sans Unicode"/>
              </a:rPr>
              <a:t>StudentID</a:t>
            </a:r>
            <a:r>
              <a:rPr lang="en-US" sz="2600" spc="-13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IN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latin typeface="Lucida Sans Unicode"/>
                <a:cs typeface="Lucida Sans Unicode"/>
              </a:rPr>
              <a:t>(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75895">
              <a:lnSpc>
                <a:spcPts val="2470"/>
              </a:lnSpc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45" dirty="0">
                <a:latin typeface="Lucida Sans Unicode"/>
                <a:cs typeface="Lucida Sans Unicode"/>
              </a:rPr>
              <a:t> </a:t>
            </a:r>
            <a:r>
              <a:rPr lang="en-US" sz="2600" spc="50" dirty="0" err="1">
                <a:latin typeface="Lucida Sans Unicode"/>
                <a:cs typeface="Lucida Sans Unicode"/>
              </a:rPr>
              <a:t>StudentID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enrollment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dirty="0" err="1">
                <a:latin typeface="Lucida Sans Unicode"/>
                <a:cs typeface="Lucida Sans Unicode"/>
              </a:rPr>
              <a:t>CourseID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IN</a:t>
            </a:r>
            <a:r>
              <a:rPr lang="en-US" sz="2600" spc="-140" dirty="0"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latin typeface="Lucida Sans Unicode"/>
                <a:cs typeface="Lucida Sans Unicode"/>
              </a:rPr>
              <a:t>(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501650">
              <a:lnSpc>
                <a:spcPts val="2700"/>
              </a:lnSpc>
            </a:pPr>
            <a:r>
              <a:rPr lang="en-US" sz="2600" spc="70" dirty="0">
                <a:latin typeface="Lucida Sans Unicode"/>
                <a:cs typeface="Lucida Sans Unicode"/>
              </a:rPr>
              <a:t>SELECT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dirty="0" err="1">
                <a:latin typeface="Lucida Sans Unicode"/>
                <a:cs typeface="Lucida Sans Unicode"/>
              </a:rPr>
              <a:t>CourseID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spc="65" dirty="0">
                <a:latin typeface="Lucida Sans Unicode"/>
                <a:cs typeface="Lucida Sans Unicode"/>
              </a:rPr>
              <a:t>FROM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dirty="0">
                <a:latin typeface="Lucida Sans Unicode"/>
                <a:cs typeface="Lucida Sans Unicode"/>
              </a:rPr>
              <a:t>schedule</a:t>
            </a:r>
            <a:r>
              <a:rPr lang="en-US" sz="2600" spc="-130" dirty="0">
                <a:latin typeface="Lucida Sans Unicode"/>
                <a:cs typeface="Lucida Sans Unicode"/>
              </a:rPr>
              <a:t> </a:t>
            </a:r>
            <a:r>
              <a:rPr lang="en-US" sz="2600" spc="125" dirty="0">
                <a:latin typeface="Lucida Sans Unicode"/>
                <a:cs typeface="Lucida Sans Unicode"/>
              </a:rPr>
              <a:t>WHERE</a:t>
            </a:r>
            <a:r>
              <a:rPr lang="en-US" sz="2600" spc="-135" dirty="0">
                <a:latin typeface="Lucida Sans Unicode"/>
                <a:cs typeface="Lucida Sans Unicode"/>
              </a:rPr>
              <a:t> </a:t>
            </a:r>
            <a:r>
              <a:rPr lang="en-US" sz="2600" spc="-10" dirty="0" err="1">
                <a:latin typeface="Lucida Sans Unicode"/>
                <a:cs typeface="Lucida Sans Unicode"/>
              </a:rPr>
              <a:t>FacultyID</a:t>
            </a:r>
            <a:r>
              <a:rPr lang="en-US" sz="2600" spc="-10" dirty="0">
                <a:latin typeface="Lucida Sans Unicode"/>
                <a:cs typeface="Lucida Sans Unicode"/>
              </a:rPr>
              <a:t>='DACSF001')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910"/>
              </a:lnSpc>
            </a:pPr>
            <a:r>
              <a:rPr lang="en-US" sz="2600" spc="-25" dirty="0">
                <a:latin typeface="Lucida Sans Unicode"/>
                <a:cs typeface="Lucida Sans Unicode"/>
              </a:rPr>
              <a:t>);</a:t>
            </a:r>
            <a:endParaRPr lang="en-US" sz="2600" dirty="0">
              <a:latin typeface="Lucida Sans Unicode"/>
              <a:cs typeface="Lucida Sans Unicod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46405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QUERIES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40" dirty="0">
                <a:solidFill>
                  <a:srgbClr val="8B7753"/>
                </a:solidFill>
                <a:latin typeface="Tahoma"/>
                <a:cs typeface="Tahoma"/>
              </a:rPr>
              <a:t>TO</a:t>
            </a:r>
            <a:r>
              <a:rPr sz="2200" b="1" spc="40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90" dirty="0">
                <a:solidFill>
                  <a:srgbClr val="8B7753"/>
                </a:solidFill>
                <a:latin typeface="Tahoma"/>
                <a:cs typeface="Tahoma"/>
              </a:rPr>
              <a:t>PERFORM</a:t>
            </a:r>
            <a:r>
              <a:rPr sz="2200" b="1" spc="405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sz="2200" b="1" spc="130" dirty="0">
                <a:solidFill>
                  <a:srgbClr val="8B7753"/>
                </a:solidFill>
                <a:latin typeface="Tahoma"/>
                <a:cs typeface="Tahoma"/>
              </a:rPr>
              <a:t>TASK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1054586"/>
            <a:ext cx="14896465" cy="978280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275" dirty="0">
                <a:solidFill>
                  <a:srgbClr val="656565"/>
                </a:solidFill>
                <a:latin typeface="Arial Black"/>
                <a:cs typeface="Arial Black"/>
              </a:rPr>
              <a:t>Views</a:t>
            </a:r>
            <a:endParaRPr sz="2600" dirty="0">
              <a:latin typeface="Arial Black"/>
              <a:cs typeface="Arial Black"/>
            </a:endParaRPr>
          </a:p>
          <a:p>
            <a:pPr marL="554355" indent="-541655">
              <a:lnSpc>
                <a:spcPct val="100000"/>
              </a:lnSpc>
              <a:spcBef>
                <a:spcPts val="2280"/>
              </a:spcBef>
              <a:buSzPct val="92307"/>
              <a:buAutoNum type="arabicPeriod" startAt="18"/>
              <a:tabLst>
                <a:tab pos="554355" algn="l"/>
              </a:tabLst>
            </a:pPr>
            <a:r>
              <a:rPr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Create</a:t>
            </a:r>
            <a:r>
              <a:rPr sz="2600" spc="-10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506FFF"/>
                </a:solidFill>
                <a:latin typeface="Lucida Sans Unicode"/>
                <a:cs typeface="Lucida Sans Unicode"/>
              </a:rPr>
              <a:t>a</a:t>
            </a:r>
            <a:r>
              <a:rPr sz="2600" spc="-105" dirty="0">
                <a:solidFill>
                  <a:srgbClr val="506FFF"/>
                </a:solidFill>
                <a:latin typeface="Lucida Sans Unicode"/>
                <a:cs typeface="Lucida Sans Unicode"/>
              </a:rPr>
              <a:t> </a:t>
            </a:r>
            <a:r>
              <a:rPr sz="2600" spc="-20" dirty="0">
                <a:solidFill>
                  <a:srgbClr val="506FFF"/>
                </a:solidFill>
                <a:latin typeface="Lucida Sans Unicode"/>
                <a:cs typeface="Lucida Sans Unicode"/>
              </a:rPr>
              <a:t>View</a:t>
            </a:r>
            <a:endParaRPr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910"/>
              </a:lnSpc>
              <a:spcBef>
                <a:spcPts val="2280"/>
              </a:spcBef>
            </a:pPr>
            <a:r>
              <a:rPr sz="2600" dirty="0">
                <a:latin typeface="Lucida Sans Unicode"/>
                <a:cs typeface="Lucida Sans Unicode"/>
              </a:rPr>
              <a:t>CREATE</a:t>
            </a:r>
            <a:r>
              <a:rPr sz="2600" spc="25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VIEW</a:t>
            </a:r>
            <a:r>
              <a:rPr sz="2600" spc="3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ActiveStudents</a:t>
            </a:r>
            <a:r>
              <a:rPr sz="2600" spc="30" dirty="0">
                <a:latin typeface="Lucida Sans Unicode"/>
                <a:cs typeface="Lucida Sans Unicode"/>
              </a:rPr>
              <a:t> </a:t>
            </a:r>
            <a:r>
              <a:rPr sz="2600" spc="40" dirty="0">
                <a:latin typeface="Lucida Sans Unicode"/>
                <a:cs typeface="Lucida Sans Unicode"/>
              </a:rPr>
              <a:t>AS</a:t>
            </a:r>
            <a:endParaRPr sz="2600" dirty="0">
              <a:latin typeface="Lucida Sans Unicode"/>
              <a:cs typeface="Lucida Sans Unicode"/>
            </a:endParaRPr>
          </a:p>
          <a:p>
            <a:pPr marL="12700">
              <a:lnSpc>
                <a:spcPts val="2910"/>
              </a:lnSpc>
            </a:pPr>
            <a:r>
              <a:rPr sz="2600" spc="70" dirty="0">
                <a:latin typeface="Lucida Sans Unicode"/>
                <a:cs typeface="Lucida Sans Unicode"/>
              </a:rPr>
              <a:t>SELECT</a:t>
            </a:r>
            <a:r>
              <a:rPr sz="2600" spc="-11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StudentID,</a:t>
            </a:r>
            <a:r>
              <a:rPr sz="2600" spc="-105" dirty="0">
                <a:latin typeface="Lucida Sans Unicode"/>
                <a:cs typeface="Lucida Sans Unicode"/>
              </a:rPr>
              <a:t> </a:t>
            </a:r>
            <a:r>
              <a:rPr sz="2600" spc="-25" dirty="0">
                <a:latin typeface="Lucida Sans Unicode"/>
                <a:cs typeface="Lucida Sans Unicode"/>
              </a:rPr>
              <a:t>Name,</a:t>
            </a:r>
            <a:r>
              <a:rPr sz="2600" spc="-11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DepartmentID</a:t>
            </a:r>
            <a:r>
              <a:rPr sz="2600" spc="-105" dirty="0">
                <a:latin typeface="Lucida Sans Unicode"/>
                <a:cs typeface="Lucida Sans Unicode"/>
              </a:rPr>
              <a:t> </a:t>
            </a:r>
            <a:r>
              <a:rPr sz="2600" spc="65" dirty="0">
                <a:latin typeface="Lucida Sans Unicode"/>
                <a:cs typeface="Lucida Sans Unicode"/>
              </a:rPr>
              <a:t>FROM</a:t>
            </a:r>
            <a:r>
              <a:rPr sz="2600" spc="-11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student</a:t>
            </a:r>
            <a:r>
              <a:rPr sz="2600" spc="-105" dirty="0">
                <a:latin typeface="Lucida Sans Unicode"/>
                <a:cs typeface="Lucida Sans Unicode"/>
              </a:rPr>
              <a:t> </a:t>
            </a:r>
            <a:r>
              <a:rPr sz="2600" spc="125" dirty="0">
                <a:latin typeface="Lucida Sans Unicode"/>
                <a:cs typeface="Lucida Sans Unicode"/>
              </a:rPr>
              <a:t>WHERE</a:t>
            </a:r>
            <a:r>
              <a:rPr sz="2600" spc="-110" dirty="0">
                <a:latin typeface="Lucida Sans Unicode"/>
                <a:cs typeface="Lucida Sans Unicode"/>
              </a:rPr>
              <a:t> </a:t>
            </a:r>
            <a:r>
              <a:rPr sz="2600" spc="-10" dirty="0">
                <a:latin typeface="Lucida Sans Unicode"/>
                <a:cs typeface="Lucida Sans Unicode"/>
              </a:rPr>
              <a:t>AdmissionDate</a:t>
            </a:r>
            <a:r>
              <a:rPr sz="2600" spc="-105" dirty="0">
                <a:latin typeface="Lucida Sans Unicode"/>
                <a:cs typeface="Lucida Sans Unicode"/>
              </a:rPr>
              <a:t> </a:t>
            </a:r>
            <a:r>
              <a:rPr sz="2600" spc="110" dirty="0">
                <a:latin typeface="Lucida Sans Unicode"/>
                <a:cs typeface="Lucida Sans Unicode"/>
              </a:rPr>
              <a:t>IS</a:t>
            </a:r>
            <a:r>
              <a:rPr sz="2600" spc="-110" dirty="0">
                <a:latin typeface="Lucida Sans Unicode"/>
                <a:cs typeface="Lucida Sans Unicode"/>
              </a:rPr>
              <a:t> </a:t>
            </a:r>
            <a:r>
              <a:rPr sz="2600" spc="-40" dirty="0">
                <a:latin typeface="Lucida Sans Unicode"/>
                <a:cs typeface="Lucida Sans Unicode"/>
              </a:rPr>
              <a:t>NOT</a:t>
            </a:r>
            <a:r>
              <a:rPr sz="2600" spc="-105" dirty="0">
                <a:latin typeface="Lucida Sans Unicode"/>
                <a:cs typeface="Lucida Sans Unicode"/>
              </a:rPr>
              <a:t> </a:t>
            </a:r>
            <a:r>
              <a:rPr sz="2600" spc="-20" dirty="0">
                <a:latin typeface="Lucida Sans Unicode"/>
                <a:cs typeface="Lucida Sans Unicode"/>
              </a:rPr>
              <a:t>NULL</a:t>
            </a:r>
            <a:r>
              <a:rPr sz="2600" spc="-20" dirty="0">
                <a:solidFill>
                  <a:srgbClr val="506FFF"/>
                </a:solidFill>
                <a:latin typeface="Lucida Sans Unicode"/>
                <a:cs typeface="Lucida Sans Unicode"/>
              </a:rPr>
              <a:t>;</a:t>
            </a:r>
            <a:endParaRPr sz="2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600" spc="-145" dirty="0">
                <a:solidFill>
                  <a:srgbClr val="656565"/>
                </a:solidFill>
                <a:latin typeface="Arial Black"/>
                <a:cs typeface="Arial Black"/>
              </a:rPr>
              <a:t>Stored</a:t>
            </a:r>
            <a:r>
              <a:rPr sz="2600" spc="-195" dirty="0">
                <a:solidFill>
                  <a:srgbClr val="656565"/>
                </a:solidFill>
                <a:latin typeface="Arial Black"/>
                <a:cs typeface="Arial Black"/>
              </a:rPr>
              <a:t> </a:t>
            </a:r>
            <a:r>
              <a:rPr sz="2600" spc="-175" dirty="0">
                <a:solidFill>
                  <a:srgbClr val="656565"/>
                </a:solidFill>
                <a:latin typeface="Arial Black"/>
                <a:cs typeface="Arial Black"/>
              </a:rPr>
              <a:t>Procedures</a:t>
            </a:r>
            <a:endParaRPr lang="en-US" sz="2600" spc="-175" dirty="0">
              <a:solidFill>
                <a:srgbClr val="656565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lang="en-IN" sz="2800" dirty="0">
                <a:solidFill>
                  <a:schemeClr val="accent1"/>
                </a:solidFill>
              </a:rPr>
              <a:t>19.Increase all faculty salaries by 5% in a given department. (Stored Procedure)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DELIMITER //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CREATE PROCEDURE </a:t>
            </a:r>
            <a:r>
              <a:rPr lang="en-US" sz="2800" dirty="0" err="1">
                <a:solidFill>
                  <a:schemeClr val="tx1"/>
                </a:solidFill>
              </a:rPr>
              <a:t>IncreaseSalary</a:t>
            </a:r>
            <a:r>
              <a:rPr lang="en-US" sz="2800" dirty="0">
                <a:solidFill>
                  <a:schemeClr val="tx1"/>
                </a:solidFill>
              </a:rPr>
              <a:t>(IN </a:t>
            </a:r>
            <a:r>
              <a:rPr lang="en-US" sz="2800" dirty="0" err="1">
                <a:solidFill>
                  <a:schemeClr val="tx1"/>
                </a:solidFill>
              </a:rPr>
              <a:t>deptID</a:t>
            </a:r>
            <a:r>
              <a:rPr lang="en-US" sz="2800" dirty="0">
                <a:solidFill>
                  <a:schemeClr val="tx1"/>
                </a:solidFill>
              </a:rPr>
              <a:t> VARCHAR(20))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BEGIN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    UPDATE Faculty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    SET Salary = Salary * 1.05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    WHERE </a:t>
            </a:r>
            <a:r>
              <a:rPr lang="en-US" sz="2800" dirty="0" err="1">
                <a:solidFill>
                  <a:schemeClr val="tx1"/>
                </a:solidFill>
              </a:rPr>
              <a:t>DepartmentID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deptID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END //</a:t>
            </a:r>
          </a:p>
          <a:p>
            <a:pPr marL="8890" marR="2174240">
              <a:lnSpc>
                <a:spcPts val="2700"/>
              </a:lnSpc>
              <a:spcBef>
                <a:spcPts val="2720"/>
              </a:spcBef>
              <a:buSzPct val="92307"/>
              <a:tabLst>
                <a:tab pos="545465" algn="l"/>
              </a:tabLst>
            </a:pPr>
            <a:r>
              <a:rPr lang="en-US" sz="2800" dirty="0">
                <a:solidFill>
                  <a:schemeClr val="tx1"/>
                </a:solidFill>
              </a:rPr>
              <a:t>DELIMITER ;</a:t>
            </a:r>
            <a:endParaRPr lang="en-IN" sz="2800" dirty="0">
              <a:solidFill>
                <a:schemeClr val="tx1"/>
              </a:solidFill>
            </a:endParaRPr>
          </a:p>
          <a:p>
            <a:pPr marL="12700" marR="2174240" indent="-3810">
              <a:lnSpc>
                <a:spcPts val="2700"/>
              </a:lnSpc>
              <a:spcBef>
                <a:spcPts val="2720"/>
              </a:spcBef>
              <a:buSzPct val="92307"/>
              <a:buAutoNum type="arabicPeriod" startAt="19"/>
              <a:tabLst>
                <a:tab pos="545465" algn="l"/>
              </a:tabLst>
            </a:pPr>
            <a:endParaRPr sz="2600" dirty="0">
              <a:latin typeface="Lucida Sans Unicode"/>
              <a:cs typeface="Lucida Sans Unicod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FE6B18F-B8CC-B0E4-8075-CEE085E151A5}"/>
              </a:ext>
            </a:extLst>
          </p:cNvPr>
          <p:cNvSpPr txBox="1"/>
          <p:nvPr/>
        </p:nvSpPr>
        <p:spPr>
          <a:xfrm>
            <a:off x="1676400" y="1485900"/>
            <a:ext cx="1239520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1. Student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Store and manage student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Maintain admission and department information </a:t>
            </a:r>
          </a:p>
          <a:p>
            <a:pPr>
              <a:buNone/>
            </a:pPr>
            <a:r>
              <a:rPr lang="en-IN" sz="3200" b="1" dirty="0"/>
              <a:t>2. Department &amp; Faculty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Manage departments and faculty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Maintain faculty qualifications and salary details </a:t>
            </a:r>
          </a:p>
          <a:p>
            <a:pPr>
              <a:buNone/>
            </a:pPr>
            <a:r>
              <a:rPr lang="en-IN" sz="3200" b="1" dirty="0"/>
              <a:t>3. Course &amp; </a:t>
            </a:r>
            <a:r>
              <a:rPr lang="en-IN" sz="3200" b="1" dirty="0" err="1"/>
              <a:t>Enrollment</a:t>
            </a:r>
            <a:r>
              <a:rPr lang="en-IN" sz="3200" b="1" dirty="0"/>
              <a:t>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Manage courses and prerequisites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Track student course </a:t>
            </a:r>
            <a:r>
              <a:rPr lang="en-IN" sz="3200" dirty="0" err="1"/>
              <a:t>enrollments</a:t>
            </a:r>
            <a:r>
              <a:rPr lang="en-IN" sz="3200" dirty="0"/>
              <a:t> and grades </a:t>
            </a:r>
          </a:p>
          <a:p>
            <a:pPr>
              <a:buNone/>
            </a:pPr>
            <a:r>
              <a:rPr lang="en-IN" sz="3200" b="1" dirty="0"/>
              <a:t>4. Database Integrity &amp; Security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Primary and foreign key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NOT NULL and UNIQUE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Role-based access and referential integrity </a:t>
            </a:r>
          </a:p>
          <a:p>
            <a:pPr>
              <a:buNone/>
            </a:pPr>
            <a:r>
              <a:rPr lang="en-IN" sz="3200" b="1" dirty="0"/>
              <a:t>5. Query &amp; Transaction Support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DML, DQL, DCL and TCL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Views and stored procedures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Commit, rollback and </a:t>
            </a:r>
            <a:r>
              <a:rPr lang="en-IN" sz="3200" dirty="0" err="1"/>
              <a:t>savepoint</a:t>
            </a:r>
            <a:r>
              <a:rPr lang="en-IN" sz="3200" dirty="0"/>
              <a:t> operations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B5B94-57C9-2C70-18E5-A4E16D950C2B}"/>
              </a:ext>
            </a:extLst>
          </p:cNvPr>
          <p:cNvSpPr txBox="1"/>
          <p:nvPr/>
        </p:nvSpPr>
        <p:spPr>
          <a:xfrm>
            <a:off x="1905000" y="5715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00048" y="899794"/>
            <a:ext cx="4547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solidFill>
                  <a:srgbClr val="331B0D"/>
                </a:solidFill>
                <a:latin typeface="Verdana"/>
                <a:cs typeface="Verdana"/>
              </a:rPr>
              <a:t>Project</a:t>
            </a:r>
            <a:r>
              <a:rPr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4800" spc="-515" dirty="0">
                <a:solidFill>
                  <a:srgbClr val="331B0D"/>
                </a:solidFill>
                <a:latin typeface="Verdana"/>
                <a:cs typeface="Verdana"/>
              </a:rPr>
              <a:t>Summary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900048" y="2193818"/>
            <a:ext cx="7675244" cy="2965364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pc="-25" dirty="0"/>
              <a:t>What</a:t>
            </a:r>
            <a:r>
              <a:rPr spc="-180" dirty="0"/>
              <a:t> </a:t>
            </a:r>
            <a:r>
              <a:rPr spc="70" dirty="0"/>
              <a:t>We</a:t>
            </a:r>
            <a:r>
              <a:rPr spc="-175" dirty="0"/>
              <a:t> </a:t>
            </a:r>
            <a:r>
              <a:rPr spc="-10" dirty="0"/>
              <a:t>Created</a:t>
            </a:r>
          </a:p>
          <a:p>
            <a:pPr marL="469265" marR="279400">
              <a:lnSpc>
                <a:spcPct val="115100"/>
              </a:lnSpc>
              <a:spcBef>
                <a:spcPts val="590"/>
              </a:spcBef>
            </a:pPr>
            <a:r>
              <a:rPr sz="1900" spc="55" dirty="0">
                <a:solidFill>
                  <a:srgbClr val="331B0D"/>
                </a:solidFill>
              </a:rPr>
              <a:t>We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10" dirty="0">
                <a:solidFill>
                  <a:srgbClr val="331B0D"/>
                </a:solidFill>
              </a:rPr>
              <a:t>created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55" dirty="0">
                <a:solidFill>
                  <a:srgbClr val="331B0D"/>
                </a:solidFill>
              </a:rPr>
              <a:t>a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75" dirty="0">
                <a:solidFill>
                  <a:srgbClr val="331B0D"/>
                </a:solidFill>
              </a:rPr>
              <a:t>University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45" dirty="0">
                <a:solidFill>
                  <a:srgbClr val="331B0D"/>
                </a:solidFill>
              </a:rPr>
              <a:t>Management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50" dirty="0">
                <a:solidFill>
                  <a:srgbClr val="331B0D"/>
                </a:solidFill>
              </a:rPr>
              <a:t>System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50" dirty="0">
                <a:solidFill>
                  <a:srgbClr val="331B0D"/>
                </a:solidFill>
              </a:rPr>
              <a:t>using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10" dirty="0">
                <a:solidFill>
                  <a:srgbClr val="331B0D"/>
                </a:solidFill>
              </a:rPr>
              <a:t>MySQL </a:t>
            </a:r>
            <a:r>
              <a:rPr sz="1900" spc="-85" dirty="0">
                <a:solidFill>
                  <a:srgbClr val="331B0D"/>
                </a:solidFill>
              </a:rPr>
              <a:t>that</a:t>
            </a:r>
            <a:r>
              <a:rPr sz="1900" spc="-110" dirty="0">
                <a:solidFill>
                  <a:srgbClr val="331B0D"/>
                </a:solidFill>
              </a:rPr>
              <a:t> </a:t>
            </a:r>
            <a:r>
              <a:rPr sz="1900" spc="-40" dirty="0">
                <a:solidFill>
                  <a:srgbClr val="331B0D"/>
                </a:solidFill>
              </a:rPr>
              <a:t>manages</a:t>
            </a:r>
            <a:r>
              <a:rPr lang="en-IN" sz="2000" spc="-40" dirty="0">
                <a:solidFill>
                  <a:srgbClr val="331B0D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students, faculty, courses, enrolments, and grades</a:t>
            </a:r>
            <a:r>
              <a:rPr sz="1900" spc="-10" dirty="0">
                <a:solidFill>
                  <a:schemeClr val="tx1"/>
                </a:solidFill>
              </a:rPr>
              <a:t>.</a:t>
            </a:r>
            <a:endParaRPr sz="1900" dirty="0">
              <a:solidFill>
                <a:schemeClr val="tx1"/>
              </a:solidFill>
            </a:endParaRPr>
          </a:p>
          <a:p>
            <a:pPr marL="469265" marR="5080" indent="67310">
              <a:lnSpc>
                <a:spcPct val="115100"/>
              </a:lnSpc>
            </a:pPr>
            <a:r>
              <a:rPr sz="1900" spc="-204" dirty="0">
                <a:solidFill>
                  <a:srgbClr val="331B0D"/>
                </a:solidFill>
              </a:rPr>
              <a:t>It</a:t>
            </a:r>
            <a:r>
              <a:rPr sz="1900" spc="-120" dirty="0">
                <a:solidFill>
                  <a:srgbClr val="331B0D"/>
                </a:solidFill>
              </a:rPr>
              <a:t> </a:t>
            </a:r>
            <a:r>
              <a:rPr sz="1900" spc="-20" dirty="0">
                <a:solidFill>
                  <a:srgbClr val="331B0D"/>
                </a:solidFill>
              </a:rPr>
              <a:t>includes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50" dirty="0">
                <a:solidFill>
                  <a:srgbClr val="331B0D"/>
                </a:solidFill>
              </a:rPr>
              <a:t>normalized</a:t>
            </a:r>
            <a:r>
              <a:rPr sz="1900" spc="-120" dirty="0">
                <a:solidFill>
                  <a:srgbClr val="331B0D"/>
                </a:solidFill>
              </a:rPr>
              <a:t> </a:t>
            </a:r>
            <a:r>
              <a:rPr sz="1900" spc="-10" dirty="0">
                <a:solidFill>
                  <a:srgbClr val="331B0D"/>
                </a:solidFill>
              </a:rPr>
              <a:t>tables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70" dirty="0">
                <a:solidFill>
                  <a:srgbClr val="331B0D"/>
                </a:solidFill>
              </a:rPr>
              <a:t>with</a:t>
            </a:r>
            <a:r>
              <a:rPr sz="1900" spc="-120" dirty="0">
                <a:solidFill>
                  <a:srgbClr val="331B0D"/>
                </a:solidFill>
              </a:rPr>
              <a:t> </a:t>
            </a:r>
            <a:r>
              <a:rPr sz="1900" spc="-95" dirty="0">
                <a:solidFill>
                  <a:srgbClr val="331B0D"/>
                </a:solidFill>
              </a:rPr>
              <a:t>primary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60" dirty="0">
                <a:solidFill>
                  <a:srgbClr val="331B0D"/>
                </a:solidFill>
              </a:rPr>
              <a:t>and</a:t>
            </a:r>
            <a:r>
              <a:rPr sz="1900" spc="-120" dirty="0">
                <a:solidFill>
                  <a:srgbClr val="331B0D"/>
                </a:solidFill>
              </a:rPr>
              <a:t> </a:t>
            </a:r>
            <a:r>
              <a:rPr sz="1900" spc="-45" dirty="0">
                <a:solidFill>
                  <a:srgbClr val="331B0D"/>
                </a:solidFill>
              </a:rPr>
              <a:t>foreign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30" dirty="0">
                <a:solidFill>
                  <a:srgbClr val="331B0D"/>
                </a:solidFill>
              </a:rPr>
              <a:t>keys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25" dirty="0">
                <a:solidFill>
                  <a:srgbClr val="331B0D"/>
                </a:solidFill>
              </a:rPr>
              <a:t>to </a:t>
            </a:r>
            <a:r>
              <a:rPr sz="1900" spc="-100" dirty="0">
                <a:solidFill>
                  <a:srgbClr val="331B0D"/>
                </a:solidFill>
              </a:rPr>
              <a:t>maintain</a:t>
            </a:r>
            <a:r>
              <a:rPr sz="1900" spc="-105" dirty="0">
                <a:solidFill>
                  <a:srgbClr val="331B0D"/>
                </a:solidFill>
              </a:rPr>
              <a:t> </a:t>
            </a:r>
            <a:r>
              <a:rPr sz="1900" spc="-50" dirty="0">
                <a:solidFill>
                  <a:srgbClr val="331B0D"/>
                </a:solidFill>
              </a:rPr>
              <a:t>data</a:t>
            </a:r>
            <a:r>
              <a:rPr sz="1900" spc="-105" dirty="0">
                <a:solidFill>
                  <a:srgbClr val="331B0D"/>
                </a:solidFill>
              </a:rPr>
              <a:t> </a:t>
            </a:r>
            <a:r>
              <a:rPr sz="1900" spc="-10" dirty="0">
                <a:solidFill>
                  <a:srgbClr val="331B0D"/>
                </a:solidFill>
              </a:rPr>
              <a:t>integrity.</a:t>
            </a:r>
            <a:endParaRPr sz="1900" dirty="0"/>
          </a:p>
          <a:p>
            <a:pPr marL="469265" marR="932815" indent="67310">
              <a:lnSpc>
                <a:spcPct val="115100"/>
              </a:lnSpc>
            </a:pPr>
            <a:r>
              <a:rPr sz="1900" spc="-10" dirty="0">
                <a:solidFill>
                  <a:srgbClr val="331B0D"/>
                </a:solidFill>
              </a:rPr>
              <a:t>The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35" dirty="0">
                <a:solidFill>
                  <a:srgbClr val="331B0D"/>
                </a:solidFill>
              </a:rPr>
              <a:t>system</a:t>
            </a:r>
            <a:r>
              <a:rPr sz="1900" spc="-110" dirty="0">
                <a:solidFill>
                  <a:srgbClr val="331B0D"/>
                </a:solidFill>
              </a:rPr>
              <a:t> </a:t>
            </a:r>
            <a:r>
              <a:rPr sz="1900" spc="-20" dirty="0">
                <a:solidFill>
                  <a:srgbClr val="331B0D"/>
                </a:solidFill>
              </a:rPr>
              <a:t>supports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25" dirty="0">
                <a:solidFill>
                  <a:srgbClr val="331B0D"/>
                </a:solidFill>
              </a:rPr>
              <a:t>queries</a:t>
            </a:r>
            <a:r>
              <a:rPr sz="1900" spc="-110" dirty="0">
                <a:solidFill>
                  <a:srgbClr val="331B0D"/>
                </a:solidFill>
              </a:rPr>
              <a:t> </a:t>
            </a:r>
            <a:r>
              <a:rPr sz="1900" spc="-45" dirty="0">
                <a:solidFill>
                  <a:srgbClr val="331B0D"/>
                </a:solidFill>
              </a:rPr>
              <a:t>for</a:t>
            </a:r>
            <a:r>
              <a:rPr sz="1900" spc="-114" dirty="0">
                <a:solidFill>
                  <a:srgbClr val="331B0D"/>
                </a:solidFill>
              </a:rPr>
              <a:t> </a:t>
            </a:r>
            <a:r>
              <a:rPr sz="1900" spc="-65" dirty="0">
                <a:solidFill>
                  <a:srgbClr val="331B0D"/>
                </a:solidFill>
              </a:rPr>
              <a:t>enrollment,</a:t>
            </a:r>
            <a:r>
              <a:rPr sz="1900" spc="-110" dirty="0">
                <a:solidFill>
                  <a:srgbClr val="331B0D"/>
                </a:solidFill>
              </a:rPr>
              <a:t> </a:t>
            </a:r>
            <a:r>
              <a:rPr sz="1900" spc="-35" dirty="0">
                <a:solidFill>
                  <a:srgbClr val="331B0D"/>
                </a:solidFill>
              </a:rPr>
              <a:t>grading, scheduling,</a:t>
            </a:r>
            <a:r>
              <a:rPr sz="1900" spc="-100" dirty="0">
                <a:solidFill>
                  <a:srgbClr val="331B0D"/>
                </a:solidFill>
              </a:rPr>
              <a:t> </a:t>
            </a:r>
            <a:r>
              <a:rPr sz="1900" spc="-60" dirty="0">
                <a:solidFill>
                  <a:srgbClr val="331B0D"/>
                </a:solidFill>
              </a:rPr>
              <a:t>and</a:t>
            </a:r>
            <a:r>
              <a:rPr sz="1900" spc="-100" dirty="0">
                <a:solidFill>
                  <a:srgbClr val="331B0D"/>
                </a:solidFill>
              </a:rPr>
              <a:t> </a:t>
            </a:r>
            <a:r>
              <a:rPr sz="1900" spc="-50" dirty="0">
                <a:solidFill>
                  <a:srgbClr val="331B0D"/>
                </a:solidFill>
              </a:rPr>
              <a:t>student</a:t>
            </a:r>
            <a:r>
              <a:rPr sz="1900" spc="-95" dirty="0">
                <a:solidFill>
                  <a:srgbClr val="331B0D"/>
                </a:solidFill>
              </a:rPr>
              <a:t> </a:t>
            </a:r>
            <a:r>
              <a:rPr sz="1900" spc="-35" dirty="0">
                <a:solidFill>
                  <a:srgbClr val="331B0D"/>
                </a:solidFill>
              </a:rPr>
              <a:t>performance</a:t>
            </a:r>
            <a:r>
              <a:rPr sz="1900" spc="-100" dirty="0">
                <a:solidFill>
                  <a:srgbClr val="331B0D"/>
                </a:solidFill>
              </a:rPr>
              <a:t> </a:t>
            </a:r>
            <a:r>
              <a:rPr sz="1900" spc="-10" dirty="0">
                <a:solidFill>
                  <a:srgbClr val="331B0D"/>
                </a:solidFill>
              </a:rPr>
              <a:t>tracking.</a:t>
            </a:r>
            <a:endParaRPr sz="190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1823" y="610361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1823" y="721804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1823" y="833246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00048" y="5153402"/>
            <a:ext cx="7473552" cy="4225324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2400" spc="-25" dirty="0">
                <a:solidFill>
                  <a:srgbClr val="8B7753"/>
                </a:solidFill>
                <a:latin typeface="Verdana"/>
                <a:cs typeface="Verdana"/>
              </a:rPr>
              <a:t>What</a:t>
            </a:r>
            <a:r>
              <a:rPr sz="2400" spc="-17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54" dirty="0">
                <a:solidFill>
                  <a:srgbClr val="8B7753"/>
                </a:solidFill>
                <a:latin typeface="Verdana"/>
                <a:cs typeface="Verdana"/>
              </a:rPr>
              <a:t>It</a:t>
            </a:r>
            <a:r>
              <a:rPr sz="2400" spc="-17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B7753"/>
                </a:solidFill>
                <a:latin typeface="Verdana"/>
                <a:cs typeface="Verdana"/>
              </a:rPr>
              <a:t>Does</a:t>
            </a:r>
            <a:endParaRPr sz="2400" dirty="0">
              <a:latin typeface="Verdana"/>
              <a:cs typeface="Verdana"/>
            </a:endParaRPr>
          </a:p>
          <a:p>
            <a:pPr marL="465455" marR="5080">
              <a:lnSpc>
                <a:spcPct val="114300"/>
              </a:lnSpc>
              <a:spcBef>
                <a:spcPts val="1150"/>
              </a:spcBef>
            </a:pPr>
            <a:r>
              <a:rPr sz="2350" spc="80" dirty="0">
                <a:solidFill>
                  <a:srgbClr val="331B0D"/>
                </a:solidFill>
                <a:latin typeface="Times New Roman"/>
                <a:cs typeface="Times New Roman"/>
              </a:rPr>
              <a:t> </a:t>
            </a:r>
            <a:r>
              <a:rPr lang="en-US" sz="2100" dirty="0">
                <a:solidFill>
                  <a:srgbClr val="331B0D"/>
                </a:solidFill>
                <a:latin typeface="Verdana"/>
                <a:cs typeface="Verdana"/>
              </a:rPr>
              <a:t>Manages</a:t>
            </a:r>
            <a:r>
              <a:rPr lang="en-US" sz="2100" spc="-14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331B0D"/>
                </a:solidFill>
                <a:latin typeface="Verdana"/>
                <a:cs typeface="Verdana"/>
              </a:rPr>
              <a:t>academic</a:t>
            </a:r>
            <a:r>
              <a:rPr lang="en-US" sz="2100" spc="-145" dirty="0">
                <a:solidFill>
                  <a:srgbClr val="331B0D"/>
                </a:solidFill>
                <a:latin typeface="Verdana"/>
                <a:cs typeface="Verdana"/>
              </a:rPr>
              <a:t> data:</a:t>
            </a:r>
            <a:r>
              <a:rPr lang="en-US" sz="2100" spc="-14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25" dirty="0">
                <a:solidFill>
                  <a:srgbClr val="331B0D"/>
                </a:solidFill>
                <a:latin typeface="Verdana"/>
                <a:cs typeface="Verdana"/>
              </a:rPr>
              <a:t>Stores</a:t>
            </a:r>
            <a:r>
              <a:rPr lang="en-US" sz="2100" spc="-14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65" dirty="0">
                <a:solidFill>
                  <a:srgbClr val="331B0D"/>
                </a:solidFill>
                <a:latin typeface="Verdana"/>
                <a:cs typeface="Verdana"/>
              </a:rPr>
              <a:t>and</a:t>
            </a:r>
            <a:r>
              <a:rPr lang="en-US" sz="2100" spc="-14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275" dirty="0">
                <a:solidFill>
                  <a:srgbClr val="331B0D"/>
                </a:solidFill>
                <a:latin typeface="Verdana"/>
                <a:cs typeface="Verdana"/>
              </a:rPr>
              <a:t>organizes </a:t>
            </a:r>
            <a:r>
              <a:rPr lang="en-IN" sz="2400" dirty="0"/>
              <a:t>student, faculty, course, enrolment, and grade information</a:t>
            </a:r>
          </a:p>
          <a:p>
            <a:pPr marL="465455" marR="5080">
              <a:lnSpc>
                <a:spcPct val="114300"/>
              </a:lnSpc>
              <a:spcBef>
                <a:spcPts val="1150"/>
              </a:spcBef>
            </a:pPr>
            <a:r>
              <a:rPr lang="en-IN" sz="2400" b="1" dirty="0"/>
              <a:t>Supports academic operations:</a:t>
            </a:r>
            <a:r>
              <a:rPr lang="en-IN" sz="2400" dirty="0"/>
              <a:t> Handles </a:t>
            </a:r>
            <a:r>
              <a:rPr lang="en-IN" sz="2400" dirty="0" err="1"/>
              <a:t>enrollment</a:t>
            </a:r>
            <a:r>
              <a:rPr lang="en-IN" sz="2400" dirty="0"/>
              <a:t>, grading, and scheduling through SQL queries and relationships.</a:t>
            </a:r>
          </a:p>
          <a:p>
            <a:pPr marL="465455" marR="5080">
              <a:lnSpc>
                <a:spcPct val="114300"/>
              </a:lnSpc>
              <a:spcBef>
                <a:spcPts val="1150"/>
              </a:spcBef>
            </a:pPr>
            <a:r>
              <a:rPr lang="en-US" sz="2100" spc="-40" dirty="0">
                <a:solidFill>
                  <a:srgbClr val="331B0D"/>
                </a:solidFill>
                <a:latin typeface="Verdana"/>
                <a:cs typeface="Verdana"/>
              </a:rPr>
              <a:t>Ensures</a:t>
            </a:r>
            <a:r>
              <a:rPr lang="en-US" sz="2100" spc="-1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55" dirty="0">
                <a:solidFill>
                  <a:srgbClr val="331B0D"/>
                </a:solidFill>
                <a:latin typeface="Verdana"/>
                <a:cs typeface="Verdana"/>
              </a:rPr>
              <a:t>data</a:t>
            </a:r>
            <a:r>
              <a:rPr lang="en-US" sz="2100" spc="-1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130" dirty="0">
                <a:solidFill>
                  <a:srgbClr val="331B0D"/>
                </a:solidFill>
                <a:latin typeface="Verdana"/>
                <a:cs typeface="Verdana"/>
              </a:rPr>
              <a:t>integrity:</a:t>
            </a:r>
            <a:r>
              <a:rPr lang="en-US" sz="2100" spc="-1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331B0D"/>
                </a:solidFill>
                <a:latin typeface="Verdana"/>
                <a:cs typeface="Verdana"/>
              </a:rPr>
              <a:t>Uses</a:t>
            </a:r>
            <a:r>
              <a:rPr lang="en-US" sz="2100" spc="-1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45" dirty="0">
                <a:solidFill>
                  <a:srgbClr val="331B0D"/>
                </a:solidFill>
                <a:latin typeface="Verdana"/>
                <a:cs typeface="Verdana"/>
              </a:rPr>
              <a:t>constraints</a:t>
            </a:r>
            <a:r>
              <a:rPr lang="en-US" sz="2100" spc="-1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US" sz="2100" spc="-25" dirty="0">
                <a:solidFill>
                  <a:srgbClr val="331B0D"/>
                </a:solidFill>
                <a:latin typeface="Verdana"/>
                <a:cs typeface="Verdana"/>
              </a:rPr>
              <a:t>and</a:t>
            </a:r>
            <a:endParaRPr lang="en-US" sz="2100" dirty="0">
              <a:latin typeface="Verdana"/>
              <a:cs typeface="Verdana"/>
            </a:endParaRPr>
          </a:p>
          <a:p>
            <a:pPr marL="465455" marR="240029">
              <a:lnSpc>
                <a:spcPts val="2930"/>
              </a:lnSpc>
              <a:spcBef>
                <a:spcPts val="40"/>
              </a:spcBef>
            </a:pPr>
            <a:r>
              <a:rPr sz="2100" spc="70" dirty="0">
                <a:solidFill>
                  <a:srgbClr val="331B0D"/>
                </a:solidFill>
                <a:latin typeface="Verdana"/>
                <a:cs typeface="Verdana"/>
              </a:rPr>
              <a:t>access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331B0D"/>
                </a:solidFill>
                <a:latin typeface="Verdana"/>
                <a:cs typeface="Verdana"/>
              </a:rPr>
              <a:t>control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331B0D"/>
                </a:solidFill>
                <a:latin typeface="Verdana"/>
                <a:cs typeface="Verdana"/>
              </a:rPr>
              <a:t>to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331B0D"/>
                </a:solidFill>
                <a:latin typeface="Verdana"/>
                <a:cs typeface="Verdana"/>
              </a:rPr>
              <a:t>maintain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331B0D"/>
                </a:solidFill>
                <a:latin typeface="Verdana"/>
                <a:cs typeface="Verdana"/>
              </a:rPr>
              <a:t>accurate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331B0D"/>
                </a:solidFill>
                <a:latin typeface="Verdana"/>
                <a:cs typeface="Verdana"/>
              </a:rPr>
              <a:t>and</a:t>
            </a:r>
            <a:r>
              <a:rPr sz="2100" spc="-13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331B0D"/>
                </a:solidFill>
                <a:latin typeface="Verdana"/>
                <a:cs typeface="Verdana"/>
              </a:rPr>
              <a:t>secure records.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6000" y="1010284"/>
            <a:ext cx="3457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PROJECT LEARNINGS</a:t>
            </a:r>
            <a:endParaRPr sz="1800" b="1" dirty="0">
              <a:solidFill>
                <a:schemeClr val="bg2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6390" y="2671444"/>
            <a:ext cx="5561330" cy="62683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Database Design</a:t>
            </a:r>
          </a:p>
          <a:p>
            <a:pPr lvl="0"/>
            <a:r>
              <a:rPr lang="en-IN" sz="2400" dirty="0"/>
              <a:t>Learned to convert requirements into entities and relationships. </a:t>
            </a:r>
          </a:p>
          <a:p>
            <a:pPr lvl="0"/>
            <a:r>
              <a:rPr lang="en-IN" sz="2400" dirty="0"/>
              <a:t>Designed tables using primary and foreign keys. </a:t>
            </a:r>
          </a:p>
          <a:p>
            <a:pPr lvl="0"/>
            <a:r>
              <a:rPr lang="en-IN" sz="2400" dirty="0"/>
              <a:t>Applied normalization to reduce data redundancy.</a:t>
            </a: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2400" dirty="0">
              <a:latin typeface="Verdana"/>
              <a:cs typeface="Verdana"/>
            </a:endParaRPr>
          </a:p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Data Integrity &amp; Security</a:t>
            </a:r>
          </a:p>
          <a:p>
            <a:pPr lvl="0"/>
            <a:r>
              <a:rPr lang="en-IN" sz="2400" dirty="0"/>
              <a:t>Applied PRIMARY KEY, FOREIGN KEY, NOT NULL and UNIQUE constraints. </a:t>
            </a:r>
          </a:p>
          <a:p>
            <a:pPr lvl="0"/>
            <a:r>
              <a:rPr lang="en-IN" sz="2400" dirty="0"/>
              <a:t>Maintained referential integrity between related tables. </a:t>
            </a:r>
          </a:p>
          <a:p>
            <a:pPr lvl="0"/>
            <a:r>
              <a:rPr lang="en-IN" sz="2400" dirty="0"/>
              <a:t>Used GRANT and REVOKE for access control.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11639780" y="2671444"/>
            <a:ext cx="5511165" cy="575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/>
              <a:t>SQL &amp; Queries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Implemented DML, DQL, DCL and TCL commands.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Used JOINs, subqueries, aggregate functions and GROUP BY.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Created views and stored procedures.</a:t>
            </a:r>
          </a:p>
          <a:p>
            <a:pPr marL="12700">
              <a:lnSpc>
                <a:spcPct val="100000"/>
              </a:lnSpc>
            </a:pPr>
            <a:endParaRPr lang="en-US" b="0" spc="-10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-US" b="0" spc="-10" dirty="0">
                <a:solidFill>
                  <a:schemeClr val="tx1"/>
                </a:solidFill>
              </a:rPr>
              <a:t> </a:t>
            </a:r>
          </a:p>
          <a:p>
            <a:pPr marL="12700">
              <a:lnSpc>
                <a:spcPct val="100000"/>
              </a:lnSpc>
            </a:pPr>
            <a:endParaRPr b="0" spc="-10" dirty="0">
              <a:solidFill>
                <a:schemeClr val="tx1"/>
              </a:solidFill>
            </a:endParaRPr>
          </a:p>
          <a:p>
            <a:r>
              <a:rPr lang="en-IN" dirty="0"/>
              <a:t>Practical Experience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Designed and implemented a University Management System using MySQL. 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Tested database operations using practical SQL queries.</a:t>
            </a:r>
          </a:p>
          <a:p>
            <a:pPr marL="12700" marR="153035">
              <a:lnSpc>
                <a:spcPct val="132800"/>
              </a:lnSpc>
              <a:spcBef>
                <a:spcPts val="1095"/>
              </a:spcBef>
            </a:pPr>
            <a:endParaRPr b="0" spc="-10" dirty="0">
              <a:solidFill>
                <a:srgbClr val="331B0D"/>
              </a:solidFill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857061"/>
            <a:ext cx="3457575" cy="139781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1060"/>
              </a:spcBef>
            </a:pPr>
            <a:r>
              <a:rPr lang="en-IN" sz="4800" dirty="0"/>
              <a:t>TECHNICAL LEARNINGS</a:t>
            </a:r>
            <a:endParaRPr sz="4800" dirty="0"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023769"/>
            <a:ext cx="584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bg2">
                    <a:lumMod val="50000"/>
                  </a:schemeClr>
                </a:solidFill>
              </a:rPr>
              <a:t>FUTURE ENHANCEMENTS</a:t>
            </a:r>
            <a:endParaRPr sz="3200" b="1" dirty="0">
              <a:solidFill>
                <a:schemeClr val="bg2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6400" y="1276403"/>
            <a:ext cx="13614400" cy="735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200" b="1" spc="120" dirty="0">
              <a:solidFill>
                <a:srgbClr val="656565"/>
              </a:solidFill>
              <a:latin typeface="Tahoma"/>
              <a:cs typeface="Tahoma"/>
            </a:endParaRPr>
          </a:p>
          <a:p>
            <a:endParaRPr lang="en-IN" sz="2400" b="1" dirty="0"/>
          </a:p>
          <a:p>
            <a:endParaRPr lang="en-IN" sz="2400" b="1" dirty="0"/>
          </a:p>
          <a:p>
            <a:pPr lvl="0"/>
            <a:r>
              <a:rPr lang="en-IN" sz="3200" dirty="0"/>
              <a:t>1. Develop a </a:t>
            </a:r>
            <a:r>
              <a:rPr lang="en-IN" sz="3200" b="1" dirty="0"/>
              <a:t>user-friendly web interface</a:t>
            </a:r>
            <a:r>
              <a:rPr lang="en-IN" sz="3200" dirty="0"/>
              <a:t> for the database system.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2. Provide </a:t>
            </a:r>
            <a:r>
              <a:rPr lang="en-IN" sz="3200" b="1" dirty="0"/>
              <a:t>secure login and role-based access control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3. Add </a:t>
            </a:r>
            <a:r>
              <a:rPr lang="en-IN" sz="3200" b="1" dirty="0"/>
              <a:t>student performance and attendance tracking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4. Generate </a:t>
            </a:r>
            <a:r>
              <a:rPr lang="en-IN" sz="3200" b="1" dirty="0"/>
              <a:t>academic and attendance reports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5. Use </a:t>
            </a:r>
            <a:r>
              <a:rPr lang="en-IN" sz="3200" b="1" dirty="0"/>
              <a:t>data analytics</a:t>
            </a:r>
            <a:r>
              <a:rPr lang="en-IN" sz="3200" dirty="0"/>
              <a:t> for better academic insights.</a:t>
            </a:r>
          </a:p>
          <a:p>
            <a:pPr lvl="0"/>
            <a:r>
              <a:rPr lang="en-IN" sz="3200" dirty="0"/>
              <a:t> </a:t>
            </a:r>
          </a:p>
          <a:p>
            <a:pPr lvl="0"/>
            <a:r>
              <a:rPr lang="en-IN" sz="3200" dirty="0"/>
              <a:t>6. Improve </a:t>
            </a:r>
            <a:r>
              <a:rPr lang="en-IN" sz="3200" b="1" dirty="0"/>
              <a:t>security, scalability, and data management</a:t>
            </a:r>
            <a:r>
              <a:rPr lang="en-IN" sz="3200" dirty="0"/>
              <a:t>.</a:t>
            </a:r>
          </a:p>
          <a:p>
            <a:pPr lvl="0"/>
            <a:endParaRPr lang="en-IN" sz="32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24200" y="1790700"/>
            <a:ext cx="10578465" cy="262507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950" spc="-1495" dirty="0">
                <a:solidFill>
                  <a:srgbClr val="331B0D"/>
                </a:solidFill>
                <a:latin typeface="Verdana"/>
                <a:cs typeface="Verdana"/>
              </a:rPr>
              <a:t>T</a:t>
            </a:r>
            <a:r>
              <a:rPr sz="16950" spc="-1625" dirty="0">
                <a:solidFill>
                  <a:srgbClr val="331B0D"/>
                </a:solidFill>
                <a:latin typeface="Verdana"/>
                <a:cs typeface="Verdana"/>
              </a:rPr>
              <a:t>h</a:t>
            </a:r>
            <a:r>
              <a:rPr sz="16950" spc="-1565" dirty="0">
                <a:solidFill>
                  <a:srgbClr val="331B0D"/>
                </a:solidFill>
                <a:latin typeface="Verdana"/>
                <a:cs typeface="Verdana"/>
              </a:rPr>
              <a:t>a</a:t>
            </a:r>
            <a:r>
              <a:rPr sz="16950" spc="-1625" dirty="0">
                <a:solidFill>
                  <a:srgbClr val="331B0D"/>
                </a:solidFill>
                <a:latin typeface="Verdana"/>
                <a:cs typeface="Verdana"/>
              </a:rPr>
              <a:t>n</a:t>
            </a:r>
            <a:r>
              <a:rPr sz="16950" spc="-500" dirty="0">
                <a:solidFill>
                  <a:srgbClr val="331B0D"/>
                </a:solidFill>
                <a:latin typeface="Verdana"/>
                <a:cs typeface="Verdana"/>
              </a:rPr>
              <a:t>k</a:t>
            </a:r>
            <a:r>
              <a:rPr lang="en-US" sz="16950" spc="-5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16950" spc="-844" dirty="0">
                <a:solidFill>
                  <a:srgbClr val="331B0D"/>
                </a:solidFill>
                <a:latin typeface="Verdana"/>
                <a:cs typeface="Verdana"/>
              </a:rPr>
              <a:t>Y</a:t>
            </a:r>
            <a:r>
              <a:rPr lang="en-US" sz="16950" spc="-844" dirty="0">
                <a:solidFill>
                  <a:srgbClr val="331B0D"/>
                </a:solidFill>
                <a:latin typeface="Verdana"/>
                <a:cs typeface="Verdana"/>
              </a:rPr>
              <a:t>ou</a:t>
            </a:r>
            <a:r>
              <a:rPr sz="16950" spc="-88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endParaRPr sz="16950" dirty="0">
              <a:latin typeface="Verdana"/>
              <a:cs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E3837-42A2-C4E1-D096-DB489E0CBF35}"/>
              </a:ext>
            </a:extLst>
          </p:cNvPr>
          <p:cNvSpPr txBox="1"/>
          <p:nvPr/>
        </p:nvSpPr>
        <p:spPr>
          <a:xfrm>
            <a:off x="1833343" y="4593950"/>
            <a:ext cx="146213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25B11DS045 (B. Rohith)</a:t>
            </a:r>
            <a:r>
              <a:rPr lang="en-IN" sz="3200" dirty="0"/>
              <a:t> – Database Design &amp; College/Department Tables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25B11DS286 (K. Anandh Sai)</a:t>
            </a:r>
            <a:r>
              <a:rPr lang="en-IN" sz="3200" dirty="0"/>
              <a:t> – ER Diagram, Documentation &amp; Presentation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25B11DS331 (M. Gowri Shankar)</a:t>
            </a:r>
            <a:r>
              <a:rPr lang="en-IN" sz="3200" dirty="0"/>
              <a:t> – Faculty &amp; Course Management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25B11DS034 (Ayush Kumar Singh)</a:t>
            </a:r>
            <a:r>
              <a:rPr lang="en-IN" sz="3200" dirty="0"/>
              <a:t> – Attendance &amp; Grade Management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25B11DS211 (K. Siva Lakshmi Rahul)</a:t>
            </a:r>
            <a:r>
              <a:rPr lang="en-IN" sz="3200" dirty="0"/>
              <a:t> – Student &amp; </a:t>
            </a:r>
            <a:r>
              <a:rPr lang="en-IN" sz="3200" dirty="0" err="1"/>
              <a:t>Enrollment</a:t>
            </a:r>
            <a:r>
              <a:rPr lang="en-IN" sz="3200" dirty="0"/>
              <a:t>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1627</Words>
  <Application>Microsoft Office PowerPoint</Application>
  <PresentationFormat>Custom</PresentationFormat>
  <Paragraphs>220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Lucida Sans Unicode</vt:lpstr>
      <vt:lpstr>Tahoma</vt:lpstr>
      <vt:lpstr>Times New Roman</vt:lpstr>
      <vt:lpstr>Verdana</vt:lpstr>
      <vt:lpstr>Office Theme</vt:lpstr>
      <vt:lpstr>DBMS PROJECT</vt:lpstr>
      <vt:lpstr>Project Overview</vt:lpstr>
      <vt:lpstr>Project Objective</vt:lpstr>
      <vt:lpstr>What We Found</vt:lpstr>
      <vt:lpstr>Entity Descriptions</vt:lpstr>
      <vt:lpstr>Attributes are the individual data fields that describe the properties of an entity in a database. They act as columns in a table, storing specific information about each record.</vt:lpstr>
      <vt:lpstr>Relationships define how entities in a database are connected to each other. They show how entities are connected and help maintain meaningful relationships between tables.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Summary</vt:lpstr>
      <vt:lpstr>TECHNICAL LEARNINGS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DBMS-Lab-Project-PPT</dc:title>
  <dc:creator>Yashvardhan Jani</dc:creator>
  <cp:keywords>DAG3R3kE8h4,BAGVO1jE2CI,0</cp:keywords>
  <cp:lastModifiedBy>Rohith Bandi</cp:lastModifiedBy>
  <cp:revision>8</cp:revision>
  <dcterms:created xsi:type="dcterms:W3CDTF">2026-08-10T16:07:42Z</dcterms:created>
  <dcterms:modified xsi:type="dcterms:W3CDTF">2026-08-16T07:36:07Z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2026-08-10T00:00:00Z</vt:filetime>
  </property>
  <property fmtid="{D5CDD505-2E9C-101B-9397-08002B2CF9AE}" pid="6" name="Producer">
    <vt:lpwstr>Canva</vt:lpwstr>
  </property>
</Properties>
</file>