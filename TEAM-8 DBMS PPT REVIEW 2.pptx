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EBFE5E-C851-471F-B472-E6D42FF0BE23}" v="1" dt="2026-09-30T06:14:31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h Bandi" userId="6a3d00aa59c60296" providerId="LiveId" clId="{0FA3EAA8-0211-4520-BCD9-9A1C1BD62CE7}"/>
    <pc:docChg chg="custSel modSld">
      <pc:chgData name="Rohith Bandi" userId="6a3d00aa59c60296" providerId="LiveId" clId="{0FA3EAA8-0211-4520-BCD9-9A1C1BD62CE7}" dt="2026-09-30T06:27:20.385" v="131" actId="20577"/>
      <pc:docMkLst>
        <pc:docMk/>
      </pc:docMkLst>
      <pc:sldChg chg="addSp delSp modSp mod">
        <pc:chgData name="Rohith Bandi" userId="6a3d00aa59c60296" providerId="LiveId" clId="{0FA3EAA8-0211-4520-BCD9-9A1C1BD62CE7}" dt="2026-09-30T06:27:20.385" v="131" actId="20577"/>
        <pc:sldMkLst>
          <pc:docMk/>
          <pc:sldMk cId="0" sldId="256"/>
        </pc:sldMkLst>
        <pc:spChg chg="mod">
          <ac:chgData name="Rohith Bandi" userId="6a3d00aa59c60296" providerId="LiveId" clId="{0FA3EAA8-0211-4520-BCD9-9A1C1BD62CE7}" dt="2026-09-30T06:14:58.191" v="18" actId="6549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4:15.106" v="4" actId="6549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4:23.950" v="6" actId="6549"/>
          <ac:spMkLst>
            <pc:docMk/>
            <pc:sldMk cId="0" sldId="256"/>
            <ac:spMk id="24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7:20.385" v="131" actId="2057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4:52.075" v="17" actId="6549"/>
          <ac:spMkLst>
            <pc:docMk/>
            <pc:sldMk cId="0" sldId="256"/>
            <ac:spMk id="44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4:18.807" v="5" actId="6549"/>
          <ac:spMkLst>
            <pc:docMk/>
            <pc:sldMk cId="0" sldId="256"/>
            <ac:spMk id="45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14:41.214" v="14" actId="478"/>
          <ac:spMkLst>
            <pc:docMk/>
            <pc:sldMk cId="0" sldId="256"/>
            <ac:spMk id="46" creationId="{00000000-0000-0000-0000-000000000000}"/>
          </ac:spMkLst>
        </pc:spChg>
        <pc:spChg chg="del mod">
          <ac:chgData name="Rohith Bandi" userId="6a3d00aa59c60296" providerId="LiveId" clId="{0FA3EAA8-0211-4520-BCD9-9A1C1BD62CE7}" dt="2026-09-30T06:14:34.213" v="9" actId="478"/>
          <ac:spMkLst>
            <pc:docMk/>
            <pc:sldMk cId="0" sldId="256"/>
            <ac:spMk id="47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14:43.169" v="15" actId="478"/>
          <ac:spMkLst>
            <pc:docMk/>
            <pc:sldMk cId="0" sldId="256"/>
            <ac:spMk id="48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14:36.925" v="12" actId="478"/>
          <ac:spMkLst>
            <pc:docMk/>
            <pc:sldMk cId="0" sldId="256"/>
            <ac:spMk id="49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14:45.659" v="16" actId="478"/>
          <ac:spMkLst>
            <pc:docMk/>
            <pc:sldMk cId="0" sldId="256"/>
            <ac:spMk id="50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14:38.657" v="13" actId="478"/>
          <ac:spMkLst>
            <pc:docMk/>
            <pc:sldMk cId="0" sldId="256"/>
            <ac:spMk id="51" creationId="{00000000-0000-0000-0000-000000000000}"/>
          </ac:spMkLst>
        </pc:spChg>
        <pc:spChg chg="add del mod">
          <ac:chgData name="Rohith Bandi" userId="6a3d00aa59c60296" providerId="LiveId" clId="{0FA3EAA8-0211-4520-BCD9-9A1C1BD62CE7}" dt="2026-09-30T06:14:34.213" v="11"/>
          <ac:spMkLst>
            <pc:docMk/>
            <pc:sldMk cId="0" sldId="256"/>
            <ac:spMk id="52" creationId="{62214AE2-8FE2-3B68-0E22-08E9E98E63D4}"/>
          </ac:spMkLst>
        </pc:spChg>
        <pc:picChg chg="del">
          <ac:chgData name="Rohith Bandi" userId="6a3d00aa59c60296" providerId="LiveId" clId="{0FA3EAA8-0211-4520-BCD9-9A1C1BD62CE7}" dt="2026-09-30T06:24:49.108" v="91" actId="478"/>
          <ac:picMkLst>
            <pc:docMk/>
            <pc:sldMk cId="0" sldId="256"/>
            <ac:picMk id="3" creationId="{00000000-0000-0000-0000-000000000000}"/>
          </ac:picMkLst>
        </pc:picChg>
        <pc:picChg chg="add mod">
          <ac:chgData name="Rohith Bandi" userId="6a3d00aa59c60296" providerId="LiveId" clId="{0FA3EAA8-0211-4520-BCD9-9A1C1BD62CE7}" dt="2026-09-30T06:25:18.529" v="96" actId="14100"/>
          <ac:picMkLst>
            <pc:docMk/>
            <pc:sldMk cId="0" sldId="256"/>
            <ac:picMk id="54" creationId="{64EF9B4C-3CCB-6E41-C6EA-A3DD67A6B79E}"/>
          </ac:picMkLst>
        </pc:picChg>
      </pc:sldChg>
      <pc:sldChg chg="addSp delSp modSp mod">
        <pc:chgData name="Rohith Bandi" userId="6a3d00aa59c60296" providerId="LiveId" clId="{0FA3EAA8-0211-4520-BCD9-9A1C1BD62CE7}" dt="2026-09-30T06:25:45.790" v="100" actId="1076"/>
        <pc:sldMkLst>
          <pc:docMk/>
          <pc:sldMk cId="0" sldId="257"/>
        </pc:sldMkLst>
        <pc:spChg chg="mod">
          <ac:chgData name="Rohith Bandi" userId="6a3d00aa59c60296" providerId="LiveId" clId="{0FA3EAA8-0211-4520-BCD9-9A1C1BD62CE7}" dt="2026-09-30T06:16:00.101" v="22" actId="6549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5:10.162" v="19" actId="6549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5:15.498" v="20" actId="6549"/>
          <ac:spMkLst>
            <pc:docMk/>
            <pc:sldMk cId="0" sldId="257"/>
            <ac:spMk id="6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5:21.500" v="21" actId="6549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6:04.835" v="23" actId="6549"/>
          <ac:spMkLst>
            <pc:docMk/>
            <pc:sldMk cId="0" sldId="257"/>
            <ac:spMk id="39" creationId="{00000000-0000-0000-0000-000000000000}"/>
          </ac:spMkLst>
        </pc:spChg>
        <pc:picChg chg="del">
          <ac:chgData name="Rohith Bandi" userId="6a3d00aa59c60296" providerId="LiveId" clId="{0FA3EAA8-0211-4520-BCD9-9A1C1BD62CE7}" dt="2026-09-30T06:25:36.761" v="97" actId="478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Rohith Bandi" userId="6a3d00aa59c60296" providerId="LiveId" clId="{0FA3EAA8-0211-4520-BCD9-9A1C1BD62CE7}" dt="2026-09-30T06:25:45.790" v="100" actId="1076"/>
          <ac:picMkLst>
            <pc:docMk/>
            <pc:sldMk cId="0" sldId="257"/>
            <ac:picMk id="63" creationId="{7265C88E-4ED3-79E9-8E3A-6D101D10A718}"/>
          </ac:picMkLst>
        </pc:picChg>
      </pc:sldChg>
      <pc:sldChg chg="addSp delSp modSp mod">
        <pc:chgData name="Rohith Bandi" userId="6a3d00aa59c60296" providerId="LiveId" clId="{0FA3EAA8-0211-4520-BCD9-9A1C1BD62CE7}" dt="2026-09-30T06:26:30.067" v="110" actId="1037"/>
        <pc:sldMkLst>
          <pc:docMk/>
          <pc:sldMk cId="0" sldId="258"/>
        </pc:sldMkLst>
        <pc:spChg chg="mod">
          <ac:chgData name="Rohith Bandi" userId="6a3d00aa59c60296" providerId="LiveId" clId="{0FA3EAA8-0211-4520-BCD9-9A1C1BD62CE7}" dt="2026-09-30T06:16:44.010" v="26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6:31.288" v="24" actId="6549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6:33.544" v="25" actId="6549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6:49.009" v="27" actId="6549"/>
          <ac:spMkLst>
            <pc:docMk/>
            <pc:sldMk cId="0" sldId="258"/>
            <ac:spMk id="12" creationId="{00000000-0000-0000-0000-000000000000}"/>
          </ac:spMkLst>
        </pc:spChg>
        <pc:picChg chg="del">
          <ac:chgData name="Rohith Bandi" userId="6a3d00aa59c60296" providerId="LiveId" clId="{0FA3EAA8-0211-4520-BCD9-9A1C1BD62CE7}" dt="2026-09-30T06:25:50.821" v="101" actId="478"/>
          <ac:picMkLst>
            <pc:docMk/>
            <pc:sldMk cId="0" sldId="258"/>
            <ac:picMk id="2" creationId="{00000000-0000-0000-0000-000000000000}"/>
          </ac:picMkLst>
        </pc:picChg>
        <pc:picChg chg="add mod">
          <ac:chgData name="Rohith Bandi" userId="6a3d00aa59c60296" providerId="LiveId" clId="{0FA3EAA8-0211-4520-BCD9-9A1C1BD62CE7}" dt="2026-09-30T06:26:30.067" v="110" actId="1037"/>
          <ac:picMkLst>
            <pc:docMk/>
            <pc:sldMk cId="0" sldId="258"/>
            <ac:picMk id="51" creationId="{46D8BFD0-A1C6-8FEC-AD85-CA467DEBC520}"/>
          </ac:picMkLst>
        </pc:picChg>
      </pc:sldChg>
      <pc:sldChg chg="addSp delSp modSp mod">
        <pc:chgData name="Rohith Bandi" userId="6a3d00aa59c60296" providerId="LiveId" clId="{0FA3EAA8-0211-4520-BCD9-9A1C1BD62CE7}" dt="2026-09-30T06:26:36.078" v="112" actId="22"/>
        <pc:sldMkLst>
          <pc:docMk/>
          <pc:sldMk cId="0" sldId="259"/>
        </pc:sldMkLst>
        <pc:spChg chg="mod">
          <ac:chgData name="Rohith Bandi" userId="6a3d00aa59c60296" providerId="LiveId" clId="{0FA3EAA8-0211-4520-BCD9-9A1C1BD62CE7}" dt="2026-09-30T06:17:05.015" v="28" actId="6549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7:07.730" v="29" actId="6549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7:09.955" v="30" actId="6549"/>
          <ac:spMkLst>
            <pc:docMk/>
            <pc:sldMk cId="0" sldId="259"/>
            <ac:spMk id="6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7:19.530" v="31" actId="6549"/>
          <ac:spMkLst>
            <pc:docMk/>
            <pc:sldMk cId="0" sldId="259"/>
            <ac:spMk id="12" creationId="{00000000-0000-0000-0000-000000000000}"/>
          </ac:spMkLst>
        </pc:spChg>
        <pc:picChg chg="del">
          <ac:chgData name="Rohith Bandi" userId="6a3d00aa59c60296" providerId="LiveId" clId="{0FA3EAA8-0211-4520-BCD9-9A1C1BD62CE7}" dt="2026-09-30T06:26:35.385" v="111" actId="478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Rohith Bandi" userId="6a3d00aa59c60296" providerId="LiveId" clId="{0FA3EAA8-0211-4520-BCD9-9A1C1BD62CE7}" dt="2026-09-30T06:26:36.078" v="112" actId="22"/>
          <ac:picMkLst>
            <pc:docMk/>
            <pc:sldMk cId="0" sldId="259"/>
            <ac:picMk id="84" creationId="{095AB049-0CD1-B134-B917-AF558C4E2D75}"/>
          </ac:picMkLst>
        </pc:picChg>
      </pc:sldChg>
      <pc:sldChg chg="addSp delSp modSp mod">
        <pc:chgData name="Rohith Bandi" userId="6a3d00aa59c60296" providerId="LiveId" clId="{0FA3EAA8-0211-4520-BCD9-9A1C1BD62CE7}" dt="2026-09-30T06:26:40.261" v="113" actId="22"/>
        <pc:sldMkLst>
          <pc:docMk/>
          <pc:sldMk cId="0" sldId="260"/>
        </pc:sldMkLst>
        <pc:spChg chg="mod">
          <ac:chgData name="Rohith Bandi" userId="6a3d00aa59c60296" providerId="LiveId" clId="{0FA3EAA8-0211-4520-BCD9-9A1C1BD62CE7}" dt="2026-09-30T06:17:54.815" v="39" actId="6549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7:25.009" v="32" actId="6549"/>
          <ac:spMkLst>
            <pc:docMk/>
            <pc:sldMk cId="0" sldId="260"/>
            <ac:spMk id="5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7:27.755" v="33" actId="6549"/>
          <ac:spMkLst>
            <pc:docMk/>
            <pc:sldMk cId="0" sldId="260"/>
            <ac:spMk id="6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7:34.361" v="35" actId="6549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Rohith Bandi" userId="6a3d00aa59c60296" providerId="LiveId" clId="{0FA3EAA8-0211-4520-BCD9-9A1C1BD62CE7}" dt="2026-09-30T06:17:46.276" v="38" actId="21"/>
          <ac:spMkLst>
            <pc:docMk/>
            <pc:sldMk cId="0" sldId="260"/>
            <ac:spMk id="74" creationId="{00000000-0000-0000-0000-000000000000}"/>
          </ac:spMkLst>
        </pc:spChg>
        <pc:spChg chg="del mod">
          <ac:chgData name="Rohith Bandi" userId="6a3d00aa59c60296" providerId="LiveId" clId="{0FA3EAA8-0211-4520-BCD9-9A1C1BD62CE7}" dt="2026-09-30T06:17:41.700" v="36" actId="478"/>
          <ac:spMkLst>
            <pc:docMk/>
            <pc:sldMk cId="0" sldId="260"/>
            <ac:spMk id="75" creationId="{00000000-0000-0000-0000-000000000000}"/>
          </ac:spMkLst>
        </pc:spChg>
        <pc:picChg chg="del">
          <ac:chgData name="Rohith Bandi" userId="6a3d00aa59c60296" providerId="LiveId" clId="{0FA3EAA8-0211-4520-BCD9-9A1C1BD62CE7}" dt="2026-09-30T06:25:53.942" v="102" actId="478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Rohith Bandi" userId="6a3d00aa59c60296" providerId="LiveId" clId="{0FA3EAA8-0211-4520-BCD9-9A1C1BD62CE7}" dt="2026-09-30T06:26:40.261" v="113" actId="22"/>
          <ac:picMkLst>
            <pc:docMk/>
            <pc:sldMk cId="0" sldId="260"/>
            <ac:picMk id="77" creationId="{5BC9FFE2-1FCC-7E42-8326-AC27394E87A2}"/>
          </ac:picMkLst>
        </pc:picChg>
      </pc:sldChg>
      <pc:sldChg chg="addSp delSp modSp mod">
        <pc:chgData name="Rohith Bandi" userId="6a3d00aa59c60296" providerId="LiveId" clId="{0FA3EAA8-0211-4520-BCD9-9A1C1BD62CE7}" dt="2026-09-30T06:26:43.624" v="114" actId="22"/>
        <pc:sldMkLst>
          <pc:docMk/>
          <pc:sldMk cId="0" sldId="261"/>
        </pc:sldMkLst>
        <pc:spChg chg="mod">
          <ac:chgData name="Rohith Bandi" userId="6a3d00aa59c60296" providerId="LiveId" clId="{0FA3EAA8-0211-4520-BCD9-9A1C1BD62CE7}" dt="2026-09-30T06:18:56.454" v="53" actId="6549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8:08.406" v="40" actId="6549"/>
          <ac:spMkLst>
            <pc:docMk/>
            <pc:sldMk cId="0" sldId="261"/>
            <ac:spMk id="5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8:10.726" v="41" actId="6549"/>
          <ac:spMkLst>
            <pc:docMk/>
            <pc:sldMk cId="0" sldId="261"/>
            <ac:spMk id="6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8:43.386" v="50" actId="6549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8:25.974" v="47" actId="6549"/>
          <ac:spMkLst>
            <pc:docMk/>
            <pc:sldMk cId="0" sldId="261"/>
            <ac:spMk id="12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18:21.113" v="45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18:22.986" v="46" actId="478"/>
          <ac:spMkLst>
            <pc:docMk/>
            <pc:sldMk cId="0" sldId="261"/>
            <ac:spMk id="14" creationId="{00000000-0000-0000-0000-000000000000}"/>
          </ac:spMkLst>
        </pc:spChg>
        <pc:spChg chg="del mod">
          <ac:chgData name="Rohith Bandi" userId="6a3d00aa59c60296" providerId="LiveId" clId="{0FA3EAA8-0211-4520-BCD9-9A1C1BD62CE7}" dt="2026-09-30T06:18:18.883" v="44" actId="21"/>
          <ac:spMkLst>
            <pc:docMk/>
            <pc:sldMk cId="0" sldId="261"/>
            <ac:spMk id="15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18:45.899" v="51" actId="478"/>
          <ac:spMkLst>
            <pc:docMk/>
            <pc:sldMk cId="0" sldId="261"/>
            <ac:spMk id="76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18:47.726" v="52" actId="478"/>
          <ac:spMkLst>
            <pc:docMk/>
            <pc:sldMk cId="0" sldId="261"/>
            <ac:spMk id="77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8:29.877" v="48" actId="6549"/>
          <ac:spMkLst>
            <pc:docMk/>
            <pc:sldMk cId="0" sldId="261"/>
            <ac:spMk id="78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8:33.736" v="49" actId="6549"/>
          <ac:spMkLst>
            <pc:docMk/>
            <pc:sldMk cId="0" sldId="261"/>
            <ac:spMk id="91" creationId="{00000000-0000-0000-0000-000000000000}"/>
          </ac:spMkLst>
        </pc:spChg>
        <pc:picChg chg="del">
          <ac:chgData name="Rohith Bandi" userId="6a3d00aa59c60296" providerId="LiveId" clId="{0FA3EAA8-0211-4520-BCD9-9A1C1BD62CE7}" dt="2026-09-30T06:25:59.495" v="103" actId="478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Rohith Bandi" userId="6a3d00aa59c60296" providerId="LiveId" clId="{0FA3EAA8-0211-4520-BCD9-9A1C1BD62CE7}" dt="2026-09-30T06:26:43.624" v="114" actId="22"/>
          <ac:picMkLst>
            <pc:docMk/>
            <pc:sldMk cId="0" sldId="261"/>
            <ac:picMk id="93" creationId="{809A4E74-6A39-5A3A-6242-A5B9E62A0E06}"/>
          </ac:picMkLst>
        </pc:picChg>
      </pc:sldChg>
      <pc:sldChg chg="addSp delSp modSp mod">
        <pc:chgData name="Rohith Bandi" userId="6a3d00aa59c60296" providerId="LiveId" clId="{0FA3EAA8-0211-4520-BCD9-9A1C1BD62CE7}" dt="2026-09-30T06:26:46.249" v="115" actId="22"/>
        <pc:sldMkLst>
          <pc:docMk/>
          <pc:sldMk cId="0" sldId="262"/>
        </pc:sldMkLst>
        <pc:spChg chg="mod">
          <ac:chgData name="Rohith Bandi" userId="6a3d00aa59c60296" providerId="LiveId" clId="{0FA3EAA8-0211-4520-BCD9-9A1C1BD62CE7}" dt="2026-09-30T06:19:08.276" v="54" actId="6549"/>
          <ac:spMkLst>
            <pc:docMk/>
            <pc:sldMk cId="0" sldId="262"/>
            <ac:spMk id="4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9:41.962" v="64" actId="6549"/>
          <ac:spMkLst>
            <pc:docMk/>
            <pc:sldMk cId="0" sldId="262"/>
            <ac:spMk id="5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9:39.241" v="6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9:51.310" v="66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9:58.139" v="67" actId="6549"/>
          <ac:spMkLst>
            <pc:docMk/>
            <pc:sldMk cId="0" sldId="262"/>
            <ac:spMk id="12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19:24.887" v="60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19:45.406" v="65" actId="478"/>
          <ac:spMkLst>
            <pc:docMk/>
            <pc:sldMk cId="0" sldId="262"/>
            <ac:spMk id="14" creationId="{00000000-0000-0000-0000-000000000000}"/>
          </ac:spMkLst>
        </pc:spChg>
        <pc:spChg chg="del mod">
          <ac:chgData name="Rohith Bandi" userId="6a3d00aa59c60296" providerId="LiveId" clId="{0FA3EAA8-0211-4520-BCD9-9A1C1BD62CE7}" dt="2026-09-30T06:19:23.029" v="59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20:09.989" v="70" actId="478"/>
          <ac:spMkLst>
            <pc:docMk/>
            <pc:sldMk cId="0" sldId="262"/>
            <ac:spMk id="102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20:12.875" v="71" actId="478"/>
          <ac:spMkLst>
            <pc:docMk/>
            <pc:sldMk cId="0" sldId="262"/>
            <ac:spMk id="103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0:05.285" v="69" actId="6549"/>
          <ac:spMkLst>
            <pc:docMk/>
            <pc:sldMk cId="0" sldId="262"/>
            <ac:spMk id="104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0:00.280" v="68" actId="6549"/>
          <ac:spMkLst>
            <pc:docMk/>
            <pc:sldMk cId="0" sldId="262"/>
            <ac:spMk id="117" creationId="{00000000-0000-0000-0000-000000000000}"/>
          </ac:spMkLst>
        </pc:spChg>
        <pc:picChg chg="del">
          <ac:chgData name="Rohith Bandi" userId="6a3d00aa59c60296" providerId="LiveId" clId="{0FA3EAA8-0211-4520-BCD9-9A1C1BD62CE7}" dt="2026-09-30T06:26:02.815" v="104" actId="478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Rohith Bandi" userId="6a3d00aa59c60296" providerId="LiveId" clId="{0FA3EAA8-0211-4520-BCD9-9A1C1BD62CE7}" dt="2026-09-30T06:26:46.249" v="115" actId="22"/>
          <ac:picMkLst>
            <pc:docMk/>
            <pc:sldMk cId="0" sldId="262"/>
            <ac:picMk id="119" creationId="{72F0ABCE-DD62-753C-E7F4-43A145C53144}"/>
          </ac:picMkLst>
        </pc:picChg>
      </pc:sldChg>
      <pc:sldChg chg="addSp delSp modSp mod">
        <pc:chgData name="Rohith Bandi" userId="6a3d00aa59c60296" providerId="LiveId" clId="{0FA3EAA8-0211-4520-BCD9-9A1C1BD62CE7}" dt="2026-09-30T06:26:48.531" v="116" actId="22"/>
        <pc:sldMkLst>
          <pc:docMk/>
          <pc:sldMk cId="0" sldId="263"/>
        </pc:sldMkLst>
        <pc:spChg chg="del mod">
          <ac:chgData name="Rohith Bandi" userId="6a3d00aa59c60296" providerId="LiveId" clId="{0FA3EAA8-0211-4520-BCD9-9A1C1BD62CE7}" dt="2026-09-30T06:13:49.098" v="1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13:58.560" v="3" actId="478"/>
          <ac:spMkLst>
            <pc:docMk/>
            <pc:sldMk cId="0" sldId="263"/>
            <ac:spMk id="96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13:55.862" v="2" actId="6549"/>
          <ac:spMkLst>
            <pc:docMk/>
            <pc:sldMk cId="0" sldId="263"/>
            <ac:spMk id="97" creationId="{00000000-0000-0000-0000-000000000000}"/>
          </ac:spMkLst>
        </pc:spChg>
        <pc:picChg chg="del">
          <ac:chgData name="Rohith Bandi" userId="6a3d00aa59c60296" providerId="LiveId" clId="{0FA3EAA8-0211-4520-BCD9-9A1C1BD62CE7}" dt="2026-09-30T06:26:11.675" v="105" actId="478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Rohith Bandi" userId="6a3d00aa59c60296" providerId="LiveId" clId="{0FA3EAA8-0211-4520-BCD9-9A1C1BD62CE7}" dt="2026-09-30T06:26:48.531" v="116" actId="22"/>
          <ac:picMkLst>
            <pc:docMk/>
            <pc:sldMk cId="0" sldId="263"/>
            <ac:picMk id="99" creationId="{2F42B0EA-255D-A2F4-DD9A-BFB02FE8EB4D}"/>
          </ac:picMkLst>
        </pc:picChg>
      </pc:sldChg>
      <pc:sldChg chg="addSp delSp modSp mod">
        <pc:chgData name="Rohith Bandi" userId="6a3d00aa59c60296" providerId="LiveId" clId="{0FA3EAA8-0211-4520-BCD9-9A1C1BD62CE7}" dt="2026-09-30T06:26:51.116" v="117" actId="22"/>
        <pc:sldMkLst>
          <pc:docMk/>
          <pc:sldMk cId="0" sldId="264"/>
        </pc:sldMkLst>
        <pc:spChg chg="mod">
          <ac:chgData name="Rohith Bandi" userId="6a3d00aa59c60296" providerId="LiveId" clId="{0FA3EAA8-0211-4520-BCD9-9A1C1BD62CE7}" dt="2026-09-30T06:20:41.631" v="75" actId="6549"/>
          <ac:spMkLst>
            <pc:docMk/>
            <pc:sldMk cId="0" sldId="264"/>
            <ac:spMk id="4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0:30.606" v="72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0:32.965" v="73" actId="6549"/>
          <ac:spMkLst>
            <pc:docMk/>
            <pc:sldMk cId="0" sldId="264"/>
            <ac:spMk id="6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0:38.779" v="74" actId="6549"/>
          <ac:spMkLst>
            <pc:docMk/>
            <pc:sldMk cId="0" sldId="264"/>
            <ac:spMk id="12" creationId="{00000000-0000-0000-0000-000000000000}"/>
          </ac:spMkLst>
        </pc:spChg>
        <pc:picChg chg="del">
          <ac:chgData name="Rohith Bandi" userId="6a3d00aa59c60296" providerId="LiveId" clId="{0FA3EAA8-0211-4520-BCD9-9A1C1BD62CE7}" dt="2026-09-30T06:26:14.574" v="106" actId="478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Rohith Bandi" userId="6a3d00aa59c60296" providerId="LiveId" clId="{0FA3EAA8-0211-4520-BCD9-9A1C1BD62CE7}" dt="2026-09-30T06:26:51.116" v="117" actId="22"/>
          <ac:picMkLst>
            <pc:docMk/>
            <pc:sldMk cId="0" sldId="264"/>
            <ac:picMk id="117" creationId="{773CEC84-A0D5-50E5-222F-87D528DD276A}"/>
          </ac:picMkLst>
        </pc:picChg>
      </pc:sldChg>
      <pc:sldChg chg="addSp delSp modSp mod">
        <pc:chgData name="Rohith Bandi" userId="6a3d00aa59c60296" providerId="LiveId" clId="{0FA3EAA8-0211-4520-BCD9-9A1C1BD62CE7}" dt="2026-09-30T06:26:53.724" v="118" actId="22"/>
        <pc:sldMkLst>
          <pc:docMk/>
          <pc:sldMk cId="0" sldId="265"/>
        </pc:sldMkLst>
        <pc:spChg chg="mod">
          <ac:chgData name="Rohith Bandi" userId="6a3d00aa59c60296" providerId="LiveId" clId="{0FA3EAA8-0211-4520-BCD9-9A1C1BD62CE7}" dt="2026-09-30T06:20:49.874" v="76" actId="6549"/>
          <ac:spMkLst>
            <pc:docMk/>
            <pc:sldMk cId="0" sldId="265"/>
            <ac:spMk id="5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1:18.666" v="85" actId="6549"/>
          <ac:spMkLst>
            <pc:docMk/>
            <pc:sldMk cId="0" sldId="265"/>
            <ac:spMk id="6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1:12.694" v="84" actId="6549"/>
          <ac:spMkLst>
            <pc:docMk/>
            <pc:sldMk cId="0" sldId="265"/>
            <ac:spMk id="7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0:52.627" v="77" actId="6549"/>
          <ac:spMkLst>
            <pc:docMk/>
            <pc:sldMk cId="0" sldId="265"/>
            <ac:spMk id="8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1:33.357" v="87" actId="6549"/>
          <ac:spMkLst>
            <pc:docMk/>
            <pc:sldMk cId="0" sldId="265"/>
            <ac:spMk id="10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20:57.200" v="79" actId="478"/>
          <ac:spMkLst>
            <pc:docMk/>
            <pc:sldMk cId="0" sldId="265"/>
            <ac:spMk id="11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0:54.889" v="78" actId="6549"/>
          <ac:spMkLst>
            <pc:docMk/>
            <pc:sldMk cId="0" sldId="265"/>
            <ac:spMk id="13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21:10.408" v="83" actId="478"/>
          <ac:spMkLst>
            <pc:docMk/>
            <pc:sldMk cId="0" sldId="265"/>
            <ac:spMk id="35" creationId="{00000000-0000-0000-0000-000000000000}"/>
          </ac:spMkLst>
        </pc:spChg>
        <pc:spChg chg="del">
          <ac:chgData name="Rohith Bandi" userId="6a3d00aa59c60296" providerId="LiveId" clId="{0FA3EAA8-0211-4520-BCD9-9A1C1BD62CE7}" dt="2026-09-30T06:21:08.321" v="82" actId="478"/>
          <ac:spMkLst>
            <pc:docMk/>
            <pc:sldMk cId="0" sldId="265"/>
            <ac:spMk id="37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1:04.478" v="81" actId="6549"/>
          <ac:spMkLst>
            <pc:docMk/>
            <pc:sldMk cId="0" sldId="265"/>
            <ac:spMk id="38" creationId="{00000000-0000-0000-0000-000000000000}"/>
          </ac:spMkLst>
        </pc:spChg>
        <pc:spChg chg="mod">
          <ac:chgData name="Rohith Bandi" userId="6a3d00aa59c60296" providerId="LiveId" clId="{0FA3EAA8-0211-4520-BCD9-9A1C1BD62CE7}" dt="2026-09-30T06:21:28.532" v="86" actId="6549"/>
          <ac:spMkLst>
            <pc:docMk/>
            <pc:sldMk cId="0" sldId="265"/>
            <ac:spMk id="40" creationId="{00000000-0000-0000-0000-000000000000}"/>
          </ac:spMkLst>
        </pc:spChg>
        <pc:picChg chg="del">
          <ac:chgData name="Rohith Bandi" userId="6a3d00aa59c60296" providerId="LiveId" clId="{0FA3EAA8-0211-4520-BCD9-9A1C1BD62CE7}" dt="2026-09-30T06:26:18.757" v="107" actId="478"/>
          <ac:picMkLst>
            <pc:docMk/>
            <pc:sldMk cId="0" sldId="265"/>
            <ac:picMk id="3" creationId="{00000000-0000-0000-0000-000000000000}"/>
          </ac:picMkLst>
        </pc:picChg>
        <pc:picChg chg="del">
          <ac:chgData name="Rohith Bandi" userId="6a3d00aa59c60296" providerId="LiveId" clId="{0FA3EAA8-0211-4520-BCD9-9A1C1BD62CE7}" dt="2026-09-30T06:20:58.608" v="80" actId="478"/>
          <ac:picMkLst>
            <pc:docMk/>
            <pc:sldMk cId="0" sldId="265"/>
            <ac:picMk id="12" creationId="{00000000-0000-0000-0000-000000000000}"/>
          </ac:picMkLst>
        </pc:picChg>
        <pc:picChg chg="add">
          <ac:chgData name="Rohith Bandi" userId="6a3d00aa59c60296" providerId="LiveId" clId="{0FA3EAA8-0211-4520-BCD9-9A1C1BD62CE7}" dt="2026-09-30T06:26:53.724" v="118" actId="22"/>
          <ac:picMkLst>
            <pc:docMk/>
            <pc:sldMk cId="0" sldId="265"/>
            <ac:picMk id="42" creationId="{64967F96-A88E-5490-13FE-638D48E684E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396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University Academic Management System, DBMS Capstone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what was implemented: database, tables with constraints, sample data, SQL operations, CRUD, joins/aggregates, views,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.png"/><Relationship Id="rId5" Type="http://schemas.openxmlformats.org/officeDocument/2006/relationships/image" Target="../media/image10.png"/><Relationship Id="rId1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7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8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40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6.png"/><Relationship Id="rId5" Type="http://schemas.openxmlformats.org/officeDocument/2006/relationships/image" Target="../media/image38.png"/><Relationship Id="rId10" Type="http://schemas.openxmlformats.org/officeDocument/2006/relationships/image" Target="../media/image5.png"/><Relationship Id="rId4" Type="http://schemas.openxmlformats.org/officeDocument/2006/relationships/image" Target="../media/image37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6.png"/><Relationship Id="rId10" Type="http://schemas.openxmlformats.org/officeDocument/2006/relationships/image" Target="../media/image7.png"/><Relationship Id="rId4" Type="http://schemas.openxmlformats.org/officeDocument/2006/relationships/image" Target="../media/image42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49.png"/><Relationship Id="rId3" Type="http://schemas.openxmlformats.org/officeDocument/2006/relationships/image" Target="../media/image8.png"/><Relationship Id="rId7" Type="http://schemas.openxmlformats.org/officeDocument/2006/relationships/image" Target="../media/image45.png"/><Relationship Id="rId12" Type="http://schemas.openxmlformats.org/officeDocument/2006/relationships/image" Target="../media/image48.png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34.png"/><Relationship Id="rId5" Type="http://schemas.openxmlformats.org/officeDocument/2006/relationships/image" Target="../media/image43.png"/><Relationship Id="rId15" Type="http://schemas.openxmlformats.org/officeDocument/2006/relationships/image" Target="../media/image18.png"/><Relationship Id="rId10" Type="http://schemas.openxmlformats.org/officeDocument/2006/relationships/image" Target="../media/image47.png"/><Relationship Id="rId4" Type="http://schemas.openxmlformats.org/officeDocument/2006/relationships/image" Target="../media/image15.png"/><Relationship Id="rId9" Type="http://schemas.openxmlformats.org/officeDocument/2006/relationships/image" Target="../media/image46.png"/><Relationship Id="rId1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51.png"/><Relationship Id="rId21" Type="http://schemas.openxmlformats.org/officeDocument/2006/relationships/image" Target="../media/image67.png"/><Relationship Id="rId7" Type="http://schemas.openxmlformats.org/officeDocument/2006/relationships/image" Target="../media/image54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11.png"/><Relationship Id="rId5" Type="http://schemas.openxmlformats.org/officeDocument/2006/relationships/image" Target="../media/image52.png"/><Relationship Id="rId15" Type="http://schemas.openxmlformats.org/officeDocument/2006/relationships/image" Target="../media/image61.png"/><Relationship Id="rId23" Type="http://schemas.openxmlformats.org/officeDocument/2006/relationships/image" Target="../media/image7.png"/><Relationship Id="rId10" Type="http://schemas.openxmlformats.org/officeDocument/2006/relationships/image" Target="../media/image57.png"/><Relationship Id="rId19" Type="http://schemas.openxmlformats.org/officeDocument/2006/relationships/image" Target="../media/image65.png"/><Relationship Id="rId4" Type="http://schemas.openxmlformats.org/officeDocument/2006/relationships/image" Target="../media/image34.png"/><Relationship Id="rId9" Type="http://schemas.openxmlformats.org/officeDocument/2006/relationships/image" Target="../media/image56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3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bl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9139"/>
            <a:ext cx="2763228" cy="295601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590949" y="184215"/>
            <a:ext cx="4689114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</a:t>
            </a:r>
            <a:r>
              <a:rPr lang="en-US" sz="36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1624443" y="636380"/>
            <a:ext cx="3851772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7536075" y="184215"/>
            <a:ext cx="3181898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2763228" y="971316"/>
            <a:ext cx="669873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Management Systems (2501IT05)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886" y="1306253"/>
            <a:ext cx="334937" cy="33493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009620" y="1657937"/>
            <a:ext cx="8373417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ACADEMIC</a:t>
            </a:r>
            <a:endParaRPr lang="en-US" sz="4600" dirty="0"/>
          </a:p>
        </p:txBody>
      </p:sp>
      <p:sp>
        <p:nvSpPr>
          <p:cNvPr id="10" name="Text 5"/>
          <p:cNvSpPr txBox="1"/>
          <p:nvPr/>
        </p:nvSpPr>
        <p:spPr>
          <a:xfrm>
            <a:off x="2009620" y="2244076"/>
            <a:ext cx="8373417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F7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11" name="Text 6"/>
          <p:cNvSpPr txBox="1"/>
          <p:nvPr/>
        </p:nvSpPr>
        <p:spPr>
          <a:xfrm>
            <a:off x="3349367" y="2880455"/>
            <a:ext cx="5693924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CAPSTONE PROJECT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3768038" y="3449848"/>
            <a:ext cx="334937" cy="334937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5073" y="3526883"/>
            <a:ext cx="180866" cy="18086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474968" y="3818278"/>
            <a:ext cx="92107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5107784" y="3449848"/>
            <a:ext cx="334937" cy="334937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820" y="3526883"/>
            <a:ext cx="180866" cy="18086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814715" y="3818278"/>
            <a:ext cx="92107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6447531" y="3449848"/>
            <a:ext cx="334937" cy="334937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567" y="3526883"/>
            <a:ext cx="180866" cy="18086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154462" y="3818278"/>
            <a:ext cx="92107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7787278" y="3449848"/>
            <a:ext cx="334937" cy="334937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4313" y="3526883"/>
            <a:ext cx="180866" cy="180866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494208" y="3818278"/>
            <a:ext cx="92107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2846962" y="4253696"/>
            <a:ext cx="6698734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1389987" y="4705860"/>
            <a:ext cx="41867" cy="20096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1557456" y="4655620"/>
            <a:ext cx="2512025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Presented By-Team-8</a:t>
            </a:r>
            <a:endParaRPr lang="en-US" sz="1700" dirty="0"/>
          </a:p>
        </p:txBody>
      </p:sp>
      <p:sp>
        <p:nvSpPr>
          <p:cNvPr id="27" name="Text 18"/>
          <p:cNvSpPr txBox="1"/>
          <p:nvPr/>
        </p:nvSpPr>
        <p:spPr>
          <a:xfrm>
            <a:off x="1557456" y="4990557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25B11DS045</a:t>
            </a:r>
            <a:endParaRPr lang="en-US" sz="1250" dirty="0"/>
          </a:p>
        </p:txBody>
      </p:sp>
      <p:sp>
        <p:nvSpPr>
          <p:cNvPr id="28" name="Text 19"/>
          <p:cNvSpPr txBox="1"/>
          <p:nvPr/>
        </p:nvSpPr>
        <p:spPr>
          <a:xfrm>
            <a:off x="2696240" y="4990557"/>
            <a:ext cx="2679493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  B. Rohith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1557456" y="5225012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25B11DS286</a:t>
            </a:r>
            <a:endParaRPr lang="en-US" sz="1250" dirty="0"/>
          </a:p>
        </p:txBody>
      </p:sp>
      <p:sp>
        <p:nvSpPr>
          <p:cNvPr id="30" name="Text 21"/>
          <p:cNvSpPr txBox="1"/>
          <p:nvPr/>
        </p:nvSpPr>
        <p:spPr>
          <a:xfrm>
            <a:off x="2696240" y="5225012"/>
            <a:ext cx="2679493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  K. Anand Sai</a:t>
            </a:r>
            <a:endParaRPr lang="en-US" sz="1250" dirty="0"/>
          </a:p>
        </p:txBody>
      </p:sp>
      <p:sp>
        <p:nvSpPr>
          <p:cNvPr id="31" name="Text 22"/>
          <p:cNvSpPr txBox="1"/>
          <p:nvPr/>
        </p:nvSpPr>
        <p:spPr>
          <a:xfrm>
            <a:off x="1557456" y="5459468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25B11DS331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2696240" y="5459468"/>
            <a:ext cx="2679493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  M. Gowri Shankar</a:t>
            </a:r>
            <a:endParaRPr lang="en-US" sz="1250" dirty="0"/>
          </a:p>
        </p:txBody>
      </p:sp>
      <p:sp>
        <p:nvSpPr>
          <p:cNvPr id="33" name="Text 24"/>
          <p:cNvSpPr txBox="1"/>
          <p:nvPr/>
        </p:nvSpPr>
        <p:spPr>
          <a:xfrm>
            <a:off x="1557456" y="5693924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25B11DS211</a:t>
            </a:r>
            <a:endParaRPr lang="en-US" sz="1250" dirty="0"/>
          </a:p>
        </p:txBody>
      </p:sp>
      <p:sp>
        <p:nvSpPr>
          <p:cNvPr id="34" name="Text 25"/>
          <p:cNvSpPr txBox="1"/>
          <p:nvPr/>
        </p:nvSpPr>
        <p:spPr>
          <a:xfrm>
            <a:off x="2696240" y="5693924"/>
            <a:ext cx="2679493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  K. Siva Lakshmi Rahul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1557456" y="5928379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25B11DS034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2696240" y="5928379"/>
            <a:ext cx="2679493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  Ayush Kumar Singh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6095848" y="4814715"/>
            <a:ext cx="0" cy="879209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966683" y="4772848"/>
            <a:ext cx="41867" cy="217709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7117404" y="4756101"/>
            <a:ext cx="3349367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Guidance of</a:t>
            </a:r>
            <a:endParaRPr lang="en-US" sz="1700" dirty="0"/>
          </a:p>
        </p:txBody>
      </p:sp>
      <p:sp>
        <p:nvSpPr>
          <p:cNvPr id="40" name="Text 31"/>
          <p:cNvSpPr txBox="1"/>
          <p:nvPr/>
        </p:nvSpPr>
        <p:spPr>
          <a:xfrm>
            <a:off x="7117404" y="5074291"/>
            <a:ext cx="3516835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Mrs. Parasa Keerthana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7117404" y="5342240"/>
            <a:ext cx="3516835" cy="653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Faculty Member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Data Science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University</a:t>
            </a:r>
            <a:endParaRPr lang="en-US" sz="1250" dirty="0"/>
          </a:p>
        </p:txBody>
      </p:sp>
      <p:sp>
        <p:nvSpPr>
          <p:cNvPr id="42" name="Shape 33"/>
          <p:cNvSpPr/>
          <p:nvPr/>
        </p:nvSpPr>
        <p:spPr>
          <a:xfrm>
            <a:off x="5275253" y="6179582"/>
            <a:ext cx="1641190" cy="267949"/>
          </a:xfrm>
          <a:prstGeom prst="roundRect">
            <a:avLst>
              <a:gd name="adj" fmla="val 170629"/>
            </a:avLst>
          </a:prstGeom>
          <a:solidFill>
            <a:srgbClr val="12285F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5275253" y="6179582"/>
            <a:ext cx="1641190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A.Y. 2025 – 2026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3349367" y="6531265"/>
            <a:ext cx="552645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5" name="Text 36"/>
          <p:cNvSpPr txBox="1"/>
          <p:nvPr/>
        </p:nvSpPr>
        <p:spPr>
          <a:xfrm>
            <a:off x="10299303" y="1800285"/>
            <a:ext cx="1590949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64EF9B4C-3CCB-6E41-C6EA-A3DD67A6B7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619" y="153383"/>
            <a:ext cx="707235" cy="6747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440228" y="200962"/>
            <a:ext cx="3600569" cy="38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</a:t>
            </a:r>
            <a:r>
              <a:rPr lang="en-US" sz="27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1465348" y="602886"/>
            <a:ext cx="301443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7787278" y="150722"/>
            <a:ext cx="2930696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787278" y="385177"/>
            <a:ext cx="293069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84215" y="1021557"/>
            <a:ext cx="770354" cy="636380"/>
          </a:xfrm>
          <a:prstGeom prst="roundRect">
            <a:avLst>
              <a:gd name="adj" fmla="val 25864"/>
            </a:avLst>
          </a:prstGeom>
          <a:solidFill>
            <a:srgbClr val="1228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4215" y="1021557"/>
            <a:ext cx="770354" cy="63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155532" y="971316"/>
            <a:ext cx="10048100" cy="485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IMPLEMENTATION </a:t>
            </a:r>
            <a:r>
              <a:rPr lang="en-US" sz="29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1172278" y="1473721"/>
            <a:ext cx="9210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structured database to manage academic information efficiently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4937" y="6548012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ACADEMIC MANAGEMENT SYSTEM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8205949" y="6548012"/>
            <a:ext cx="360056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43791" y="2068234"/>
            <a:ext cx="418671" cy="418671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85" y="2164528"/>
            <a:ext cx="226082" cy="22608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46677" y="2059861"/>
            <a:ext cx="5358987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Academic Management System database was implemented to manage </a:t>
            </a:r>
            <a:r>
              <a:rPr lang="en-US" sz="12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faculty, department, course, enrollment, and academic records.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43791" y="2620880"/>
            <a:ext cx="418671" cy="418671"/>
          </a:xfrm>
          <a:prstGeom prst="ellipse">
            <a:avLst/>
          </a:prstGeom>
          <a:solidFill>
            <a:srgbClr val="FDEFE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85" y="2717174"/>
            <a:ext cx="226082" cy="22608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46677" y="2612506"/>
            <a:ext cx="5358987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and tables were created with appropriate </a:t>
            </a:r>
            <a:r>
              <a:rPr lang="en-US" sz="12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r>
              <a:rPr lang="en-US" sz="12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(Primary Key, Foreign Key, NOT NULL, UNIQUE, etc.).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43791" y="3173525"/>
            <a:ext cx="418671" cy="418671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85" y="3269819"/>
            <a:ext cx="226082" cy="22608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46677" y="3165152"/>
            <a:ext cx="5358987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r>
              <a:rPr lang="en-US" sz="12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 inserted into all tables to test the system.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43791" y="3726171"/>
            <a:ext cx="418671" cy="418671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85" y="3822465"/>
            <a:ext cx="226082" cy="22608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46677" y="3717797"/>
            <a:ext cx="5358987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DDL, DML, and DQL</a:t>
            </a:r>
            <a:r>
              <a:rPr lang="en-US" sz="12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operations were performed.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43791" y="4278816"/>
            <a:ext cx="418671" cy="418671"/>
          </a:xfrm>
          <a:prstGeom prst="ellipse">
            <a:avLst/>
          </a:prstGeom>
          <a:solidFill>
            <a:srgbClr val="F0EDFB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085" y="4375110"/>
            <a:ext cx="226082" cy="22608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46677" y="4270443"/>
            <a:ext cx="5358987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operations</a:t>
            </a:r>
            <a:r>
              <a:rPr lang="en-US" sz="12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(Create, Read, Update, Delete) were implemented.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443791" y="4831462"/>
            <a:ext cx="418671" cy="418671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085" y="4927756"/>
            <a:ext cx="226082" cy="22608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46677" y="4823088"/>
            <a:ext cx="5358987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 using </a:t>
            </a:r>
            <a:r>
              <a:rPr lang="en-US" sz="12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Joins, Subqueries and Aggregate Functions</a:t>
            </a:r>
            <a:r>
              <a:rPr lang="en-US" sz="12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were executed.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443791" y="5384107"/>
            <a:ext cx="418671" cy="418671"/>
          </a:xfrm>
          <a:prstGeom prst="ellipse">
            <a:avLst/>
          </a:prstGeom>
          <a:solidFill>
            <a:srgbClr val="FDEFE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085" y="5480401"/>
            <a:ext cx="226082" cy="22608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046677" y="5375734"/>
            <a:ext cx="5358987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</a:t>
            </a:r>
            <a:r>
              <a:rPr lang="en-US" sz="12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were created for retrieving required information.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443791" y="5936753"/>
            <a:ext cx="418671" cy="418671"/>
          </a:xfrm>
          <a:prstGeom prst="ellipse">
            <a:avLst/>
          </a:prstGeom>
          <a:solidFill>
            <a:srgbClr val="E8F5EC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085" y="6033047"/>
            <a:ext cx="226082" cy="22608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046677" y="5928379"/>
            <a:ext cx="5358987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 and validation</a:t>
            </a:r>
            <a:r>
              <a:rPr lang="en-US" sz="12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were maintained using suitable database constraints.</a:t>
            </a:r>
            <a:endParaRPr lang="en-US" sz="1250" dirty="0"/>
          </a:p>
        </p:txBody>
      </p:sp>
      <p:sp>
        <p:nvSpPr>
          <p:cNvPr id="37" name="Shape 26"/>
          <p:cNvSpPr/>
          <p:nvPr/>
        </p:nvSpPr>
        <p:spPr>
          <a:xfrm>
            <a:off x="6614999" y="2009620"/>
            <a:ext cx="5325493" cy="4102974"/>
          </a:xfrm>
          <a:prstGeom prst="roundRect">
            <a:avLst>
              <a:gd name="adj" fmla="val 1114"/>
            </a:avLst>
          </a:prstGeom>
          <a:solidFill>
            <a:srgbClr val="F1F6FC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38" name="Image 9" descr="a/bld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8734" y="2512025"/>
            <a:ext cx="2763228" cy="2956011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9629430" y="2193835"/>
            <a:ext cx="2093354" cy="619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0" name="Shape 28"/>
          <p:cNvSpPr/>
          <p:nvPr/>
        </p:nvSpPr>
        <p:spPr>
          <a:xfrm flipV="1">
            <a:off x="10424904" y="3726171"/>
            <a:ext cx="0" cy="1046677"/>
          </a:xfrm>
          <a:prstGeom prst="line">
            <a:avLst/>
          </a:prstGeom>
          <a:noFill/>
          <a:ln w="12700">
            <a:solidFill>
              <a:srgbClr val="9DB4D6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 flipV="1">
            <a:off x="10424904" y="4354177"/>
            <a:ext cx="962943" cy="418671"/>
          </a:xfrm>
          <a:prstGeom prst="line">
            <a:avLst/>
          </a:prstGeom>
          <a:noFill/>
          <a:ln w="12700">
            <a:solidFill>
              <a:srgbClr val="9DB4D6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10424904" y="4772848"/>
            <a:ext cx="962943" cy="628006"/>
          </a:xfrm>
          <a:prstGeom prst="line">
            <a:avLst/>
          </a:prstGeom>
          <a:noFill/>
          <a:ln w="12700">
            <a:solidFill>
              <a:srgbClr val="9DB4D6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 flipV="1">
            <a:off x="9461961" y="4772848"/>
            <a:ext cx="962943" cy="628006"/>
          </a:xfrm>
          <a:prstGeom prst="line">
            <a:avLst/>
          </a:prstGeom>
          <a:noFill/>
          <a:ln w="12700">
            <a:solidFill>
              <a:srgbClr val="9DB4D6"/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9461961" y="4354177"/>
            <a:ext cx="962943" cy="418671"/>
          </a:xfrm>
          <a:prstGeom prst="line">
            <a:avLst/>
          </a:prstGeom>
          <a:noFill/>
          <a:ln w="12700">
            <a:solidFill>
              <a:srgbClr val="9DB4D6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10048100" y="4396044"/>
            <a:ext cx="753608" cy="753608"/>
          </a:xfrm>
          <a:prstGeom prst="ellipse">
            <a:avLst/>
          </a:prstGeom>
          <a:solidFill>
            <a:srgbClr val="DCE8F7"/>
          </a:solidFill>
          <a:ln w="12700">
            <a:solidFill>
              <a:srgbClr val="9DB4D6"/>
            </a:solidFill>
            <a:prstDash val="solid"/>
          </a:ln>
        </p:spPr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7195" y="4555139"/>
            <a:ext cx="435418" cy="435418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10073221" y="3374487"/>
            <a:ext cx="703367" cy="7033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24423" y="3508462"/>
            <a:ext cx="200962" cy="200962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10073221" y="3742917"/>
            <a:ext cx="703367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850" dirty="0"/>
          </a:p>
        </p:txBody>
      </p:sp>
      <p:sp>
        <p:nvSpPr>
          <p:cNvPr id="50" name="Shape 36"/>
          <p:cNvSpPr/>
          <p:nvPr/>
        </p:nvSpPr>
        <p:spPr>
          <a:xfrm>
            <a:off x="11036164" y="4002493"/>
            <a:ext cx="703367" cy="7033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87366" y="4136468"/>
            <a:ext cx="200962" cy="200962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11036164" y="4370924"/>
            <a:ext cx="703367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endParaRPr lang="en-US" sz="850" dirty="0"/>
          </a:p>
        </p:txBody>
      </p:sp>
      <p:sp>
        <p:nvSpPr>
          <p:cNvPr id="53" name="Shape 38"/>
          <p:cNvSpPr/>
          <p:nvPr/>
        </p:nvSpPr>
        <p:spPr>
          <a:xfrm>
            <a:off x="11036164" y="5049170"/>
            <a:ext cx="703367" cy="7033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366" y="5183145"/>
            <a:ext cx="200962" cy="200962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11036164" y="5417601"/>
            <a:ext cx="703367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Enrollments</a:t>
            </a:r>
            <a:endParaRPr lang="en-US" sz="850" dirty="0"/>
          </a:p>
        </p:txBody>
      </p:sp>
      <p:sp>
        <p:nvSpPr>
          <p:cNvPr id="56" name="Shape 40"/>
          <p:cNvSpPr/>
          <p:nvPr/>
        </p:nvSpPr>
        <p:spPr>
          <a:xfrm>
            <a:off x="9110278" y="5049170"/>
            <a:ext cx="703367" cy="7033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61480" y="5183145"/>
            <a:ext cx="200962" cy="200962"/>
          </a:xfrm>
          <a:prstGeom prst="rect">
            <a:avLst/>
          </a:prstGeom>
        </p:spPr>
      </p:pic>
      <p:sp>
        <p:nvSpPr>
          <p:cNvPr id="58" name="Text 41"/>
          <p:cNvSpPr txBox="1"/>
          <p:nvPr/>
        </p:nvSpPr>
        <p:spPr>
          <a:xfrm>
            <a:off x="9110278" y="5417601"/>
            <a:ext cx="703367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850" dirty="0"/>
          </a:p>
        </p:txBody>
      </p:sp>
      <p:sp>
        <p:nvSpPr>
          <p:cNvPr id="59" name="Shape 42"/>
          <p:cNvSpPr/>
          <p:nvPr/>
        </p:nvSpPr>
        <p:spPr>
          <a:xfrm>
            <a:off x="9110278" y="4002493"/>
            <a:ext cx="703367" cy="7033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61480" y="4136468"/>
            <a:ext cx="200962" cy="200962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9110278" y="4370924"/>
            <a:ext cx="703367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</a:t>
            </a:r>
            <a:endParaRPr lang="en-US" sz="8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7265C88E-4ED3-79E9-8E3A-6D101D10A71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2462" y="147532"/>
            <a:ext cx="477285" cy="4553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440228" y="200962"/>
            <a:ext cx="3600569" cy="38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</a:t>
            </a:r>
            <a:r>
              <a:rPr lang="en-US" sz="27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1465348" y="602886"/>
            <a:ext cx="301443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7787278" y="150722"/>
            <a:ext cx="2930696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787278" y="385177"/>
            <a:ext cx="293069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84215" y="1021557"/>
            <a:ext cx="770354" cy="636380"/>
          </a:xfrm>
          <a:prstGeom prst="roundRect">
            <a:avLst>
              <a:gd name="adj" fmla="val 25864"/>
            </a:avLst>
          </a:prstGeom>
          <a:solidFill>
            <a:srgbClr val="1228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4215" y="1021557"/>
            <a:ext cx="770354" cy="63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155532" y="971316"/>
            <a:ext cx="10048100" cy="485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TABLE </a:t>
            </a:r>
            <a:r>
              <a:rPr lang="en-US" sz="29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1172278" y="1473721"/>
            <a:ext cx="9210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 structured database with necessary tables and constraints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4937" y="6548012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ACADEMIC MANAGEMENT SYSTEM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8205949" y="6548012"/>
            <a:ext cx="360056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502405" y="1976126"/>
            <a:ext cx="2662747" cy="519152"/>
          </a:xfrm>
          <a:prstGeom prst="roundRect">
            <a:avLst>
              <a:gd name="adj" fmla="val 26420"/>
            </a:avLst>
          </a:prstGeom>
          <a:solidFill>
            <a:srgbClr val="EAF1F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80" y="2110101"/>
            <a:ext cx="251203" cy="2512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71797" y="2026367"/>
            <a:ext cx="2009620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Name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71797" y="2210582"/>
            <a:ext cx="2009620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university_db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80" y="2646000"/>
            <a:ext cx="200962" cy="20096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04810" y="2612506"/>
            <a:ext cx="2512025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Created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405" y="2930696"/>
          <a:ext cx="6598253" cy="1875643"/>
        </p:xfrm>
        <a:graphic>
          <a:graphicData uri="http://schemas.openxmlformats.org/drawingml/2006/table">
            <a:tbl>
              <a:tblPr/>
              <a:tblGrid>
                <a:gridCol w="125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6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Name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Attributes (Examples)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College/University details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college_id (PK), name, location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details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dept_id (PK), dept_name, college_id (FK)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information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student_id (PK), name, dept_id (FK)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FACULTY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Faculty details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faculty_id (PK), name, dept_id (FK)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 information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course_id (PK), title, dept_id (FK)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course enrollment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enrollment_id (PK), student_id (FK), course_id (FK)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Shape 14"/>
          <p:cNvSpPr/>
          <p:nvPr/>
        </p:nvSpPr>
        <p:spPr>
          <a:xfrm>
            <a:off x="502405" y="5024050"/>
            <a:ext cx="6598253" cy="1440228"/>
          </a:xfrm>
          <a:prstGeom prst="roundRect">
            <a:avLst>
              <a:gd name="adj" fmla="val 3174"/>
            </a:avLst>
          </a:prstGeom>
          <a:solidFill>
            <a:srgbClr val="F3F7FC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380" y="5124531"/>
            <a:ext cx="217709" cy="21770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04810" y="5107784"/>
            <a:ext cx="2512025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Used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02886" y="5442721"/>
            <a:ext cx="1523962" cy="937823"/>
          </a:xfrm>
          <a:prstGeom prst="roundRect">
            <a:avLst>
              <a:gd name="adj" fmla="val 7800"/>
            </a:avLst>
          </a:prstGeom>
          <a:solidFill>
            <a:srgbClr val="EAF1FB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67" y="5543202"/>
            <a:ext cx="184215" cy="18421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54570" y="5526455"/>
            <a:ext cx="1138785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</a:t>
            </a:r>
            <a:endParaRPr lang="en-US" sz="950" dirty="0"/>
          </a:p>
        </p:txBody>
      </p:sp>
      <p:sp>
        <p:nvSpPr>
          <p:cNvPr id="26" name="Text 18"/>
          <p:cNvSpPr txBox="1"/>
          <p:nvPr/>
        </p:nvSpPr>
        <p:spPr>
          <a:xfrm>
            <a:off x="686620" y="5827898"/>
            <a:ext cx="1356494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Uniquely identifies records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2218956" y="5442721"/>
            <a:ext cx="1523962" cy="937823"/>
          </a:xfrm>
          <a:prstGeom prst="roundRect">
            <a:avLst>
              <a:gd name="adj" fmla="val 7800"/>
            </a:avLst>
          </a:prstGeom>
          <a:solidFill>
            <a:srgbClr val="E8F5EC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9437" y="5543202"/>
            <a:ext cx="184215" cy="18421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2570639" y="5526455"/>
            <a:ext cx="1138785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</a:t>
            </a:r>
            <a:endParaRPr lang="en-US" sz="950" dirty="0"/>
          </a:p>
        </p:txBody>
      </p:sp>
      <p:sp>
        <p:nvSpPr>
          <p:cNvPr id="30" name="Text 21"/>
          <p:cNvSpPr txBox="1"/>
          <p:nvPr/>
        </p:nvSpPr>
        <p:spPr>
          <a:xfrm>
            <a:off x="2302690" y="5827898"/>
            <a:ext cx="1356494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relationships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3835025" y="5442721"/>
            <a:ext cx="1523962" cy="937823"/>
          </a:xfrm>
          <a:prstGeom prst="roundRect">
            <a:avLst>
              <a:gd name="adj" fmla="val 7800"/>
            </a:avLst>
          </a:prstGeom>
          <a:solidFill>
            <a:srgbClr val="FDEFE6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5506" y="5543202"/>
            <a:ext cx="184215" cy="18421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186709" y="5526455"/>
            <a:ext cx="1138785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NULL</a:t>
            </a:r>
            <a:endParaRPr lang="en-US" sz="950" dirty="0"/>
          </a:p>
        </p:txBody>
      </p:sp>
      <p:sp>
        <p:nvSpPr>
          <p:cNvPr id="34" name="Text 24"/>
          <p:cNvSpPr txBox="1"/>
          <p:nvPr/>
        </p:nvSpPr>
        <p:spPr>
          <a:xfrm>
            <a:off x="3918759" y="5827898"/>
            <a:ext cx="1356494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required fields are not empty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5451094" y="5442721"/>
            <a:ext cx="1523962" cy="937823"/>
          </a:xfrm>
          <a:prstGeom prst="roundRect">
            <a:avLst>
              <a:gd name="adj" fmla="val 7800"/>
            </a:avLst>
          </a:prstGeom>
          <a:solidFill>
            <a:srgbClr val="F0EDFB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1575" y="5543202"/>
            <a:ext cx="184215" cy="18421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5802778" y="5526455"/>
            <a:ext cx="1138785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</a:t>
            </a:r>
            <a:endParaRPr lang="en-US" sz="950" dirty="0"/>
          </a:p>
        </p:txBody>
      </p:sp>
      <p:sp>
        <p:nvSpPr>
          <p:cNvPr id="38" name="Text 27"/>
          <p:cNvSpPr txBox="1"/>
          <p:nvPr/>
        </p:nvSpPr>
        <p:spPr>
          <a:xfrm>
            <a:off x="5534829" y="5827898"/>
            <a:ext cx="1356494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duplicate values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7343487" y="1976126"/>
            <a:ext cx="4479778" cy="3500088"/>
          </a:xfrm>
          <a:prstGeom prst="roundRect">
            <a:avLst>
              <a:gd name="adj" fmla="val 1568"/>
            </a:avLst>
          </a:prstGeom>
          <a:solidFill>
            <a:srgbClr val="0F172A"/>
          </a:solidFill>
          <a:ln/>
        </p:spPr>
      </p:sp>
      <p:sp>
        <p:nvSpPr>
          <p:cNvPr id="40" name="Shape 29"/>
          <p:cNvSpPr/>
          <p:nvPr/>
        </p:nvSpPr>
        <p:spPr>
          <a:xfrm>
            <a:off x="7427221" y="2051487"/>
            <a:ext cx="75361" cy="75361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1" name="Shape 30"/>
          <p:cNvSpPr/>
          <p:nvPr/>
        </p:nvSpPr>
        <p:spPr>
          <a:xfrm>
            <a:off x="7561196" y="2051487"/>
            <a:ext cx="75361" cy="75361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2" name="Shape 31"/>
          <p:cNvSpPr/>
          <p:nvPr/>
        </p:nvSpPr>
        <p:spPr>
          <a:xfrm>
            <a:off x="7695170" y="2051487"/>
            <a:ext cx="75361" cy="75361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3" name="Text 32"/>
          <p:cNvSpPr txBox="1"/>
          <p:nvPr/>
        </p:nvSpPr>
        <p:spPr>
          <a:xfrm>
            <a:off x="11069657" y="2009620"/>
            <a:ext cx="669873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800" dirty="0"/>
          </a:p>
        </p:txBody>
      </p:sp>
      <p:sp>
        <p:nvSpPr>
          <p:cNvPr id="44" name="Text 33"/>
          <p:cNvSpPr txBox="1"/>
          <p:nvPr/>
        </p:nvSpPr>
        <p:spPr>
          <a:xfrm>
            <a:off x="7427221" y="2193835"/>
            <a:ext cx="4345803" cy="3064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Database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university_db;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university_db;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Student Table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 (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student_id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(20)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name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(100)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gender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dob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email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(100)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dept_id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(20),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(dept_id) </a:t>
            </a:r>
            <a:r>
              <a:rPr lang="en-US" sz="11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department(dept_id)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45" name="Text 34"/>
          <p:cNvSpPr txBox="1"/>
          <p:nvPr/>
        </p:nvSpPr>
        <p:spPr>
          <a:xfrm>
            <a:off x="7427221" y="5266879"/>
            <a:ext cx="4345803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Table created successfully.</a:t>
            </a:r>
            <a:endParaRPr lang="en-US" sz="800" dirty="0"/>
          </a:p>
        </p:txBody>
      </p:sp>
      <p:sp>
        <p:nvSpPr>
          <p:cNvPr id="46" name="Shape 35"/>
          <p:cNvSpPr/>
          <p:nvPr/>
        </p:nvSpPr>
        <p:spPr>
          <a:xfrm>
            <a:off x="7343487" y="5593443"/>
            <a:ext cx="4186709" cy="653127"/>
          </a:xfrm>
          <a:prstGeom prst="roundRect">
            <a:avLst>
              <a:gd name="adj" fmla="val 14000"/>
            </a:avLst>
          </a:prstGeom>
          <a:solidFill>
            <a:srgbClr val="E8F5EC"/>
          </a:solidFill>
          <a:ln w="9525">
            <a:solidFill>
              <a:srgbClr val="BFE3CD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7510955" y="5752538"/>
            <a:ext cx="334937" cy="334937"/>
          </a:xfrm>
          <a:prstGeom prst="ellipse">
            <a:avLst/>
          </a:prstGeom>
          <a:solidFill>
            <a:srgbClr val="0F7B4D"/>
          </a:solidFill>
          <a:ln/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7991" y="5829573"/>
            <a:ext cx="180866" cy="180866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7954746" y="5593443"/>
            <a:ext cx="3474968" cy="653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tables are created with appropriate constraints to maintain data integrity.</a:t>
            </a:r>
            <a:endParaRPr lang="en-US" sz="115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6D8BFD0-A1C6-8FEC-AD85-CA467DEBC5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462" y="147532"/>
            <a:ext cx="477285" cy="4553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440228" y="200962"/>
            <a:ext cx="3600569" cy="38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</a:t>
            </a:r>
            <a:r>
              <a:rPr lang="en-US" sz="27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1465348" y="602886"/>
            <a:ext cx="301443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7787278" y="150722"/>
            <a:ext cx="2930696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787278" y="385177"/>
            <a:ext cx="293069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84215" y="1021557"/>
            <a:ext cx="770354" cy="636380"/>
          </a:xfrm>
          <a:prstGeom prst="roundRect">
            <a:avLst>
              <a:gd name="adj" fmla="val 25864"/>
            </a:avLst>
          </a:prstGeom>
          <a:solidFill>
            <a:srgbClr val="1228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4215" y="1021557"/>
            <a:ext cx="770354" cy="63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155532" y="971316"/>
            <a:ext cx="10048100" cy="485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</a:t>
            </a:r>
            <a:r>
              <a:rPr lang="en-US" sz="29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INSERTION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1172278" y="1473721"/>
            <a:ext cx="9210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Inserting sample data into all tables to test and validate the database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4937" y="6548012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ACADEMIC MANAGEMENT SYSTEM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8205949" y="6548012"/>
            <a:ext cx="360056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669873" y="1842152"/>
            <a:ext cx="9964366" cy="485658"/>
          </a:xfrm>
          <a:prstGeom prst="roundRect">
            <a:avLst>
              <a:gd name="adj" fmla="val 28242"/>
            </a:avLst>
          </a:prstGeom>
          <a:solidFill>
            <a:srgbClr val="EAF1F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95" y="1942633"/>
            <a:ext cx="284696" cy="2846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56013" y="1842152"/>
            <a:ext cx="9210759" cy="485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5F"/>
                </a:solidFill>
              </a:rPr>
              <a:t>Sample data</a:t>
            </a:r>
            <a:r>
              <a:rPr lang="en-US" sz="1200" dirty="0">
                <a:solidFill>
                  <a:srgbClr val="12285F"/>
                </a:solidFill>
              </a:rPr>
              <a:t> was inserted into all tables: </a:t>
            </a:r>
            <a:r>
              <a:rPr lang="en-US" sz="1200" b="1" dirty="0">
                <a:solidFill>
                  <a:srgbClr val="12285F"/>
                </a:solidFill>
              </a:rPr>
              <a:t>COLLEGE, DEPARTMENT, STUDENT, FACULTY, COURSE</a:t>
            </a:r>
            <a:r>
              <a:rPr lang="en-US" sz="1200" dirty="0">
                <a:solidFill>
                  <a:srgbClr val="12285F"/>
                </a:solidFill>
              </a:rPr>
              <a:t> and </a:t>
            </a:r>
            <a:r>
              <a:rPr lang="en-US" sz="1200" b="1" dirty="0">
                <a:solidFill>
                  <a:srgbClr val="12285F"/>
                </a:solidFill>
              </a:rPr>
              <a:t>ENROLLMENT</a:t>
            </a:r>
            <a:r>
              <a:rPr lang="en-US" sz="1200" dirty="0">
                <a:solidFill>
                  <a:srgbClr val="12285F"/>
                </a:solidFill>
              </a:rPr>
              <a:t> to test the database and perform queries.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19152" y="2453411"/>
            <a:ext cx="3650810" cy="1356494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9152" y="2453411"/>
            <a:ext cx="3650810" cy="301443"/>
          </a:xfrm>
          <a:prstGeom prst="roundRect">
            <a:avLst>
              <a:gd name="adj" fmla="val 30334"/>
            </a:avLst>
          </a:prstGeom>
          <a:solidFill>
            <a:srgbClr val="EAF1F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80" y="2520399"/>
            <a:ext cx="167468" cy="1674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7582" y="2453411"/>
            <a:ext cx="2512025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TABLE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6139" y="2805095"/>
          <a:ext cx="3516835" cy="502404"/>
        </p:xfrm>
        <a:graphic>
          <a:graphicData uri="http://schemas.openxmlformats.org/drawingml/2006/table">
            <a:tbl>
              <a:tblPr/>
              <a:tblGrid>
                <a:gridCol w="771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5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college_id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Aditya University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Kakinada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Aditya Engineering College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Surampalem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602886" y="3374487"/>
            <a:ext cx="636380" cy="150722"/>
          </a:xfrm>
          <a:prstGeom prst="roundRect">
            <a:avLst>
              <a:gd name="adj" fmla="val 30334"/>
            </a:avLst>
          </a:prstGeom>
          <a:solidFill>
            <a:srgbClr val="EAF1FB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69873" y="3374487"/>
            <a:ext cx="535899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records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4303936" y="2453411"/>
            <a:ext cx="3650810" cy="1356494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303936" y="2453411"/>
            <a:ext cx="3650810" cy="301443"/>
          </a:xfrm>
          <a:prstGeom prst="roundRect">
            <a:avLst>
              <a:gd name="adj" fmla="val 30334"/>
            </a:avLst>
          </a:prstGeom>
          <a:solidFill>
            <a:srgbClr val="E8F5EC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64" y="2520399"/>
            <a:ext cx="167468" cy="1674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72367" y="2453411"/>
            <a:ext cx="2512025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TABLE</a:t>
            </a:r>
            <a:endParaRPr lang="en-US" sz="11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70924" y="2805095"/>
          <a:ext cx="3516835" cy="669872"/>
        </p:xfrm>
        <a:graphic>
          <a:graphicData uri="http://schemas.openxmlformats.org/drawingml/2006/table">
            <a:tbl>
              <a:tblPr/>
              <a:tblGrid>
                <a:gridCol w="703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dept_name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college_id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Science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 Technology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Shape 20"/>
          <p:cNvSpPr/>
          <p:nvPr/>
        </p:nvSpPr>
        <p:spPr>
          <a:xfrm>
            <a:off x="4387671" y="3541955"/>
            <a:ext cx="636380" cy="150722"/>
          </a:xfrm>
          <a:prstGeom prst="roundRect">
            <a:avLst>
              <a:gd name="adj" fmla="val 30334"/>
            </a:avLst>
          </a:prstGeom>
          <a:solidFill>
            <a:srgbClr val="E8F5EC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4454658" y="3541955"/>
            <a:ext cx="535899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records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8013360" y="2453411"/>
            <a:ext cx="3650810" cy="1356494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013360" y="2453411"/>
            <a:ext cx="3650810" cy="301443"/>
          </a:xfrm>
          <a:prstGeom prst="roundRect">
            <a:avLst>
              <a:gd name="adj" fmla="val 30334"/>
            </a:avLst>
          </a:prstGeom>
          <a:solidFill>
            <a:srgbClr val="FCECEC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588" y="2520399"/>
            <a:ext cx="167468" cy="16746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381790" y="2453411"/>
            <a:ext cx="2512025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TABLE</a:t>
            </a:r>
            <a:endParaRPr lang="en-US" sz="11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0347" y="2805095"/>
          <a:ext cx="3516835" cy="669872"/>
        </p:xfrm>
        <a:graphic>
          <a:graphicData uri="http://schemas.openxmlformats.org/drawingml/2006/table">
            <a:tbl>
              <a:tblPr/>
              <a:tblGrid>
                <a:gridCol w="85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2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25B11DS045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Rohith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2006-03-11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25B11DS211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K. Siva Lakshmi Rahul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2006-07-24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25B11DS331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M. Gowri Shankar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2006-01-18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Shape 25"/>
          <p:cNvSpPr/>
          <p:nvPr/>
        </p:nvSpPr>
        <p:spPr>
          <a:xfrm>
            <a:off x="8097094" y="3541955"/>
            <a:ext cx="636380" cy="150722"/>
          </a:xfrm>
          <a:prstGeom prst="roundRect">
            <a:avLst>
              <a:gd name="adj" fmla="val 30334"/>
            </a:avLst>
          </a:prstGeom>
          <a:solidFill>
            <a:srgbClr val="FCECEC"/>
          </a:solidFill>
          <a:ln/>
        </p:spPr>
      </p:sp>
      <p:sp>
        <p:nvSpPr>
          <p:cNvPr id="36" name="Text 26"/>
          <p:cNvSpPr txBox="1"/>
          <p:nvPr/>
        </p:nvSpPr>
        <p:spPr>
          <a:xfrm>
            <a:off x="8164082" y="3541955"/>
            <a:ext cx="535899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records</a:t>
            </a:r>
            <a:endParaRPr lang="en-US" sz="750" dirty="0"/>
          </a:p>
        </p:txBody>
      </p:sp>
      <p:sp>
        <p:nvSpPr>
          <p:cNvPr id="37" name="Shape 27"/>
          <p:cNvSpPr/>
          <p:nvPr/>
        </p:nvSpPr>
        <p:spPr>
          <a:xfrm>
            <a:off x="519152" y="3918759"/>
            <a:ext cx="3650810" cy="1356494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519152" y="3918759"/>
            <a:ext cx="3650810" cy="301443"/>
          </a:xfrm>
          <a:prstGeom prst="roundRect">
            <a:avLst>
              <a:gd name="adj" fmla="val 30334"/>
            </a:avLst>
          </a:prstGeom>
          <a:solidFill>
            <a:srgbClr val="F0EDFB"/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380" y="3985747"/>
            <a:ext cx="167468" cy="167468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887582" y="3918759"/>
            <a:ext cx="2512025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TABLE</a:t>
            </a:r>
            <a:endParaRPr lang="en-US" sz="1100" dirty="0"/>
          </a:p>
        </p:txBody>
      </p:sp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6139" y="4270443"/>
          <a:ext cx="3516835" cy="502404"/>
        </p:xfrm>
        <a:graphic>
          <a:graphicData uri="http://schemas.openxmlformats.org/drawingml/2006/table">
            <a:tbl>
              <a:tblPr/>
              <a:tblGrid>
                <a:gridCol w="548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2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faculty_id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F001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P. Keerthana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keerthana@aditya.edu.in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F002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R. Suresh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suresh@aditya.edu.in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" name="Shape 30"/>
          <p:cNvSpPr/>
          <p:nvPr/>
        </p:nvSpPr>
        <p:spPr>
          <a:xfrm>
            <a:off x="602886" y="4839835"/>
            <a:ext cx="636380" cy="150722"/>
          </a:xfrm>
          <a:prstGeom prst="roundRect">
            <a:avLst>
              <a:gd name="adj" fmla="val 30334"/>
            </a:avLst>
          </a:prstGeom>
          <a:solidFill>
            <a:srgbClr val="F0EDFB"/>
          </a:solidFill>
          <a:ln/>
        </p:spPr>
      </p:sp>
      <p:sp>
        <p:nvSpPr>
          <p:cNvPr id="43" name="Text 31"/>
          <p:cNvSpPr txBox="1"/>
          <p:nvPr/>
        </p:nvSpPr>
        <p:spPr>
          <a:xfrm>
            <a:off x="669873" y="4839835"/>
            <a:ext cx="535899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records</a:t>
            </a:r>
            <a:endParaRPr lang="en-US" sz="750" dirty="0"/>
          </a:p>
        </p:txBody>
      </p:sp>
      <p:sp>
        <p:nvSpPr>
          <p:cNvPr id="44" name="Shape 32"/>
          <p:cNvSpPr/>
          <p:nvPr/>
        </p:nvSpPr>
        <p:spPr>
          <a:xfrm>
            <a:off x="4303936" y="3918759"/>
            <a:ext cx="3650810" cy="1356494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4303936" y="3918759"/>
            <a:ext cx="3650810" cy="301443"/>
          </a:xfrm>
          <a:prstGeom prst="roundRect">
            <a:avLst>
              <a:gd name="adj" fmla="val 30334"/>
            </a:avLst>
          </a:prstGeom>
          <a:solidFill>
            <a:srgbClr val="FDEFE6"/>
          </a:solidFill>
          <a:ln/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1164" y="3985747"/>
            <a:ext cx="167468" cy="167468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4672367" y="3918759"/>
            <a:ext cx="2512025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TABLE</a:t>
            </a:r>
            <a:endParaRPr lang="en-US" sz="1100" dirty="0"/>
          </a:p>
        </p:txBody>
      </p:sp>
      <p:graphicFrame>
        <p:nvGraphicFramePr>
          <p:cNvPr id="4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70924" y="4270443"/>
          <a:ext cx="3516836" cy="669872"/>
        </p:xfrm>
        <a:graphic>
          <a:graphicData uri="http://schemas.openxmlformats.org/drawingml/2006/table">
            <a:tbl>
              <a:tblPr/>
              <a:tblGrid>
                <a:gridCol w="54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Management Systems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Structures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Programming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" name="Shape 35"/>
          <p:cNvSpPr/>
          <p:nvPr/>
        </p:nvSpPr>
        <p:spPr>
          <a:xfrm>
            <a:off x="4387671" y="5007303"/>
            <a:ext cx="636380" cy="150722"/>
          </a:xfrm>
          <a:prstGeom prst="roundRect">
            <a:avLst>
              <a:gd name="adj" fmla="val 30334"/>
            </a:avLst>
          </a:prstGeom>
          <a:solidFill>
            <a:srgbClr val="FDEFE6"/>
          </a:solidFill>
          <a:ln/>
        </p:spPr>
      </p:sp>
      <p:sp>
        <p:nvSpPr>
          <p:cNvPr id="50" name="Text 36"/>
          <p:cNvSpPr txBox="1"/>
          <p:nvPr/>
        </p:nvSpPr>
        <p:spPr>
          <a:xfrm>
            <a:off x="4454658" y="5007303"/>
            <a:ext cx="535899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45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records</a:t>
            </a:r>
            <a:endParaRPr lang="en-US" sz="750" dirty="0"/>
          </a:p>
        </p:txBody>
      </p:sp>
      <p:sp>
        <p:nvSpPr>
          <p:cNvPr id="51" name="Shape 37"/>
          <p:cNvSpPr/>
          <p:nvPr/>
        </p:nvSpPr>
        <p:spPr>
          <a:xfrm>
            <a:off x="8013360" y="3918759"/>
            <a:ext cx="3650810" cy="1356494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52" name="Shape 38"/>
          <p:cNvSpPr/>
          <p:nvPr/>
        </p:nvSpPr>
        <p:spPr>
          <a:xfrm>
            <a:off x="8013360" y="3918759"/>
            <a:ext cx="3650810" cy="301443"/>
          </a:xfrm>
          <a:prstGeom prst="roundRect">
            <a:avLst>
              <a:gd name="adj" fmla="val 30334"/>
            </a:avLst>
          </a:prstGeom>
          <a:solidFill>
            <a:srgbClr val="E4F4F5"/>
          </a:solidFill>
          <a:ln/>
        </p:spPr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0588" y="3985747"/>
            <a:ext cx="167468" cy="167468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8381790" y="3918759"/>
            <a:ext cx="2512025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TABLE</a:t>
            </a:r>
            <a:endParaRPr lang="en-US" sz="1100" dirty="0"/>
          </a:p>
        </p:txBody>
      </p:sp>
      <p:graphicFrame>
        <p:nvGraphicFramePr>
          <p:cNvPr id="5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0347" y="4270443"/>
          <a:ext cx="3516835" cy="669872"/>
        </p:xfrm>
        <a:graphic>
          <a:graphicData uri="http://schemas.openxmlformats.org/drawingml/2006/table">
            <a:tbl>
              <a:tblPr/>
              <a:tblGrid>
                <a:gridCol w="837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enrollment_id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semester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25B11DS045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25B11DS211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25B11DS331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6" name="Shape 40"/>
          <p:cNvSpPr/>
          <p:nvPr/>
        </p:nvSpPr>
        <p:spPr>
          <a:xfrm>
            <a:off x="8097094" y="5007303"/>
            <a:ext cx="636380" cy="150722"/>
          </a:xfrm>
          <a:prstGeom prst="roundRect">
            <a:avLst>
              <a:gd name="adj" fmla="val 30334"/>
            </a:avLst>
          </a:prstGeom>
          <a:solidFill>
            <a:srgbClr val="E4F4F5"/>
          </a:solidFill>
          <a:ln/>
        </p:spPr>
      </p:sp>
      <p:sp>
        <p:nvSpPr>
          <p:cNvPr id="57" name="Text 41"/>
          <p:cNvSpPr txBox="1"/>
          <p:nvPr/>
        </p:nvSpPr>
        <p:spPr>
          <a:xfrm>
            <a:off x="8164082" y="5007303"/>
            <a:ext cx="535899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records</a:t>
            </a:r>
            <a:endParaRPr lang="en-US" sz="750" dirty="0"/>
          </a:p>
        </p:txBody>
      </p:sp>
      <p:sp>
        <p:nvSpPr>
          <p:cNvPr id="58" name="Shape 42"/>
          <p:cNvSpPr/>
          <p:nvPr/>
        </p:nvSpPr>
        <p:spPr>
          <a:xfrm>
            <a:off x="519152" y="5358987"/>
            <a:ext cx="4354177" cy="1130411"/>
          </a:xfrm>
          <a:prstGeom prst="roundRect">
            <a:avLst>
              <a:gd name="adj" fmla="val 4853"/>
            </a:avLst>
          </a:prstGeom>
          <a:solidFill>
            <a:srgbClr val="0F172A"/>
          </a:solidFill>
          <a:ln/>
        </p:spPr>
      </p:sp>
      <p:sp>
        <p:nvSpPr>
          <p:cNvPr id="59" name="Shape 43"/>
          <p:cNvSpPr/>
          <p:nvPr/>
        </p:nvSpPr>
        <p:spPr>
          <a:xfrm>
            <a:off x="602886" y="5434348"/>
            <a:ext cx="75361" cy="75361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0" name="Shape 44"/>
          <p:cNvSpPr/>
          <p:nvPr/>
        </p:nvSpPr>
        <p:spPr>
          <a:xfrm>
            <a:off x="736861" y="5434348"/>
            <a:ext cx="75361" cy="75361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1" name="Shape 45"/>
          <p:cNvSpPr/>
          <p:nvPr/>
        </p:nvSpPr>
        <p:spPr>
          <a:xfrm>
            <a:off x="870835" y="5434348"/>
            <a:ext cx="75361" cy="75361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4119721" y="5392481"/>
            <a:ext cx="669873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800" dirty="0"/>
          </a:p>
        </p:txBody>
      </p:sp>
      <p:sp>
        <p:nvSpPr>
          <p:cNvPr id="63" name="Text 47"/>
          <p:cNvSpPr txBox="1"/>
          <p:nvPr/>
        </p:nvSpPr>
        <p:spPr>
          <a:xfrm>
            <a:off x="602886" y="5576696"/>
            <a:ext cx="4220202" cy="694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 (student_id, name, dept_id, dob) </a:t>
            </a:r>
            <a:r>
              <a:rPr lang="en-US" sz="7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</a:t>
            </a:r>
            <a:r>
              <a:rPr lang="en-US" sz="7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'25B11DS045'</a:t>
            </a: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'B. Rohith'</a:t>
            </a: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102, </a:t>
            </a:r>
            <a:r>
              <a:rPr lang="en-US" sz="7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'2006-03-11'</a:t>
            </a: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</a:t>
            </a:r>
            <a:r>
              <a:rPr lang="en-US" sz="7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'25B11DS211'</a:t>
            </a: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'K. Siva Lakshmi Rahul'</a:t>
            </a: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102, </a:t>
            </a:r>
            <a:r>
              <a:rPr lang="en-US" sz="7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'2006-07-24'</a:t>
            </a: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</a:t>
            </a:r>
            <a:r>
              <a:rPr lang="en-US" sz="7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'25B11DS331'</a:t>
            </a: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'M. Gowri Shankar'</a:t>
            </a: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102, </a:t>
            </a:r>
            <a:r>
              <a:rPr lang="en-US" sz="7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'2006-01-18'</a:t>
            </a:r>
            <a:r>
              <a:rPr lang="en-US" sz="7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</p:txBody>
      </p:sp>
      <p:sp>
        <p:nvSpPr>
          <p:cNvPr id="64" name="Text 48"/>
          <p:cNvSpPr txBox="1"/>
          <p:nvPr/>
        </p:nvSpPr>
        <p:spPr>
          <a:xfrm>
            <a:off x="602886" y="6280063"/>
            <a:ext cx="4220202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Query executed successfully.</a:t>
            </a:r>
            <a:endParaRPr lang="en-US" sz="800" dirty="0"/>
          </a:p>
        </p:txBody>
      </p:sp>
      <p:sp>
        <p:nvSpPr>
          <p:cNvPr id="65" name="Shape 49"/>
          <p:cNvSpPr/>
          <p:nvPr/>
        </p:nvSpPr>
        <p:spPr>
          <a:xfrm>
            <a:off x="5124531" y="5409227"/>
            <a:ext cx="2595759" cy="988063"/>
          </a:xfrm>
          <a:prstGeom prst="roundRect">
            <a:avLst>
              <a:gd name="adj" fmla="val 740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66" name="Shape 50"/>
          <p:cNvSpPr/>
          <p:nvPr/>
        </p:nvSpPr>
        <p:spPr>
          <a:xfrm>
            <a:off x="5208265" y="5509708"/>
            <a:ext cx="25120" cy="787101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7" name="Text 51"/>
          <p:cNvSpPr txBox="1"/>
          <p:nvPr/>
        </p:nvSpPr>
        <p:spPr>
          <a:xfrm>
            <a:off x="5325493" y="5409227"/>
            <a:ext cx="2311063" cy="988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data helps us test the functionality and validate the database.</a:t>
            </a:r>
            <a:endParaRPr lang="en-US" sz="1250" dirty="0"/>
          </a:p>
        </p:txBody>
      </p:sp>
      <p:sp>
        <p:nvSpPr>
          <p:cNvPr id="68" name="Shape 52"/>
          <p:cNvSpPr/>
          <p:nvPr/>
        </p:nvSpPr>
        <p:spPr>
          <a:xfrm>
            <a:off x="7912879" y="5358987"/>
            <a:ext cx="2846962" cy="1122038"/>
          </a:xfrm>
          <a:prstGeom prst="roundRect">
            <a:avLst>
              <a:gd name="adj" fmla="val 6520"/>
            </a:avLst>
          </a:prstGeom>
          <a:solidFill>
            <a:srgbClr val="FFF7F0"/>
          </a:solidFill>
          <a:ln w="9525">
            <a:solidFill>
              <a:srgbClr val="F7C9A6"/>
            </a:solidFill>
            <a:prstDash val="solid"/>
          </a:ln>
        </p:spPr>
      </p:sp>
      <p:pic>
        <p:nvPicPr>
          <p:cNvPr id="6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8480" y="5442721"/>
            <a:ext cx="184215" cy="184215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8289683" y="5409227"/>
            <a:ext cx="2093354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Inserted Into</a:t>
            </a:r>
            <a:endParaRPr lang="en-US" sz="1150" dirty="0"/>
          </a:p>
        </p:txBody>
      </p:sp>
      <p:pic>
        <p:nvPicPr>
          <p:cNvPr id="7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5227" y="5744164"/>
            <a:ext cx="133975" cy="133975"/>
          </a:xfrm>
          <a:prstGeom prst="rect">
            <a:avLst/>
          </a:prstGeom>
        </p:spPr>
      </p:pic>
      <p:sp>
        <p:nvSpPr>
          <p:cNvPr id="72" name="Text 54"/>
          <p:cNvSpPr txBox="1"/>
          <p:nvPr/>
        </p:nvSpPr>
        <p:spPr>
          <a:xfrm>
            <a:off x="8256189" y="5710670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950" dirty="0"/>
          </a:p>
        </p:txBody>
      </p:sp>
      <p:pic>
        <p:nvPicPr>
          <p:cNvPr id="7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5227" y="5970246"/>
            <a:ext cx="133975" cy="133975"/>
          </a:xfrm>
          <a:prstGeom prst="rect">
            <a:avLst/>
          </a:prstGeom>
        </p:spPr>
      </p:pic>
      <p:sp>
        <p:nvSpPr>
          <p:cNvPr id="74" name="Text 55"/>
          <p:cNvSpPr txBox="1"/>
          <p:nvPr/>
        </p:nvSpPr>
        <p:spPr>
          <a:xfrm>
            <a:off x="8256189" y="5936753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950" dirty="0"/>
          </a:p>
        </p:txBody>
      </p:sp>
      <p:pic>
        <p:nvPicPr>
          <p:cNvPr id="7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5227" y="6196329"/>
            <a:ext cx="133975" cy="133975"/>
          </a:xfrm>
          <a:prstGeom prst="rect">
            <a:avLst/>
          </a:prstGeom>
        </p:spPr>
      </p:pic>
      <p:sp>
        <p:nvSpPr>
          <p:cNvPr id="76" name="Text 56"/>
          <p:cNvSpPr txBox="1"/>
          <p:nvPr/>
        </p:nvSpPr>
        <p:spPr>
          <a:xfrm>
            <a:off x="8256189" y="6162835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950" dirty="0"/>
          </a:p>
        </p:txBody>
      </p:sp>
      <p:pic>
        <p:nvPicPr>
          <p:cNvPr id="77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1240" y="5744164"/>
            <a:ext cx="133975" cy="133975"/>
          </a:xfrm>
          <a:prstGeom prst="rect">
            <a:avLst/>
          </a:prstGeom>
        </p:spPr>
      </p:pic>
      <p:sp>
        <p:nvSpPr>
          <p:cNvPr id="78" name="Text 57"/>
          <p:cNvSpPr txBox="1"/>
          <p:nvPr/>
        </p:nvSpPr>
        <p:spPr>
          <a:xfrm>
            <a:off x="9512202" y="5710670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endParaRPr lang="en-US" sz="950" dirty="0"/>
          </a:p>
        </p:txBody>
      </p:sp>
      <p:pic>
        <p:nvPicPr>
          <p:cNvPr id="79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1240" y="5970246"/>
            <a:ext cx="133975" cy="133975"/>
          </a:xfrm>
          <a:prstGeom prst="rect">
            <a:avLst/>
          </a:prstGeom>
        </p:spPr>
      </p:pic>
      <p:sp>
        <p:nvSpPr>
          <p:cNvPr id="80" name="Text 58"/>
          <p:cNvSpPr txBox="1"/>
          <p:nvPr/>
        </p:nvSpPr>
        <p:spPr>
          <a:xfrm>
            <a:off x="9512202" y="5936753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950" dirty="0"/>
          </a:p>
        </p:txBody>
      </p:sp>
      <p:pic>
        <p:nvPicPr>
          <p:cNvPr id="81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1240" y="6196329"/>
            <a:ext cx="133975" cy="133975"/>
          </a:xfrm>
          <a:prstGeom prst="rect">
            <a:avLst/>
          </a:prstGeom>
        </p:spPr>
      </p:pic>
      <p:sp>
        <p:nvSpPr>
          <p:cNvPr id="82" name="Text 59"/>
          <p:cNvSpPr txBox="1"/>
          <p:nvPr/>
        </p:nvSpPr>
        <p:spPr>
          <a:xfrm>
            <a:off x="9512202" y="6162835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</a:t>
            </a:r>
            <a:endParaRPr lang="en-US" sz="950" dirty="0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095AB049-0CD1-B134-B917-AF558C4E2D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2462" y="147532"/>
            <a:ext cx="477285" cy="4553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440228" y="200962"/>
            <a:ext cx="3600569" cy="38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</a:t>
            </a:r>
            <a:r>
              <a:rPr lang="en-US" sz="27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1465348" y="602886"/>
            <a:ext cx="301443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7787278" y="150722"/>
            <a:ext cx="2930696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787278" y="385177"/>
            <a:ext cx="293069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84215" y="1021557"/>
            <a:ext cx="770354" cy="636380"/>
          </a:xfrm>
          <a:prstGeom prst="roundRect">
            <a:avLst>
              <a:gd name="adj" fmla="val 25864"/>
            </a:avLst>
          </a:prstGeom>
          <a:solidFill>
            <a:srgbClr val="1228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4215" y="1021557"/>
            <a:ext cx="770354" cy="63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155532" y="971316"/>
            <a:ext cx="10048100" cy="485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DDL, DML &amp; DQL </a:t>
            </a:r>
            <a:r>
              <a:rPr lang="en-US" sz="29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1172278" y="1473721"/>
            <a:ext cx="9210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essential SQL operations to create, manipulate and retrieve data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4937" y="6548012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ACADEMIC MANAGEMENT SYSTEM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8205949" y="6548012"/>
            <a:ext cx="360056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334937" y="1808658"/>
            <a:ext cx="11521822" cy="552646"/>
          </a:xfrm>
          <a:prstGeom prst="roundRect">
            <a:avLst>
              <a:gd name="adj" fmla="val 19855"/>
            </a:avLst>
          </a:prstGeom>
          <a:solidFill>
            <a:srgbClr val="EAF1F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52" y="1925886"/>
            <a:ext cx="301443" cy="30144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46677" y="1808658"/>
            <a:ext cx="10383037" cy="55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used DDL, DML and DQL commands to create the database, insert and modify data, and retrieve useful information from the University Academic Management System.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34937" y="2453411"/>
            <a:ext cx="3734544" cy="3600569"/>
          </a:xfrm>
          <a:prstGeom prst="roundRect">
            <a:avLst>
              <a:gd name="adj" fmla="val 1270"/>
            </a:avLst>
          </a:prstGeom>
          <a:solidFill>
            <a:srgbClr val="EAF1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7285" y="2553892"/>
            <a:ext cx="385177" cy="385177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76" y="2642483"/>
            <a:ext cx="207996" cy="2079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71316" y="2553892"/>
            <a:ext cx="3014430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– Data Definition Language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971316" y="2779974"/>
            <a:ext cx="3014430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define and manage the database structure such as databases, tables and constraints.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35418" y="3215392"/>
            <a:ext cx="3533582" cy="1021557"/>
          </a:xfrm>
          <a:prstGeom prst="roundRect">
            <a:avLst>
              <a:gd name="adj" fmla="val 5371"/>
            </a:avLst>
          </a:prstGeom>
          <a:solidFill>
            <a:srgbClr val="FFFFFF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52646" y="3265633"/>
            <a:ext cx="251202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Commands</a:t>
            </a:r>
            <a:endParaRPr lang="en-US" sz="10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92" y="3483341"/>
            <a:ext cx="108854" cy="10885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3608" y="3458221"/>
            <a:ext cx="3098164" cy="15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Creates database objects (database, tables)</a:t>
            </a:r>
            <a:endParaRPr lang="en-US" sz="9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92" y="3650810"/>
            <a:ext cx="108854" cy="10885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53608" y="3625690"/>
            <a:ext cx="3098164" cy="15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</a:t>
            </a: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Modifies the structure of a table</a:t>
            </a:r>
            <a:endParaRPr lang="en-US" sz="9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92" y="3818278"/>
            <a:ext cx="108854" cy="10885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53608" y="3793158"/>
            <a:ext cx="3098164" cy="15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</a:t>
            </a: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Deletes a table or database</a:t>
            </a:r>
            <a:endParaRPr lang="en-US" sz="95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92" y="3985747"/>
            <a:ext cx="108854" cy="10885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53608" y="3960626"/>
            <a:ext cx="3098164" cy="15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</a:t>
            </a: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Removes all records from a table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435418" y="4253696"/>
            <a:ext cx="3533582" cy="1724924"/>
          </a:xfrm>
          <a:prstGeom prst="roundRect">
            <a:avLst>
              <a:gd name="adj" fmla="val 3181"/>
            </a:avLst>
          </a:prstGeom>
          <a:solidFill>
            <a:srgbClr val="0F172A"/>
          </a:solidFill>
          <a:ln/>
        </p:spPr>
      </p:sp>
      <p:sp>
        <p:nvSpPr>
          <p:cNvPr id="32" name="Shape 23"/>
          <p:cNvSpPr/>
          <p:nvPr/>
        </p:nvSpPr>
        <p:spPr>
          <a:xfrm>
            <a:off x="519152" y="4329057"/>
            <a:ext cx="75361" cy="75361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3" name="Shape 24"/>
          <p:cNvSpPr/>
          <p:nvPr/>
        </p:nvSpPr>
        <p:spPr>
          <a:xfrm>
            <a:off x="653127" y="4329057"/>
            <a:ext cx="75361" cy="75361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4" name="Shape 25"/>
          <p:cNvSpPr/>
          <p:nvPr/>
        </p:nvSpPr>
        <p:spPr>
          <a:xfrm>
            <a:off x="787101" y="4329057"/>
            <a:ext cx="75361" cy="75361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3215392" y="4287190"/>
            <a:ext cx="669873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00" dirty="0"/>
          </a:p>
        </p:txBody>
      </p:sp>
      <p:sp>
        <p:nvSpPr>
          <p:cNvPr id="36" name="Text 27"/>
          <p:cNvSpPr txBox="1"/>
          <p:nvPr/>
        </p:nvSpPr>
        <p:spPr>
          <a:xfrm>
            <a:off x="519152" y="4471405"/>
            <a:ext cx="3399607" cy="1473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Database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university_db;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university_db;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Table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 (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student_id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(20)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name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(100)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dept_id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(dept_id)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department(dept_id)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</p:txBody>
      </p:sp>
      <p:sp>
        <p:nvSpPr>
          <p:cNvPr id="37" name="Shape 28"/>
          <p:cNvSpPr/>
          <p:nvPr/>
        </p:nvSpPr>
        <p:spPr>
          <a:xfrm>
            <a:off x="4228576" y="2453411"/>
            <a:ext cx="3734544" cy="3600569"/>
          </a:xfrm>
          <a:prstGeom prst="roundRect">
            <a:avLst>
              <a:gd name="adj" fmla="val 1270"/>
            </a:avLst>
          </a:prstGeom>
          <a:solidFill>
            <a:srgbClr val="E8F5E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4370924" y="2553892"/>
            <a:ext cx="385177" cy="385177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514" y="2642483"/>
            <a:ext cx="207996" cy="20799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4864955" y="2553892"/>
            <a:ext cx="3014430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DML – Data Manipulation Language</a:t>
            </a:r>
            <a:endParaRPr lang="en-US" sz="1350" dirty="0"/>
          </a:p>
        </p:txBody>
      </p:sp>
      <p:sp>
        <p:nvSpPr>
          <p:cNvPr id="41" name="Text 31"/>
          <p:cNvSpPr txBox="1"/>
          <p:nvPr/>
        </p:nvSpPr>
        <p:spPr>
          <a:xfrm>
            <a:off x="4864955" y="2779974"/>
            <a:ext cx="3014430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insert, update, delete and modify the data in the database.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4329057" y="3215392"/>
            <a:ext cx="3533582" cy="854089"/>
          </a:xfrm>
          <a:prstGeom prst="roundRect">
            <a:avLst>
              <a:gd name="adj" fmla="val 6424"/>
            </a:avLst>
          </a:prstGeom>
          <a:solidFill>
            <a:srgbClr val="FFFFFF"/>
          </a:solidFill>
          <a:ln/>
        </p:spPr>
      </p:sp>
      <p:sp>
        <p:nvSpPr>
          <p:cNvPr id="43" name="Text 33"/>
          <p:cNvSpPr txBox="1"/>
          <p:nvPr/>
        </p:nvSpPr>
        <p:spPr>
          <a:xfrm>
            <a:off x="4446284" y="3265633"/>
            <a:ext cx="251202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Commands</a:t>
            </a:r>
            <a:endParaRPr lang="en-US" sz="105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3031" y="3483341"/>
            <a:ext cx="108854" cy="108854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4647246" y="3458221"/>
            <a:ext cx="3098164" cy="15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Adds new records</a:t>
            </a:r>
            <a:endParaRPr lang="en-US" sz="95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3031" y="3650810"/>
            <a:ext cx="108854" cy="108854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4647246" y="3625690"/>
            <a:ext cx="3098164" cy="15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Modifies existing records</a:t>
            </a:r>
            <a:endParaRPr lang="en-US" sz="95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3031" y="3818278"/>
            <a:ext cx="108854" cy="108854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4647246" y="3793158"/>
            <a:ext cx="3098164" cy="15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Removes records</a:t>
            </a:r>
            <a:endParaRPr lang="en-US" sz="950" dirty="0"/>
          </a:p>
        </p:txBody>
      </p:sp>
      <p:sp>
        <p:nvSpPr>
          <p:cNvPr id="50" name="Shape 37"/>
          <p:cNvSpPr/>
          <p:nvPr/>
        </p:nvSpPr>
        <p:spPr>
          <a:xfrm>
            <a:off x="4329057" y="4253696"/>
            <a:ext cx="3533582" cy="1724924"/>
          </a:xfrm>
          <a:prstGeom prst="roundRect">
            <a:avLst>
              <a:gd name="adj" fmla="val 3181"/>
            </a:avLst>
          </a:prstGeom>
          <a:solidFill>
            <a:srgbClr val="0F172A"/>
          </a:solidFill>
          <a:ln/>
        </p:spPr>
      </p:sp>
      <p:sp>
        <p:nvSpPr>
          <p:cNvPr id="51" name="Shape 38"/>
          <p:cNvSpPr/>
          <p:nvPr/>
        </p:nvSpPr>
        <p:spPr>
          <a:xfrm>
            <a:off x="4412791" y="4329057"/>
            <a:ext cx="75361" cy="75361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2" name="Shape 39"/>
          <p:cNvSpPr/>
          <p:nvPr/>
        </p:nvSpPr>
        <p:spPr>
          <a:xfrm>
            <a:off x="4546765" y="4329057"/>
            <a:ext cx="75361" cy="75361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53" name="Shape 40"/>
          <p:cNvSpPr/>
          <p:nvPr/>
        </p:nvSpPr>
        <p:spPr>
          <a:xfrm>
            <a:off x="4680740" y="4329057"/>
            <a:ext cx="75361" cy="75361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54" name="Text 41"/>
          <p:cNvSpPr txBox="1"/>
          <p:nvPr/>
        </p:nvSpPr>
        <p:spPr>
          <a:xfrm>
            <a:off x="7109031" y="4287190"/>
            <a:ext cx="669873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00" dirty="0"/>
          </a:p>
        </p:txBody>
      </p:sp>
      <p:sp>
        <p:nvSpPr>
          <p:cNvPr id="55" name="Text 42"/>
          <p:cNvSpPr txBox="1"/>
          <p:nvPr/>
        </p:nvSpPr>
        <p:spPr>
          <a:xfrm>
            <a:off x="4412791" y="4471405"/>
            <a:ext cx="3399607" cy="1473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Insert Data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student(student_id, name, dept_id, dob)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80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'25B11DS045'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'B. Rohith'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102, </a:t>
            </a:r>
            <a:r>
              <a:rPr lang="en-US" sz="80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'2006-03-11'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Update Data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= </a:t>
            </a:r>
            <a:r>
              <a:rPr lang="en-US" sz="80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'rohith@example.com'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student_id = </a:t>
            </a:r>
            <a:r>
              <a:rPr lang="en-US" sz="80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'25B11DS045'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 Data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student_id = </a:t>
            </a:r>
            <a:r>
              <a:rPr lang="en-US" sz="80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'25B11DS045'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</p:txBody>
      </p:sp>
      <p:sp>
        <p:nvSpPr>
          <p:cNvPr id="56" name="Shape 43"/>
          <p:cNvSpPr/>
          <p:nvPr/>
        </p:nvSpPr>
        <p:spPr>
          <a:xfrm>
            <a:off x="8122215" y="2453411"/>
            <a:ext cx="3734544" cy="3600569"/>
          </a:xfrm>
          <a:prstGeom prst="roundRect">
            <a:avLst>
              <a:gd name="adj" fmla="val 1270"/>
            </a:avLst>
          </a:prstGeom>
          <a:solidFill>
            <a:srgbClr val="FDEFE6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57" name="Shape 44"/>
          <p:cNvSpPr/>
          <p:nvPr/>
        </p:nvSpPr>
        <p:spPr>
          <a:xfrm>
            <a:off x="8264563" y="2553892"/>
            <a:ext cx="385177" cy="385177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3153" y="2642483"/>
            <a:ext cx="207996" cy="207996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8758594" y="2553892"/>
            <a:ext cx="3014430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DQL – Data Query Language</a:t>
            </a:r>
            <a:endParaRPr lang="en-US" sz="1350" dirty="0"/>
          </a:p>
        </p:txBody>
      </p:sp>
      <p:sp>
        <p:nvSpPr>
          <p:cNvPr id="60" name="Text 46"/>
          <p:cNvSpPr txBox="1"/>
          <p:nvPr/>
        </p:nvSpPr>
        <p:spPr>
          <a:xfrm>
            <a:off x="8758594" y="2779974"/>
            <a:ext cx="3014430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retrieve and view data from the database.</a:t>
            </a:r>
            <a:endParaRPr lang="en-US" sz="950" dirty="0"/>
          </a:p>
        </p:txBody>
      </p:sp>
      <p:sp>
        <p:nvSpPr>
          <p:cNvPr id="61" name="Shape 47"/>
          <p:cNvSpPr/>
          <p:nvPr/>
        </p:nvSpPr>
        <p:spPr>
          <a:xfrm>
            <a:off x="8222696" y="3215392"/>
            <a:ext cx="3533582" cy="519152"/>
          </a:xfrm>
          <a:prstGeom prst="roundRect">
            <a:avLst>
              <a:gd name="adj" fmla="val 10568"/>
            </a:avLst>
          </a:prstGeom>
          <a:solidFill>
            <a:srgbClr val="FFFFFF"/>
          </a:solidFill>
          <a:ln/>
        </p:spPr>
      </p:sp>
      <p:sp>
        <p:nvSpPr>
          <p:cNvPr id="62" name="Text 48"/>
          <p:cNvSpPr txBox="1"/>
          <p:nvPr/>
        </p:nvSpPr>
        <p:spPr>
          <a:xfrm>
            <a:off x="8339923" y="3265633"/>
            <a:ext cx="251202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Command</a:t>
            </a:r>
            <a:endParaRPr lang="en-US" sz="1050" dirty="0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670" y="3483341"/>
            <a:ext cx="108854" cy="108854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8540885" y="3458221"/>
            <a:ext cx="3098164" cy="15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Retrieves data from the database</a:t>
            </a:r>
            <a:endParaRPr lang="en-US" sz="950" dirty="0"/>
          </a:p>
        </p:txBody>
      </p:sp>
      <p:sp>
        <p:nvSpPr>
          <p:cNvPr id="65" name="Shape 50"/>
          <p:cNvSpPr/>
          <p:nvPr/>
        </p:nvSpPr>
        <p:spPr>
          <a:xfrm>
            <a:off x="8222696" y="4253696"/>
            <a:ext cx="3533582" cy="1724924"/>
          </a:xfrm>
          <a:prstGeom prst="roundRect">
            <a:avLst>
              <a:gd name="adj" fmla="val 3181"/>
            </a:avLst>
          </a:prstGeom>
          <a:solidFill>
            <a:srgbClr val="0F172A"/>
          </a:solidFill>
          <a:ln/>
        </p:spPr>
      </p:sp>
      <p:sp>
        <p:nvSpPr>
          <p:cNvPr id="66" name="Shape 51"/>
          <p:cNvSpPr/>
          <p:nvPr/>
        </p:nvSpPr>
        <p:spPr>
          <a:xfrm>
            <a:off x="8306430" y="4329057"/>
            <a:ext cx="75361" cy="75361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7" name="Shape 52"/>
          <p:cNvSpPr/>
          <p:nvPr/>
        </p:nvSpPr>
        <p:spPr>
          <a:xfrm>
            <a:off x="8440404" y="4329057"/>
            <a:ext cx="75361" cy="75361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8" name="Shape 53"/>
          <p:cNvSpPr/>
          <p:nvPr/>
        </p:nvSpPr>
        <p:spPr>
          <a:xfrm>
            <a:off x="8574379" y="4329057"/>
            <a:ext cx="75361" cy="75361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69" name="Text 54"/>
          <p:cNvSpPr txBox="1"/>
          <p:nvPr/>
        </p:nvSpPr>
        <p:spPr>
          <a:xfrm>
            <a:off x="11002670" y="4287190"/>
            <a:ext cx="669873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00" dirty="0"/>
          </a:p>
        </p:txBody>
      </p:sp>
      <p:sp>
        <p:nvSpPr>
          <p:cNvPr id="70" name="Text 55"/>
          <p:cNvSpPr txBox="1"/>
          <p:nvPr/>
        </p:nvSpPr>
        <p:spPr>
          <a:xfrm>
            <a:off x="8306430" y="4471405"/>
            <a:ext cx="3399607" cy="1473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Retrieve all students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Retrieve specific columns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student_id, name, dept_id, dob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Retrieve students from a department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s.student_id, s.name, d.dept_name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 s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 d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s.dept_id = d.dept_id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d.dept_name = </a:t>
            </a:r>
            <a:r>
              <a:rPr lang="en-US" sz="80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 Science'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</p:txBody>
      </p:sp>
      <p:sp>
        <p:nvSpPr>
          <p:cNvPr id="71" name="Shape 56"/>
          <p:cNvSpPr/>
          <p:nvPr/>
        </p:nvSpPr>
        <p:spPr>
          <a:xfrm>
            <a:off x="351684" y="6129341"/>
            <a:ext cx="8708354" cy="351684"/>
          </a:xfrm>
          <a:prstGeom prst="roundRect">
            <a:avLst>
              <a:gd name="adj" fmla="val 52001"/>
            </a:avLst>
          </a:prstGeom>
          <a:solidFill>
            <a:srgbClr val="EAF1FB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72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405" y="6213075"/>
            <a:ext cx="184215" cy="184215"/>
          </a:xfrm>
          <a:prstGeom prst="rect">
            <a:avLst/>
          </a:prstGeom>
        </p:spPr>
      </p:pic>
      <p:sp>
        <p:nvSpPr>
          <p:cNvPr id="73" name="Text 57"/>
          <p:cNvSpPr txBox="1"/>
          <p:nvPr/>
        </p:nvSpPr>
        <p:spPr>
          <a:xfrm>
            <a:off x="803848" y="6129341"/>
            <a:ext cx="8205949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operations help us build the structure, maintain the data and retrieve meaningful information from our database.</a:t>
            </a:r>
            <a:endParaRPr lang="en-US" sz="1050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5BC9FFE2-1FCC-7E42-8326-AC27394E87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462" y="147532"/>
            <a:ext cx="477285" cy="4553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440228" y="200962"/>
            <a:ext cx="3600569" cy="38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</a:t>
            </a:r>
            <a:r>
              <a:rPr lang="en-US" sz="27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1465348" y="602886"/>
            <a:ext cx="301443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7787278" y="150722"/>
            <a:ext cx="2930696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787278" y="385177"/>
            <a:ext cx="293069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84215" y="1021557"/>
            <a:ext cx="770354" cy="636380"/>
          </a:xfrm>
          <a:prstGeom prst="roundRect">
            <a:avLst>
              <a:gd name="adj" fmla="val 25864"/>
            </a:avLst>
          </a:prstGeom>
          <a:solidFill>
            <a:srgbClr val="1228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4215" y="1021557"/>
            <a:ext cx="770354" cy="63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155532" y="971316"/>
            <a:ext cx="10048100" cy="485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</a:t>
            </a:r>
            <a:r>
              <a:rPr lang="en-US" sz="29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1172278" y="1473721"/>
            <a:ext cx="9210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Create, Read, Update and Delete operations on the database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4937" y="6548012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8205949" y="6548012"/>
            <a:ext cx="360056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519152" y="1825405"/>
            <a:ext cx="10383037" cy="519152"/>
          </a:xfrm>
          <a:prstGeom prst="roundRect">
            <a:avLst>
              <a:gd name="adj" fmla="val 21136"/>
            </a:avLst>
          </a:prstGeom>
          <a:solidFill>
            <a:srgbClr val="EAF1FB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73" y="1951006"/>
            <a:ext cx="267949" cy="26794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71797" y="1825405"/>
            <a:ext cx="9713164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5F"/>
                </a:solidFill>
              </a:rPr>
              <a:t>CRUD operations</a:t>
            </a:r>
            <a:r>
              <a:rPr lang="en-US" sz="1150" dirty="0">
                <a:solidFill>
                  <a:srgbClr val="12285F"/>
                </a:solidFill>
              </a:rPr>
              <a:t> help us </a:t>
            </a:r>
            <a:r>
              <a:rPr lang="en-US" sz="1150" b="1" dirty="0">
                <a:solidFill>
                  <a:srgbClr val="12285F"/>
                </a:solidFill>
              </a:rPr>
              <a:t>manage</a:t>
            </a:r>
            <a:r>
              <a:rPr lang="en-US" sz="1150" dirty="0">
                <a:solidFill>
                  <a:srgbClr val="12285F"/>
                </a:solidFill>
              </a:rPr>
              <a:t> the data in our </a:t>
            </a:r>
            <a:r>
              <a:rPr lang="en-US" sz="1150" b="1" dirty="0">
                <a:solidFill>
                  <a:srgbClr val="12285F"/>
                </a:solidFill>
              </a:rPr>
              <a:t>University Academic Management System</a:t>
            </a:r>
            <a:r>
              <a:rPr lang="en-US" sz="1150" dirty="0">
                <a:solidFill>
                  <a:srgbClr val="12285F"/>
                </a:solidFill>
              </a:rPr>
              <a:t> by allowing us to create new records, read existing records, update them when needed and delete records if required.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01443" y="2512025"/>
            <a:ext cx="2863709" cy="3449848"/>
          </a:xfrm>
          <a:prstGeom prst="roundRect">
            <a:avLst>
              <a:gd name="adj" fmla="val 1597"/>
            </a:avLst>
          </a:prstGeom>
          <a:solidFill>
            <a:srgbClr val="E8F5E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43791" y="2637626"/>
            <a:ext cx="385177" cy="385177"/>
          </a:xfrm>
          <a:prstGeom prst="ellipse">
            <a:avLst/>
          </a:prstGeom>
          <a:solidFill>
            <a:srgbClr val="0F7B4D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82" y="2726217"/>
            <a:ext cx="207996" cy="2079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1076" y="2629253"/>
            <a:ext cx="2093354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921076" y="2880455"/>
            <a:ext cx="2135221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new records to the database.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85177" y="3282379"/>
            <a:ext cx="2696240" cy="1172278"/>
          </a:xfrm>
          <a:prstGeom prst="roundRect">
            <a:avLst>
              <a:gd name="adj" fmla="val 4680"/>
            </a:avLst>
          </a:prstGeom>
          <a:solidFill>
            <a:srgbClr val="0F172A"/>
          </a:solidFill>
          <a:ln/>
        </p:spPr>
      </p:sp>
      <p:sp>
        <p:nvSpPr>
          <p:cNvPr id="25" name="Shape 20"/>
          <p:cNvSpPr/>
          <p:nvPr/>
        </p:nvSpPr>
        <p:spPr>
          <a:xfrm>
            <a:off x="468911" y="3357740"/>
            <a:ext cx="75361" cy="75361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6" name="Shape 21"/>
          <p:cNvSpPr/>
          <p:nvPr/>
        </p:nvSpPr>
        <p:spPr>
          <a:xfrm>
            <a:off x="602886" y="3357740"/>
            <a:ext cx="75361" cy="75361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7" name="Shape 22"/>
          <p:cNvSpPr/>
          <p:nvPr/>
        </p:nvSpPr>
        <p:spPr>
          <a:xfrm>
            <a:off x="736861" y="3357740"/>
            <a:ext cx="75361" cy="75361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2327810" y="3315873"/>
            <a:ext cx="669873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468911" y="3500088"/>
            <a:ext cx="2562266" cy="92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Insert a new student record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(student_id, name, dept_id, dob, email)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'25B11DS045'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'B. Rohith'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102,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'2006-03-11'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'rohith@example.com'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385177" y="4521645"/>
            <a:ext cx="2696240" cy="217709"/>
          </a:xfrm>
          <a:prstGeom prst="roundRect">
            <a:avLst>
              <a:gd name="adj" fmla="val 21001"/>
            </a:avLst>
          </a:prstGeom>
          <a:solidFill>
            <a:srgbClr val="D8F0E1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52165" y="4521645"/>
            <a:ext cx="2595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row inserted successfully.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3248886" y="2512025"/>
            <a:ext cx="2863709" cy="3449848"/>
          </a:xfrm>
          <a:prstGeom prst="roundRect">
            <a:avLst>
              <a:gd name="adj" fmla="val 1597"/>
            </a:avLst>
          </a:prstGeom>
          <a:solidFill>
            <a:srgbClr val="EAF1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391234" y="2637626"/>
            <a:ext cx="385177" cy="385177"/>
          </a:xfrm>
          <a:prstGeom prst="ellipse">
            <a:avLst/>
          </a:prstGeom>
          <a:solidFill>
            <a:srgbClr val="1F6FD6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825" y="2726217"/>
            <a:ext cx="207996" cy="207996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3868519" y="2629253"/>
            <a:ext cx="2093354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700" dirty="0"/>
          </a:p>
        </p:txBody>
      </p:sp>
      <p:sp>
        <p:nvSpPr>
          <p:cNvPr id="36" name="Text 30"/>
          <p:cNvSpPr txBox="1"/>
          <p:nvPr/>
        </p:nvSpPr>
        <p:spPr>
          <a:xfrm>
            <a:off x="3868519" y="2880455"/>
            <a:ext cx="2135221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existing records from the database.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3332620" y="3282379"/>
            <a:ext cx="2696240" cy="1172278"/>
          </a:xfrm>
          <a:prstGeom prst="roundRect">
            <a:avLst>
              <a:gd name="adj" fmla="val 4680"/>
            </a:avLst>
          </a:prstGeom>
          <a:solidFill>
            <a:srgbClr val="0F172A"/>
          </a:solidFill>
          <a:ln/>
        </p:spPr>
      </p:sp>
      <p:sp>
        <p:nvSpPr>
          <p:cNvPr id="38" name="Shape 32"/>
          <p:cNvSpPr/>
          <p:nvPr/>
        </p:nvSpPr>
        <p:spPr>
          <a:xfrm>
            <a:off x="3416354" y="3357740"/>
            <a:ext cx="75361" cy="75361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9" name="Shape 33"/>
          <p:cNvSpPr/>
          <p:nvPr/>
        </p:nvSpPr>
        <p:spPr>
          <a:xfrm>
            <a:off x="3550329" y="3357740"/>
            <a:ext cx="75361" cy="75361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0" name="Shape 34"/>
          <p:cNvSpPr/>
          <p:nvPr/>
        </p:nvSpPr>
        <p:spPr>
          <a:xfrm>
            <a:off x="3684303" y="3357740"/>
            <a:ext cx="75361" cy="75361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5275253" y="3315873"/>
            <a:ext cx="669873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00" dirty="0"/>
          </a:p>
        </p:txBody>
      </p:sp>
      <p:sp>
        <p:nvSpPr>
          <p:cNvPr id="42" name="Text 36"/>
          <p:cNvSpPr txBox="1"/>
          <p:nvPr/>
        </p:nvSpPr>
        <p:spPr>
          <a:xfrm>
            <a:off x="3416354" y="3500088"/>
            <a:ext cx="2562266" cy="92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Display all students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student_id, name, dept_id, dob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student_id;</a:t>
            </a:r>
            <a:endParaRPr lang="en-US" sz="8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2620" y="4521645"/>
          <a:ext cx="2696240" cy="803848"/>
        </p:xfrm>
        <a:graphic>
          <a:graphicData uri="http://schemas.openxmlformats.org/drawingml/2006/table">
            <a:tbl>
              <a:tblPr/>
              <a:tblGrid>
                <a:gridCol w="678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25B11DS045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Rohith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2006-03-11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25B11DS211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K. Siva Lakshmi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2006-07-24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25B11DS331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M. Gowri Shankar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2006-01-18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Shape 37"/>
          <p:cNvSpPr/>
          <p:nvPr/>
        </p:nvSpPr>
        <p:spPr>
          <a:xfrm>
            <a:off x="3332620" y="5392481"/>
            <a:ext cx="2696240" cy="217709"/>
          </a:xfrm>
          <a:prstGeom prst="roundRect">
            <a:avLst>
              <a:gd name="adj" fmla="val 21001"/>
            </a:avLst>
          </a:prstGeom>
          <a:solidFill>
            <a:srgbClr val="DCEAFB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3399607" y="5392481"/>
            <a:ext cx="2595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rows retrieved.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6137715" y="2512025"/>
            <a:ext cx="2863709" cy="3449848"/>
          </a:xfrm>
          <a:prstGeom prst="roundRect">
            <a:avLst>
              <a:gd name="adj" fmla="val 1597"/>
            </a:avLst>
          </a:prstGeom>
          <a:solidFill>
            <a:srgbClr val="FDEFE6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280063" y="2637626"/>
            <a:ext cx="385177" cy="385177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654" y="2726217"/>
            <a:ext cx="207996" cy="207996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6757348" y="2629253"/>
            <a:ext cx="2093354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700" dirty="0"/>
          </a:p>
        </p:txBody>
      </p:sp>
      <p:sp>
        <p:nvSpPr>
          <p:cNvPr id="50" name="Text 42"/>
          <p:cNvSpPr txBox="1"/>
          <p:nvPr/>
        </p:nvSpPr>
        <p:spPr>
          <a:xfrm>
            <a:off x="6757348" y="2880455"/>
            <a:ext cx="2135221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Modifies existing records in the database.</a:t>
            </a:r>
            <a:endParaRPr lang="en-US" sz="950" dirty="0"/>
          </a:p>
        </p:txBody>
      </p:sp>
      <p:sp>
        <p:nvSpPr>
          <p:cNvPr id="51" name="Shape 43"/>
          <p:cNvSpPr/>
          <p:nvPr/>
        </p:nvSpPr>
        <p:spPr>
          <a:xfrm>
            <a:off x="6221449" y="3282379"/>
            <a:ext cx="2696240" cy="1172278"/>
          </a:xfrm>
          <a:prstGeom prst="roundRect">
            <a:avLst>
              <a:gd name="adj" fmla="val 4680"/>
            </a:avLst>
          </a:prstGeom>
          <a:solidFill>
            <a:srgbClr val="0F172A"/>
          </a:solidFill>
          <a:ln/>
        </p:spPr>
      </p:sp>
      <p:sp>
        <p:nvSpPr>
          <p:cNvPr id="52" name="Shape 44"/>
          <p:cNvSpPr/>
          <p:nvPr/>
        </p:nvSpPr>
        <p:spPr>
          <a:xfrm>
            <a:off x="6305183" y="3357740"/>
            <a:ext cx="75361" cy="75361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3" name="Shape 45"/>
          <p:cNvSpPr/>
          <p:nvPr/>
        </p:nvSpPr>
        <p:spPr>
          <a:xfrm>
            <a:off x="6439158" y="3357740"/>
            <a:ext cx="75361" cy="75361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54" name="Shape 46"/>
          <p:cNvSpPr/>
          <p:nvPr/>
        </p:nvSpPr>
        <p:spPr>
          <a:xfrm>
            <a:off x="6573132" y="3357740"/>
            <a:ext cx="75361" cy="75361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55" name="Text 47"/>
          <p:cNvSpPr txBox="1"/>
          <p:nvPr/>
        </p:nvSpPr>
        <p:spPr>
          <a:xfrm>
            <a:off x="8164082" y="3315873"/>
            <a:ext cx="669873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00" dirty="0"/>
          </a:p>
        </p:txBody>
      </p:sp>
      <p:sp>
        <p:nvSpPr>
          <p:cNvPr id="56" name="Text 48"/>
          <p:cNvSpPr txBox="1"/>
          <p:nvPr/>
        </p:nvSpPr>
        <p:spPr>
          <a:xfrm>
            <a:off x="6305183" y="3500088"/>
            <a:ext cx="2562266" cy="92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Update student email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= </a:t>
            </a:r>
            <a:r>
              <a:rPr lang="en-US" sz="8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'rohithb@aditya.edu.in'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student_id = </a:t>
            </a:r>
            <a:r>
              <a:rPr lang="en-US" sz="8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'25B11DS045'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57" name="Shape 49"/>
          <p:cNvSpPr/>
          <p:nvPr/>
        </p:nvSpPr>
        <p:spPr>
          <a:xfrm>
            <a:off x="6221449" y="4521645"/>
            <a:ext cx="2696240" cy="217709"/>
          </a:xfrm>
          <a:prstGeom prst="roundRect">
            <a:avLst>
              <a:gd name="adj" fmla="val 21001"/>
            </a:avLst>
          </a:prstGeom>
          <a:solidFill>
            <a:srgbClr val="D8F0E1"/>
          </a:solidFill>
          <a:ln/>
        </p:spPr>
      </p:sp>
      <p:sp>
        <p:nvSpPr>
          <p:cNvPr id="58" name="Text 50"/>
          <p:cNvSpPr txBox="1"/>
          <p:nvPr/>
        </p:nvSpPr>
        <p:spPr>
          <a:xfrm>
            <a:off x="6288436" y="4521645"/>
            <a:ext cx="2595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row updated successfully.</a:t>
            </a:r>
            <a:endParaRPr lang="en-US" sz="8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1449" y="4806341"/>
          <a:ext cx="2696240" cy="401924"/>
        </p:xfrm>
        <a:graphic>
          <a:graphicData uri="http://schemas.openxmlformats.org/drawingml/2006/table">
            <a:tbl>
              <a:tblPr/>
              <a:tblGrid>
                <a:gridCol w="755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25B11DS045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Rohith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rohithb@aditya.edu.in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" name="Shape 51"/>
          <p:cNvSpPr/>
          <p:nvPr/>
        </p:nvSpPr>
        <p:spPr>
          <a:xfrm>
            <a:off x="9026544" y="2512025"/>
            <a:ext cx="2863709" cy="3449848"/>
          </a:xfrm>
          <a:prstGeom prst="roundRect">
            <a:avLst>
              <a:gd name="adj" fmla="val 1597"/>
            </a:avLst>
          </a:prstGeom>
          <a:solidFill>
            <a:srgbClr val="FCECE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9168892" y="2637626"/>
            <a:ext cx="385177" cy="385177"/>
          </a:xfrm>
          <a:prstGeom prst="ellipse">
            <a:avLst/>
          </a:prstGeom>
          <a:solidFill>
            <a:srgbClr val="B42318"/>
          </a:solidFill>
          <a:ln/>
        </p:spPr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7482" y="2726217"/>
            <a:ext cx="207996" cy="207996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9646176" y="2629253"/>
            <a:ext cx="2093354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700" dirty="0"/>
          </a:p>
        </p:txBody>
      </p:sp>
      <p:sp>
        <p:nvSpPr>
          <p:cNvPr id="64" name="Text 54"/>
          <p:cNvSpPr txBox="1"/>
          <p:nvPr/>
        </p:nvSpPr>
        <p:spPr>
          <a:xfrm>
            <a:off x="9646176" y="2880455"/>
            <a:ext cx="2135221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records from the database.</a:t>
            </a:r>
            <a:endParaRPr lang="en-US" sz="950" dirty="0"/>
          </a:p>
        </p:txBody>
      </p:sp>
      <p:sp>
        <p:nvSpPr>
          <p:cNvPr id="65" name="Shape 55"/>
          <p:cNvSpPr/>
          <p:nvPr/>
        </p:nvSpPr>
        <p:spPr>
          <a:xfrm>
            <a:off x="9110278" y="3282379"/>
            <a:ext cx="2696240" cy="1172278"/>
          </a:xfrm>
          <a:prstGeom prst="roundRect">
            <a:avLst>
              <a:gd name="adj" fmla="val 4680"/>
            </a:avLst>
          </a:prstGeom>
          <a:solidFill>
            <a:srgbClr val="0F172A"/>
          </a:solidFill>
          <a:ln/>
        </p:spPr>
      </p:sp>
      <p:sp>
        <p:nvSpPr>
          <p:cNvPr id="66" name="Shape 56"/>
          <p:cNvSpPr/>
          <p:nvPr/>
        </p:nvSpPr>
        <p:spPr>
          <a:xfrm>
            <a:off x="9194012" y="3357740"/>
            <a:ext cx="75361" cy="75361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7" name="Shape 57"/>
          <p:cNvSpPr/>
          <p:nvPr/>
        </p:nvSpPr>
        <p:spPr>
          <a:xfrm>
            <a:off x="9327987" y="3357740"/>
            <a:ext cx="75361" cy="75361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8" name="Shape 58"/>
          <p:cNvSpPr/>
          <p:nvPr/>
        </p:nvSpPr>
        <p:spPr>
          <a:xfrm>
            <a:off x="9461961" y="3357740"/>
            <a:ext cx="75361" cy="75361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69" name="Text 59"/>
          <p:cNvSpPr txBox="1"/>
          <p:nvPr/>
        </p:nvSpPr>
        <p:spPr>
          <a:xfrm>
            <a:off x="11052910" y="3315873"/>
            <a:ext cx="669873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00" dirty="0"/>
          </a:p>
        </p:txBody>
      </p:sp>
      <p:sp>
        <p:nvSpPr>
          <p:cNvPr id="70" name="Text 60"/>
          <p:cNvSpPr txBox="1"/>
          <p:nvPr/>
        </p:nvSpPr>
        <p:spPr>
          <a:xfrm>
            <a:off x="9194012" y="3500088"/>
            <a:ext cx="2562266" cy="92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FD1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 a student record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student_id = </a:t>
            </a:r>
            <a:r>
              <a:rPr lang="en-US" sz="85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'25B11DS331'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71" name="Shape 61"/>
          <p:cNvSpPr/>
          <p:nvPr/>
        </p:nvSpPr>
        <p:spPr>
          <a:xfrm>
            <a:off x="9110278" y="4521645"/>
            <a:ext cx="2696240" cy="217709"/>
          </a:xfrm>
          <a:prstGeom prst="roundRect">
            <a:avLst>
              <a:gd name="adj" fmla="val 21001"/>
            </a:avLst>
          </a:prstGeom>
          <a:solidFill>
            <a:srgbClr val="D8F0E1"/>
          </a:solidFill>
          <a:ln/>
        </p:spPr>
      </p:sp>
      <p:sp>
        <p:nvSpPr>
          <p:cNvPr id="72" name="Text 62"/>
          <p:cNvSpPr txBox="1"/>
          <p:nvPr/>
        </p:nvSpPr>
        <p:spPr>
          <a:xfrm>
            <a:off x="9177265" y="4521645"/>
            <a:ext cx="2595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row deleted successfully.</a:t>
            </a:r>
            <a:endParaRPr lang="en-US" sz="800" dirty="0"/>
          </a:p>
        </p:txBody>
      </p:sp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10278" y="4806341"/>
          <a:ext cx="2696241" cy="602886"/>
        </p:xfrm>
        <a:graphic>
          <a:graphicData uri="http://schemas.openxmlformats.org/drawingml/2006/table">
            <a:tbl>
              <a:tblPr/>
              <a:tblGrid>
                <a:gridCol w="89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dept_id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25B11DS045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Rohith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25B11DS211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K. Siva Lakshmi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Shape 63"/>
          <p:cNvSpPr/>
          <p:nvPr/>
        </p:nvSpPr>
        <p:spPr>
          <a:xfrm>
            <a:off x="9110278" y="5476215"/>
            <a:ext cx="2696240" cy="217709"/>
          </a:xfrm>
          <a:prstGeom prst="roundRect">
            <a:avLst>
              <a:gd name="adj" fmla="val 21001"/>
            </a:avLst>
          </a:prstGeom>
          <a:solidFill>
            <a:srgbClr val="F9D6D6"/>
          </a:solidFill>
          <a:ln/>
        </p:spPr>
      </p:sp>
      <p:sp>
        <p:nvSpPr>
          <p:cNvPr id="75" name="Text 64"/>
          <p:cNvSpPr txBox="1"/>
          <p:nvPr/>
        </p:nvSpPr>
        <p:spPr>
          <a:xfrm>
            <a:off x="9177265" y="5476215"/>
            <a:ext cx="2595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removed from the table.</a:t>
            </a:r>
            <a:endParaRPr lang="en-US" sz="800" dirty="0"/>
          </a:p>
        </p:txBody>
      </p:sp>
      <p:sp>
        <p:nvSpPr>
          <p:cNvPr id="78" name="Text 67"/>
          <p:cNvSpPr txBox="1"/>
          <p:nvPr/>
        </p:nvSpPr>
        <p:spPr>
          <a:xfrm>
            <a:off x="535899" y="6045607"/>
            <a:ext cx="2562266" cy="43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9" name="Shape 68"/>
          <p:cNvSpPr/>
          <p:nvPr/>
        </p:nvSpPr>
        <p:spPr>
          <a:xfrm>
            <a:off x="4186709" y="5978620"/>
            <a:ext cx="334937" cy="334937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8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3744" y="6055655"/>
            <a:ext cx="180866" cy="180866"/>
          </a:xfrm>
          <a:prstGeom prst="rect">
            <a:avLst/>
          </a:prstGeom>
        </p:spPr>
      </p:pic>
      <p:sp>
        <p:nvSpPr>
          <p:cNvPr id="81" name="Text 69"/>
          <p:cNvSpPr txBox="1"/>
          <p:nvPr/>
        </p:nvSpPr>
        <p:spPr>
          <a:xfrm>
            <a:off x="3893639" y="6347050"/>
            <a:ext cx="92107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900" dirty="0"/>
          </a:p>
        </p:txBody>
      </p:sp>
      <p:sp>
        <p:nvSpPr>
          <p:cNvPr id="82" name="Shape 70"/>
          <p:cNvSpPr/>
          <p:nvPr/>
        </p:nvSpPr>
        <p:spPr>
          <a:xfrm>
            <a:off x="5275253" y="5978620"/>
            <a:ext cx="334937" cy="334937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8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2288" y="6055655"/>
            <a:ext cx="180866" cy="180866"/>
          </a:xfrm>
          <a:prstGeom prst="rect">
            <a:avLst/>
          </a:prstGeom>
        </p:spPr>
      </p:pic>
      <p:sp>
        <p:nvSpPr>
          <p:cNvPr id="84" name="Text 71"/>
          <p:cNvSpPr txBox="1"/>
          <p:nvPr/>
        </p:nvSpPr>
        <p:spPr>
          <a:xfrm>
            <a:off x="4982183" y="6347050"/>
            <a:ext cx="92107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endParaRPr lang="en-US" sz="900" dirty="0"/>
          </a:p>
        </p:txBody>
      </p:sp>
      <p:sp>
        <p:nvSpPr>
          <p:cNvPr id="85" name="Shape 72"/>
          <p:cNvSpPr/>
          <p:nvPr/>
        </p:nvSpPr>
        <p:spPr>
          <a:xfrm>
            <a:off x="6363797" y="5978620"/>
            <a:ext cx="334937" cy="334937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8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0832" y="6055655"/>
            <a:ext cx="180866" cy="180866"/>
          </a:xfrm>
          <a:prstGeom prst="rect">
            <a:avLst/>
          </a:prstGeom>
        </p:spPr>
      </p:pic>
      <p:sp>
        <p:nvSpPr>
          <p:cNvPr id="87" name="Text 73"/>
          <p:cNvSpPr txBox="1"/>
          <p:nvPr/>
        </p:nvSpPr>
        <p:spPr>
          <a:xfrm>
            <a:off x="6070727" y="6347050"/>
            <a:ext cx="92107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900" dirty="0"/>
          </a:p>
        </p:txBody>
      </p:sp>
      <p:sp>
        <p:nvSpPr>
          <p:cNvPr id="88" name="Shape 74"/>
          <p:cNvSpPr/>
          <p:nvPr/>
        </p:nvSpPr>
        <p:spPr>
          <a:xfrm>
            <a:off x="7452341" y="5978620"/>
            <a:ext cx="334937" cy="334937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89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9377" y="6055655"/>
            <a:ext cx="180866" cy="180866"/>
          </a:xfrm>
          <a:prstGeom prst="rect">
            <a:avLst/>
          </a:prstGeom>
        </p:spPr>
      </p:pic>
      <p:sp>
        <p:nvSpPr>
          <p:cNvPr id="90" name="Text 75"/>
          <p:cNvSpPr txBox="1"/>
          <p:nvPr/>
        </p:nvSpPr>
        <p:spPr>
          <a:xfrm>
            <a:off x="7159272" y="6347050"/>
            <a:ext cx="92107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</a:t>
            </a:r>
            <a:endParaRPr lang="en-US" sz="900" dirty="0"/>
          </a:p>
        </p:txBody>
      </p:sp>
      <p:sp>
        <p:nvSpPr>
          <p:cNvPr id="91" name="Text 76"/>
          <p:cNvSpPr txBox="1"/>
          <p:nvPr/>
        </p:nvSpPr>
        <p:spPr>
          <a:xfrm>
            <a:off x="9210759" y="6045607"/>
            <a:ext cx="2512025" cy="43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809A4E74-6A39-5A3A-6242-A5B9E62A0E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2462" y="147532"/>
            <a:ext cx="477285" cy="4553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440228" y="200962"/>
            <a:ext cx="3600569" cy="38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</a:t>
            </a:r>
            <a:r>
              <a:rPr lang="en-US" sz="27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1465348" y="602886"/>
            <a:ext cx="301443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7787278" y="996436"/>
            <a:ext cx="2930696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85986" y="82289"/>
            <a:ext cx="293069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84215" y="1021557"/>
            <a:ext cx="770354" cy="636380"/>
          </a:xfrm>
          <a:prstGeom prst="roundRect">
            <a:avLst>
              <a:gd name="adj" fmla="val 25864"/>
            </a:avLst>
          </a:prstGeom>
          <a:solidFill>
            <a:srgbClr val="1228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4215" y="1021557"/>
            <a:ext cx="770354" cy="63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64289" y="954569"/>
            <a:ext cx="10048100" cy="485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&amp; </a:t>
            </a:r>
            <a:r>
              <a:rPr lang="en-US" sz="29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FUNCTIONS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1172278" y="1473721"/>
            <a:ext cx="9210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Retrieving meaningful information from multiple tables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4937" y="6548012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ACADEMIC MANAGEMENT SYSTEM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8205949" y="6548012"/>
            <a:ext cx="360056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334937" y="1791911"/>
            <a:ext cx="5861392" cy="4186709"/>
          </a:xfrm>
          <a:prstGeom prst="roundRect">
            <a:avLst>
              <a:gd name="adj" fmla="val 655"/>
            </a:avLst>
          </a:prstGeom>
          <a:solidFill>
            <a:srgbClr val="F6F9FD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2646" y="1892392"/>
            <a:ext cx="401924" cy="401924"/>
          </a:xfrm>
          <a:prstGeom prst="ellipse">
            <a:avLst/>
          </a:prstGeom>
          <a:solidFill>
            <a:srgbClr val="1F6FD6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88" y="1984835"/>
            <a:ext cx="217039" cy="217039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71797" y="1942633"/>
            <a:ext cx="1004810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2009620" y="1909139"/>
            <a:ext cx="4019240" cy="368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are used to retrieve related information from multiple tables based on a common column.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35418" y="2461785"/>
            <a:ext cx="703367" cy="770354"/>
          </a:xfrm>
          <a:prstGeom prst="roundRect">
            <a:avLst>
              <a:gd name="adj" fmla="val 13000"/>
            </a:avLst>
          </a:prstGeom>
          <a:solidFill>
            <a:srgbClr val="EAF1FB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35418" y="2461785"/>
            <a:ext cx="703367" cy="77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222519" y="2411544"/>
            <a:ext cx="2763228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matching records from both tables.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1222519" y="2696240"/>
            <a:ext cx="2712987" cy="519152"/>
          </a:xfrm>
          <a:prstGeom prst="roundRect">
            <a:avLst>
              <a:gd name="adj" fmla="val 10568"/>
            </a:avLst>
          </a:prstGeom>
          <a:solidFill>
            <a:srgbClr val="0F172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3550329" y="2721361"/>
            <a:ext cx="334937" cy="100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650" dirty="0"/>
          </a:p>
        </p:txBody>
      </p:sp>
      <p:sp>
        <p:nvSpPr>
          <p:cNvPr id="26" name="Text 22"/>
          <p:cNvSpPr txBox="1"/>
          <p:nvPr/>
        </p:nvSpPr>
        <p:spPr>
          <a:xfrm>
            <a:off x="1306253" y="2746481"/>
            <a:ext cx="2579012" cy="43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s.student_id, s.name, d.dept_name</a:t>
            </a:r>
            <a:endParaRPr lang="en-US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 s</a:t>
            </a:r>
            <a:endParaRPr lang="en-US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 d </a:t>
            </a: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s.dept_id = d.dept_id;</a:t>
            </a:r>
            <a:endParaRPr lang="en-US" sz="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02493" y="2445038"/>
          <a:ext cx="2143594" cy="693693"/>
        </p:xfrm>
        <a:graphic>
          <a:graphicData uri="http://schemas.openxmlformats.org/drawingml/2006/table">
            <a:tbl>
              <a:tblPr/>
              <a:tblGrid>
                <a:gridCol w="669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student_id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dept_name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25B11DS045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Rohith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Science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25B11DS211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K. Siva Lakshmi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Science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25B11DS331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M. Gowri Shankar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Shape 23"/>
          <p:cNvSpPr/>
          <p:nvPr/>
        </p:nvSpPr>
        <p:spPr>
          <a:xfrm>
            <a:off x="435418" y="3349367"/>
            <a:ext cx="703367" cy="770354"/>
          </a:xfrm>
          <a:prstGeom prst="roundRect">
            <a:avLst>
              <a:gd name="adj" fmla="val 13000"/>
            </a:avLst>
          </a:prstGeom>
          <a:solidFill>
            <a:srgbClr val="E8F5EC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35418" y="3349367"/>
            <a:ext cx="703367" cy="77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1222519" y="3299126"/>
            <a:ext cx="2763228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all records from the left table and matching records from the right table.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1222519" y="3583822"/>
            <a:ext cx="2712987" cy="519152"/>
          </a:xfrm>
          <a:prstGeom prst="roundRect">
            <a:avLst>
              <a:gd name="adj" fmla="val 10568"/>
            </a:avLst>
          </a:prstGeom>
          <a:solidFill>
            <a:srgbClr val="0F172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3550329" y="3608943"/>
            <a:ext cx="334937" cy="100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650" dirty="0"/>
          </a:p>
        </p:txBody>
      </p:sp>
      <p:sp>
        <p:nvSpPr>
          <p:cNvPr id="33" name="Text 28"/>
          <p:cNvSpPr txBox="1"/>
          <p:nvPr/>
        </p:nvSpPr>
        <p:spPr>
          <a:xfrm>
            <a:off x="1306253" y="3634063"/>
            <a:ext cx="2579012" cy="43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c.course_id, c.title, d.dept_name</a:t>
            </a:r>
            <a:endParaRPr lang="en-US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course c</a:t>
            </a:r>
            <a:endParaRPr lang="en-US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 d </a:t>
            </a: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c.dept_id = d.dept_id;</a:t>
            </a:r>
            <a:endParaRPr lang="en-US" sz="600" dirty="0"/>
          </a:p>
        </p:txBody>
      </p:sp>
      <p:graphicFrame>
        <p:nvGraphicFramePr>
          <p:cNvPr id="3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02493" y="3332620"/>
          <a:ext cx="2143594" cy="693693"/>
        </p:xfrm>
        <a:graphic>
          <a:graphicData uri="http://schemas.openxmlformats.org/drawingml/2006/table">
            <a:tbl>
              <a:tblPr/>
              <a:tblGrid>
                <a:gridCol w="669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course_id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dept_name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DBMS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Science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C102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Structures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Science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C103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Programming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Shape 29"/>
          <p:cNvSpPr/>
          <p:nvPr/>
        </p:nvSpPr>
        <p:spPr>
          <a:xfrm>
            <a:off x="435418" y="4236949"/>
            <a:ext cx="703367" cy="770354"/>
          </a:xfrm>
          <a:prstGeom prst="roundRect">
            <a:avLst>
              <a:gd name="adj" fmla="val 13000"/>
            </a:avLst>
          </a:prstGeom>
          <a:solidFill>
            <a:srgbClr val="FDEFE6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435418" y="4236949"/>
            <a:ext cx="703367" cy="77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1222519" y="4186709"/>
            <a:ext cx="2763228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all records from the right table and matching records from the left table.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1222519" y="4471405"/>
            <a:ext cx="2712987" cy="519152"/>
          </a:xfrm>
          <a:prstGeom prst="roundRect">
            <a:avLst>
              <a:gd name="adj" fmla="val 10568"/>
            </a:avLst>
          </a:prstGeom>
          <a:solidFill>
            <a:srgbClr val="0F172A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3550329" y="4496525"/>
            <a:ext cx="334937" cy="100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650" dirty="0"/>
          </a:p>
        </p:txBody>
      </p:sp>
      <p:sp>
        <p:nvSpPr>
          <p:cNvPr id="40" name="Text 34"/>
          <p:cNvSpPr txBox="1"/>
          <p:nvPr/>
        </p:nvSpPr>
        <p:spPr>
          <a:xfrm>
            <a:off x="1306253" y="4521645"/>
            <a:ext cx="2579012" cy="43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f.faculty_id, f.name, d.dept_name</a:t>
            </a:r>
            <a:endParaRPr lang="en-US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faculty f</a:t>
            </a:r>
            <a:endParaRPr lang="en-US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 d </a:t>
            </a: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f.dept_id = d.dept_id;</a:t>
            </a:r>
            <a:endParaRPr lang="en-US" sz="600" dirty="0"/>
          </a:p>
        </p:txBody>
      </p:sp>
      <p:graphicFrame>
        <p:nvGraphicFramePr>
          <p:cNvPr id="4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02493" y="4220202"/>
          <a:ext cx="2143594" cy="693693"/>
        </p:xfrm>
        <a:graphic>
          <a:graphicData uri="http://schemas.openxmlformats.org/drawingml/2006/table">
            <a:tbl>
              <a:tblPr/>
              <a:tblGrid>
                <a:gridCol w="669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faculty_id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dept_name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F001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P. Keerthana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Science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F002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R. Suresh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NULL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NULL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" name="Shape 35"/>
          <p:cNvSpPr/>
          <p:nvPr/>
        </p:nvSpPr>
        <p:spPr>
          <a:xfrm>
            <a:off x="435418" y="5124531"/>
            <a:ext cx="703367" cy="770354"/>
          </a:xfrm>
          <a:prstGeom prst="roundRect">
            <a:avLst>
              <a:gd name="adj" fmla="val 13000"/>
            </a:avLst>
          </a:prstGeom>
          <a:solidFill>
            <a:srgbClr val="F0EDFB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435418" y="5124531"/>
            <a:ext cx="703367" cy="77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1300" dirty="0"/>
          </a:p>
        </p:txBody>
      </p:sp>
      <p:sp>
        <p:nvSpPr>
          <p:cNvPr id="44" name="Text 37"/>
          <p:cNvSpPr txBox="1"/>
          <p:nvPr/>
        </p:nvSpPr>
        <p:spPr>
          <a:xfrm>
            <a:off x="1222519" y="5074291"/>
            <a:ext cx="2763228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all records when there is a match in either table.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1222519" y="5358987"/>
            <a:ext cx="2712987" cy="519152"/>
          </a:xfrm>
          <a:prstGeom prst="roundRect">
            <a:avLst>
              <a:gd name="adj" fmla="val 10568"/>
            </a:avLst>
          </a:prstGeom>
          <a:solidFill>
            <a:srgbClr val="0F172A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3550329" y="5384107"/>
            <a:ext cx="334937" cy="100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650" dirty="0"/>
          </a:p>
        </p:txBody>
      </p:sp>
      <p:sp>
        <p:nvSpPr>
          <p:cNvPr id="47" name="Text 40"/>
          <p:cNvSpPr txBox="1"/>
          <p:nvPr/>
        </p:nvSpPr>
        <p:spPr>
          <a:xfrm>
            <a:off x="1306253" y="5409227"/>
            <a:ext cx="2579012" cy="43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s.student_id, s.name, e.course_id</a:t>
            </a:r>
            <a:endParaRPr lang="en-US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 s</a:t>
            </a:r>
            <a:endParaRPr lang="en-US" sz="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enrollment e </a:t>
            </a:r>
            <a:r>
              <a:rPr lang="en-US" sz="6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6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s.student_id = e.student_id;</a:t>
            </a:r>
            <a:endParaRPr lang="en-US" sz="600" dirty="0"/>
          </a:p>
        </p:txBody>
      </p:sp>
      <p:graphicFrame>
        <p:nvGraphicFramePr>
          <p:cNvPr id="48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02493" y="5107784"/>
          <a:ext cx="2143594" cy="852788"/>
        </p:xfrm>
        <a:graphic>
          <a:graphicData uri="http://schemas.openxmlformats.org/drawingml/2006/table">
            <a:tbl>
              <a:tblPr/>
              <a:tblGrid>
                <a:gridCol w="669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student_id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course_id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25B11DS045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Rohith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25B11DS211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K. Siva Lakshmi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25B11DS331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M. Gowri Shankar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C102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NULL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NULL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C103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Shape 41"/>
          <p:cNvSpPr/>
          <p:nvPr/>
        </p:nvSpPr>
        <p:spPr>
          <a:xfrm>
            <a:off x="6296810" y="1791911"/>
            <a:ext cx="5559949" cy="4186709"/>
          </a:xfrm>
          <a:prstGeom prst="roundRect">
            <a:avLst>
              <a:gd name="adj" fmla="val 655"/>
            </a:avLst>
          </a:prstGeom>
          <a:solidFill>
            <a:srgbClr val="FFF9F4"/>
          </a:solidFill>
          <a:ln w="9525">
            <a:solidFill>
              <a:srgbClr val="F7D9C4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6531265" y="1976126"/>
            <a:ext cx="435418" cy="435418"/>
          </a:xfrm>
          <a:prstGeom prst="ellipse">
            <a:avLst/>
          </a:prstGeom>
          <a:solidFill>
            <a:srgbClr val="F26A1B"/>
          </a:solidFill>
          <a:ln/>
        </p:spPr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411" y="2076272"/>
            <a:ext cx="235126" cy="235126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7100658" y="1976126"/>
            <a:ext cx="4605379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FUNCTIONS</a:t>
            </a:r>
            <a:endParaRPr lang="en-US" sz="1700" dirty="0"/>
          </a:p>
        </p:txBody>
      </p:sp>
      <p:sp>
        <p:nvSpPr>
          <p:cNvPr id="53" name="Text 44"/>
          <p:cNvSpPr txBox="1"/>
          <p:nvPr/>
        </p:nvSpPr>
        <p:spPr>
          <a:xfrm>
            <a:off x="7100658" y="2244076"/>
            <a:ext cx="4521645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functions perform calculations on a set of values and return a single result.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6380544" y="2679493"/>
            <a:ext cx="1741671" cy="1540709"/>
          </a:xfrm>
          <a:prstGeom prst="roundRect">
            <a:avLst>
              <a:gd name="adj" fmla="val 3561"/>
            </a:avLst>
          </a:prstGeom>
          <a:solidFill>
            <a:srgbClr val="EAF1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6464278" y="2729734"/>
            <a:ext cx="159094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COUNT()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6464278" y="2947443"/>
            <a:ext cx="1590949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the number of records.</a:t>
            </a:r>
            <a:endParaRPr lang="en-US" sz="900" dirty="0"/>
          </a:p>
        </p:txBody>
      </p:sp>
      <p:sp>
        <p:nvSpPr>
          <p:cNvPr id="57" name="Shape 48"/>
          <p:cNvSpPr/>
          <p:nvPr/>
        </p:nvSpPr>
        <p:spPr>
          <a:xfrm>
            <a:off x="6447531" y="3148405"/>
            <a:ext cx="1607696" cy="435418"/>
          </a:xfrm>
          <a:prstGeom prst="roundRect">
            <a:avLst>
              <a:gd name="adj" fmla="val 12600"/>
            </a:avLst>
          </a:prstGeom>
          <a:solidFill>
            <a:srgbClr val="0F172A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7670050" y="3173525"/>
            <a:ext cx="334937" cy="100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650" dirty="0"/>
          </a:p>
        </p:txBody>
      </p:sp>
      <p:sp>
        <p:nvSpPr>
          <p:cNvPr id="59" name="Text 50"/>
          <p:cNvSpPr txBox="1"/>
          <p:nvPr/>
        </p:nvSpPr>
        <p:spPr>
          <a:xfrm>
            <a:off x="6531265" y="3198645"/>
            <a:ext cx="1473721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</a:t>
            </a:r>
            <a:endParaRPr lang="en-US" sz="6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total_students</a:t>
            </a:r>
            <a:endParaRPr lang="en-US" sz="6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student;</a:t>
            </a:r>
            <a:endParaRPr lang="en-US" sz="650" dirty="0"/>
          </a:p>
        </p:txBody>
      </p:sp>
      <p:sp>
        <p:nvSpPr>
          <p:cNvPr id="60" name="Shape 51"/>
          <p:cNvSpPr/>
          <p:nvPr/>
        </p:nvSpPr>
        <p:spPr>
          <a:xfrm>
            <a:off x="6665240" y="3634063"/>
            <a:ext cx="1172278" cy="485658"/>
          </a:xfrm>
          <a:prstGeom prst="roundRect">
            <a:avLst>
              <a:gd name="adj" fmla="val 1129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6665240" y="3667557"/>
            <a:ext cx="117227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total_students</a:t>
            </a:r>
            <a:endParaRPr lang="en-US" sz="800" dirty="0"/>
          </a:p>
        </p:txBody>
      </p:sp>
      <p:sp>
        <p:nvSpPr>
          <p:cNvPr id="62" name="Text 53"/>
          <p:cNvSpPr txBox="1"/>
          <p:nvPr/>
        </p:nvSpPr>
        <p:spPr>
          <a:xfrm>
            <a:off x="6665240" y="3868519"/>
            <a:ext cx="117227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3" name="Shape 54"/>
          <p:cNvSpPr/>
          <p:nvPr/>
        </p:nvSpPr>
        <p:spPr>
          <a:xfrm>
            <a:off x="8239442" y="2679493"/>
            <a:ext cx="1741671" cy="1540709"/>
          </a:xfrm>
          <a:prstGeom prst="roundRect">
            <a:avLst>
              <a:gd name="adj" fmla="val 3561"/>
            </a:avLst>
          </a:prstGeom>
          <a:solidFill>
            <a:srgbClr val="E8F5E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64" name="Text 55"/>
          <p:cNvSpPr txBox="1"/>
          <p:nvPr/>
        </p:nvSpPr>
        <p:spPr>
          <a:xfrm>
            <a:off x="8323177" y="2729734"/>
            <a:ext cx="159094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SUM()</a:t>
            </a:r>
            <a:endParaRPr lang="en-US" sz="1400" dirty="0"/>
          </a:p>
        </p:txBody>
      </p:sp>
      <p:sp>
        <p:nvSpPr>
          <p:cNvPr id="65" name="Text 56"/>
          <p:cNvSpPr txBox="1"/>
          <p:nvPr/>
        </p:nvSpPr>
        <p:spPr>
          <a:xfrm>
            <a:off x="8323177" y="2947443"/>
            <a:ext cx="1590949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the total value.</a:t>
            </a:r>
            <a:endParaRPr lang="en-US" sz="900" dirty="0"/>
          </a:p>
        </p:txBody>
      </p:sp>
      <p:sp>
        <p:nvSpPr>
          <p:cNvPr id="66" name="Shape 57"/>
          <p:cNvSpPr/>
          <p:nvPr/>
        </p:nvSpPr>
        <p:spPr>
          <a:xfrm>
            <a:off x="8306430" y="3148405"/>
            <a:ext cx="1607696" cy="435418"/>
          </a:xfrm>
          <a:prstGeom prst="roundRect">
            <a:avLst>
              <a:gd name="adj" fmla="val 12600"/>
            </a:avLst>
          </a:prstGeom>
          <a:solidFill>
            <a:srgbClr val="0F172A"/>
          </a:solidFill>
          <a:ln/>
        </p:spPr>
      </p:sp>
      <p:sp>
        <p:nvSpPr>
          <p:cNvPr id="67" name="Text 58"/>
          <p:cNvSpPr txBox="1"/>
          <p:nvPr/>
        </p:nvSpPr>
        <p:spPr>
          <a:xfrm>
            <a:off x="9528949" y="3173525"/>
            <a:ext cx="334937" cy="100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650" dirty="0"/>
          </a:p>
        </p:txBody>
      </p:sp>
      <p:sp>
        <p:nvSpPr>
          <p:cNvPr id="68" name="Text 59"/>
          <p:cNvSpPr txBox="1"/>
          <p:nvPr/>
        </p:nvSpPr>
        <p:spPr>
          <a:xfrm>
            <a:off x="8390164" y="3198645"/>
            <a:ext cx="1473721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(credits)</a:t>
            </a:r>
            <a:endParaRPr lang="en-US" sz="6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total_credits</a:t>
            </a:r>
            <a:endParaRPr lang="en-US" sz="6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course;</a:t>
            </a:r>
            <a:endParaRPr lang="en-US" sz="650" dirty="0"/>
          </a:p>
        </p:txBody>
      </p:sp>
      <p:sp>
        <p:nvSpPr>
          <p:cNvPr id="69" name="Shape 60"/>
          <p:cNvSpPr/>
          <p:nvPr/>
        </p:nvSpPr>
        <p:spPr>
          <a:xfrm>
            <a:off x="8524139" y="3634063"/>
            <a:ext cx="1172278" cy="485658"/>
          </a:xfrm>
          <a:prstGeom prst="roundRect">
            <a:avLst>
              <a:gd name="adj" fmla="val 1129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0" name="Text 61"/>
          <p:cNvSpPr txBox="1"/>
          <p:nvPr/>
        </p:nvSpPr>
        <p:spPr>
          <a:xfrm>
            <a:off x="8524139" y="3667557"/>
            <a:ext cx="117227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total_credits</a:t>
            </a:r>
            <a:endParaRPr lang="en-US" sz="800" dirty="0"/>
          </a:p>
        </p:txBody>
      </p:sp>
      <p:sp>
        <p:nvSpPr>
          <p:cNvPr id="71" name="Text 62"/>
          <p:cNvSpPr txBox="1"/>
          <p:nvPr/>
        </p:nvSpPr>
        <p:spPr>
          <a:xfrm>
            <a:off x="8524139" y="3868519"/>
            <a:ext cx="117227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72" name="Shape 63"/>
          <p:cNvSpPr/>
          <p:nvPr/>
        </p:nvSpPr>
        <p:spPr>
          <a:xfrm>
            <a:off x="10098341" y="2679493"/>
            <a:ext cx="1741671" cy="1540709"/>
          </a:xfrm>
          <a:prstGeom prst="roundRect">
            <a:avLst>
              <a:gd name="adj" fmla="val 3561"/>
            </a:avLst>
          </a:prstGeom>
          <a:solidFill>
            <a:srgbClr val="FDEFE6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3" name="Text 64"/>
          <p:cNvSpPr txBox="1"/>
          <p:nvPr/>
        </p:nvSpPr>
        <p:spPr>
          <a:xfrm>
            <a:off x="10182075" y="2729734"/>
            <a:ext cx="159094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AVG()</a:t>
            </a:r>
            <a:endParaRPr lang="en-US" sz="1400" dirty="0"/>
          </a:p>
        </p:txBody>
      </p:sp>
      <p:sp>
        <p:nvSpPr>
          <p:cNvPr id="74" name="Text 65"/>
          <p:cNvSpPr txBox="1"/>
          <p:nvPr/>
        </p:nvSpPr>
        <p:spPr>
          <a:xfrm>
            <a:off x="10182075" y="2947443"/>
            <a:ext cx="1590949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the average value.</a:t>
            </a:r>
            <a:endParaRPr lang="en-US" sz="900" dirty="0"/>
          </a:p>
        </p:txBody>
      </p:sp>
      <p:sp>
        <p:nvSpPr>
          <p:cNvPr id="75" name="Shape 66"/>
          <p:cNvSpPr/>
          <p:nvPr/>
        </p:nvSpPr>
        <p:spPr>
          <a:xfrm>
            <a:off x="10165328" y="3148405"/>
            <a:ext cx="1607696" cy="435418"/>
          </a:xfrm>
          <a:prstGeom prst="roundRect">
            <a:avLst>
              <a:gd name="adj" fmla="val 12600"/>
            </a:avLst>
          </a:prstGeom>
          <a:solidFill>
            <a:srgbClr val="0F172A"/>
          </a:solidFill>
          <a:ln/>
        </p:spPr>
      </p:sp>
      <p:sp>
        <p:nvSpPr>
          <p:cNvPr id="76" name="Text 67"/>
          <p:cNvSpPr txBox="1"/>
          <p:nvPr/>
        </p:nvSpPr>
        <p:spPr>
          <a:xfrm>
            <a:off x="11387847" y="3173525"/>
            <a:ext cx="334937" cy="100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650" dirty="0"/>
          </a:p>
        </p:txBody>
      </p:sp>
      <p:sp>
        <p:nvSpPr>
          <p:cNvPr id="77" name="Text 68"/>
          <p:cNvSpPr txBox="1"/>
          <p:nvPr/>
        </p:nvSpPr>
        <p:spPr>
          <a:xfrm>
            <a:off x="10249062" y="3198645"/>
            <a:ext cx="1473721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(credits)</a:t>
            </a:r>
            <a:endParaRPr lang="en-US" sz="6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avg_credits</a:t>
            </a:r>
            <a:endParaRPr lang="en-US" sz="6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course;</a:t>
            </a:r>
            <a:endParaRPr lang="en-US" sz="650" dirty="0"/>
          </a:p>
        </p:txBody>
      </p:sp>
      <p:sp>
        <p:nvSpPr>
          <p:cNvPr id="78" name="Shape 69"/>
          <p:cNvSpPr/>
          <p:nvPr/>
        </p:nvSpPr>
        <p:spPr>
          <a:xfrm>
            <a:off x="10383037" y="3634063"/>
            <a:ext cx="1172278" cy="485658"/>
          </a:xfrm>
          <a:prstGeom prst="roundRect">
            <a:avLst>
              <a:gd name="adj" fmla="val 1129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9" name="Text 70"/>
          <p:cNvSpPr txBox="1"/>
          <p:nvPr/>
        </p:nvSpPr>
        <p:spPr>
          <a:xfrm>
            <a:off x="10383037" y="3667557"/>
            <a:ext cx="117227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avg_credits</a:t>
            </a:r>
            <a:endParaRPr lang="en-US" sz="800" dirty="0"/>
          </a:p>
        </p:txBody>
      </p:sp>
      <p:sp>
        <p:nvSpPr>
          <p:cNvPr id="80" name="Text 71"/>
          <p:cNvSpPr txBox="1"/>
          <p:nvPr/>
        </p:nvSpPr>
        <p:spPr>
          <a:xfrm>
            <a:off x="10383037" y="3868519"/>
            <a:ext cx="117227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3.67</a:t>
            </a:r>
            <a:endParaRPr lang="en-US" sz="1100" dirty="0"/>
          </a:p>
        </p:txBody>
      </p:sp>
      <p:sp>
        <p:nvSpPr>
          <p:cNvPr id="81" name="Shape 72"/>
          <p:cNvSpPr/>
          <p:nvPr/>
        </p:nvSpPr>
        <p:spPr>
          <a:xfrm>
            <a:off x="6380544" y="4303936"/>
            <a:ext cx="1741671" cy="1540709"/>
          </a:xfrm>
          <a:prstGeom prst="roundRect">
            <a:avLst>
              <a:gd name="adj" fmla="val 3561"/>
            </a:avLst>
          </a:prstGeom>
          <a:solidFill>
            <a:srgbClr val="F0ED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82" name="Text 73"/>
          <p:cNvSpPr txBox="1"/>
          <p:nvPr/>
        </p:nvSpPr>
        <p:spPr>
          <a:xfrm>
            <a:off x="6464278" y="4354177"/>
            <a:ext cx="159094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MIN()</a:t>
            </a:r>
            <a:endParaRPr lang="en-US" sz="1400" dirty="0"/>
          </a:p>
        </p:txBody>
      </p:sp>
      <p:sp>
        <p:nvSpPr>
          <p:cNvPr id="83" name="Text 74"/>
          <p:cNvSpPr txBox="1"/>
          <p:nvPr/>
        </p:nvSpPr>
        <p:spPr>
          <a:xfrm>
            <a:off x="6464278" y="4571886"/>
            <a:ext cx="1590949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minimum value.</a:t>
            </a:r>
            <a:endParaRPr lang="en-US" sz="900" dirty="0"/>
          </a:p>
        </p:txBody>
      </p:sp>
      <p:sp>
        <p:nvSpPr>
          <p:cNvPr id="84" name="Shape 75"/>
          <p:cNvSpPr/>
          <p:nvPr/>
        </p:nvSpPr>
        <p:spPr>
          <a:xfrm>
            <a:off x="6447531" y="4772848"/>
            <a:ext cx="1607696" cy="435418"/>
          </a:xfrm>
          <a:prstGeom prst="roundRect">
            <a:avLst>
              <a:gd name="adj" fmla="val 12600"/>
            </a:avLst>
          </a:prstGeom>
          <a:solidFill>
            <a:srgbClr val="0F172A"/>
          </a:solidFill>
          <a:ln/>
        </p:spPr>
      </p:sp>
      <p:sp>
        <p:nvSpPr>
          <p:cNvPr id="85" name="Text 76"/>
          <p:cNvSpPr txBox="1"/>
          <p:nvPr/>
        </p:nvSpPr>
        <p:spPr>
          <a:xfrm>
            <a:off x="7670050" y="4797968"/>
            <a:ext cx="334937" cy="100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650" dirty="0"/>
          </a:p>
        </p:txBody>
      </p:sp>
      <p:sp>
        <p:nvSpPr>
          <p:cNvPr id="86" name="Text 77"/>
          <p:cNvSpPr txBox="1"/>
          <p:nvPr/>
        </p:nvSpPr>
        <p:spPr>
          <a:xfrm>
            <a:off x="6531265" y="4823088"/>
            <a:ext cx="1473721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(dob)</a:t>
            </a:r>
            <a:endParaRPr lang="en-US" sz="6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earliest_dob</a:t>
            </a:r>
            <a:endParaRPr lang="en-US" sz="6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student;</a:t>
            </a:r>
            <a:endParaRPr lang="en-US" sz="650" dirty="0"/>
          </a:p>
        </p:txBody>
      </p:sp>
      <p:sp>
        <p:nvSpPr>
          <p:cNvPr id="87" name="Shape 78"/>
          <p:cNvSpPr/>
          <p:nvPr/>
        </p:nvSpPr>
        <p:spPr>
          <a:xfrm>
            <a:off x="6665240" y="5258506"/>
            <a:ext cx="1172278" cy="485658"/>
          </a:xfrm>
          <a:prstGeom prst="roundRect">
            <a:avLst>
              <a:gd name="adj" fmla="val 1129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88" name="Text 79"/>
          <p:cNvSpPr txBox="1"/>
          <p:nvPr/>
        </p:nvSpPr>
        <p:spPr>
          <a:xfrm>
            <a:off x="6665240" y="5292000"/>
            <a:ext cx="117227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earliest_dob</a:t>
            </a:r>
            <a:endParaRPr lang="en-US" sz="800" dirty="0"/>
          </a:p>
        </p:txBody>
      </p:sp>
      <p:sp>
        <p:nvSpPr>
          <p:cNvPr id="89" name="Text 80"/>
          <p:cNvSpPr txBox="1"/>
          <p:nvPr/>
        </p:nvSpPr>
        <p:spPr>
          <a:xfrm>
            <a:off x="6665240" y="5492962"/>
            <a:ext cx="117227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2006-01-18</a:t>
            </a:r>
            <a:endParaRPr lang="en-US" sz="1100" dirty="0"/>
          </a:p>
        </p:txBody>
      </p:sp>
      <p:sp>
        <p:nvSpPr>
          <p:cNvPr id="90" name="Shape 81"/>
          <p:cNvSpPr/>
          <p:nvPr/>
        </p:nvSpPr>
        <p:spPr>
          <a:xfrm>
            <a:off x="8239442" y="4303936"/>
            <a:ext cx="1741671" cy="1540709"/>
          </a:xfrm>
          <a:prstGeom prst="roundRect">
            <a:avLst>
              <a:gd name="adj" fmla="val 3561"/>
            </a:avLst>
          </a:prstGeom>
          <a:solidFill>
            <a:srgbClr val="FCECE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91" name="Text 82"/>
          <p:cNvSpPr txBox="1"/>
          <p:nvPr/>
        </p:nvSpPr>
        <p:spPr>
          <a:xfrm>
            <a:off x="8323177" y="4354177"/>
            <a:ext cx="159094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MAX()</a:t>
            </a:r>
            <a:endParaRPr lang="en-US" sz="1400" dirty="0"/>
          </a:p>
        </p:txBody>
      </p:sp>
      <p:sp>
        <p:nvSpPr>
          <p:cNvPr id="92" name="Text 83"/>
          <p:cNvSpPr txBox="1"/>
          <p:nvPr/>
        </p:nvSpPr>
        <p:spPr>
          <a:xfrm>
            <a:off x="8323177" y="4571886"/>
            <a:ext cx="1590949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maximum value.</a:t>
            </a:r>
            <a:endParaRPr lang="en-US" sz="900" dirty="0"/>
          </a:p>
        </p:txBody>
      </p:sp>
      <p:sp>
        <p:nvSpPr>
          <p:cNvPr id="93" name="Shape 84"/>
          <p:cNvSpPr/>
          <p:nvPr/>
        </p:nvSpPr>
        <p:spPr>
          <a:xfrm>
            <a:off x="8306430" y="4772848"/>
            <a:ext cx="1607696" cy="435418"/>
          </a:xfrm>
          <a:prstGeom prst="roundRect">
            <a:avLst>
              <a:gd name="adj" fmla="val 12600"/>
            </a:avLst>
          </a:prstGeom>
          <a:solidFill>
            <a:srgbClr val="0F172A"/>
          </a:solidFill>
          <a:ln/>
        </p:spPr>
      </p:sp>
      <p:sp>
        <p:nvSpPr>
          <p:cNvPr id="94" name="Text 85"/>
          <p:cNvSpPr txBox="1"/>
          <p:nvPr/>
        </p:nvSpPr>
        <p:spPr>
          <a:xfrm>
            <a:off x="9528949" y="4797968"/>
            <a:ext cx="334937" cy="100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650" dirty="0"/>
          </a:p>
        </p:txBody>
      </p:sp>
      <p:sp>
        <p:nvSpPr>
          <p:cNvPr id="95" name="Text 86"/>
          <p:cNvSpPr txBox="1"/>
          <p:nvPr/>
        </p:nvSpPr>
        <p:spPr>
          <a:xfrm>
            <a:off x="8390164" y="4823088"/>
            <a:ext cx="1473721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(credits)</a:t>
            </a:r>
            <a:endParaRPr lang="en-US" sz="6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max_credits</a:t>
            </a:r>
            <a:endParaRPr lang="en-US" sz="6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6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course;</a:t>
            </a:r>
            <a:endParaRPr lang="en-US" sz="650" dirty="0"/>
          </a:p>
        </p:txBody>
      </p:sp>
      <p:sp>
        <p:nvSpPr>
          <p:cNvPr id="96" name="Shape 87"/>
          <p:cNvSpPr/>
          <p:nvPr/>
        </p:nvSpPr>
        <p:spPr>
          <a:xfrm>
            <a:off x="8524139" y="5258506"/>
            <a:ext cx="1172278" cy="485658"/>
          </a:xfrm>
          <a:prstGeom prst="roundRect">
            <a:avLst>
              <a:gd name="adj" fmla="val 1129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97" name="Text 88"/>
          <p:cNvSpPr txBox="1"/>
          <p:nvPr/>
        </p:nvSpPr>
        <p:spPr>
          <a:xfrm>
            <a:off x="8524139" y="5292000"/>
            <a:ext cx="117227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max_credits</a:t>
            </a:r>
            <a:endParaRPr lang="en-US" sz="800" dirty="0"/>
          </a:p>
        </p:txBody>
      </p:sp>
      <p:sp>
        <p:nvSpPr>
          <p:cNvPr id="98" name="Text 89"/>
          <p:cNvSpPr txBox="1"/>
          <p:nvPr/>
        </p:nvSpPr>
        <p:spPr>
          <a:xfrm>
            <a:off x="8524139" y="5492962"/>
            <a:ext cx="117227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99" name="Shape 90"/>
          <p:cNvSpPr/>
          <p:nvPr/>
        </p:nvSpPr>
        <p:spPr>
          <a:xfrm>
            <a:off x="10098341" y="4303936"/>
            <a:ext cx="1741671" cy="1540709"/>
          </a:xfrm>
          <a:prstGeom prst="roundRect">
            <a:avLst>
              <a:gd name="adj" fmla="val 3561"/>
            </a:avLst>
          </a:prstGeom>
          <a:solidFill>
            <a:srgbClr val="EEF4FD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10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2316" y="4437911"/>
            <a:ext cx="217709" cy="217709"/>
          </a:xfrm>
          <a:prstGeom prst="rect">
            <a:avLst/>
          </a:prstGeom>
        </p:spPr>
      </p:pic>
      <p:sp>
        <p:nvSpPr>
          <p:cNvPr id="101" name="Text 91"/>
          <p:cNvSpPr txBox="1"/>
          <p:nvPr/>
        </p:nvSpPr>
        <p:spPr>
          <a:xfrm>
            <a:off x="10232316" y="4739354"/>
            <a:ext cx="1490468" cy="92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Aggregate functions help us analyze data and get valuable insights from our database.</a:t>
            </a:r>
            <a:endParaRPr lang="en-US" sz="1100" dirty="0"/>
          </a:p>
        </p:txBody>
      </p:sp>
      <p:sp>
        <p:nvSpPr>
          <p:cNvPr id="104" name="Text 94"/>
          <p:cNvSpPr txBox="1"/>
          <p:nvPr/>
        </p:nvSpPr>
        <p:spPr>
          <a:xfrm>
            <a:off x="535899" y="6045607"/>
            <a:ext cx="3064671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5" name="Shape 95"/>
          <p:cNvSpPr/>
          <p:nvPr/>
        </p:nvSpPr>
        <p:spPr>
          <a:xfrm>
            <a:off x="5024050" y="5945126"/>
            <a:ext cx="334937" cy="334937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0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1086" y="6022162"/>
            <a:ext cx="180866" cy="180866"/>
          </a:xfrm>
          <a:prstGeom prst="rect">
            <a:avLst/>
          </a:prstGeom>
        </p:spPr>
      </p:pic>
      <p:sp>
        <p:nvSpPr>
          <p:cNvPr id="107" name="Text 96"/>
          <p:cNvSpPr txBox="1"/>
          <p:nvPr/>
        </p:nvSpPr>
        <p:spPr>
          <a:xfrm>
            <a:off x="4730981" y="6313556"/>
            <a:ext cx="92107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900" dirty="0"/>
          </a:p>
        </p:txBody>
      </p:sp>
      <p:sp>
        <p:nvSpPr>
          <p:cNvPr id="108" name="Shape 97"/>
          <p:cNvSpPr/>
          <p:nvPr/>
        </p:nvSpPr>
        <p:spPr>
          <a:xfrm>
            <a:off x="6012113" y="5945126"/>
            <a:ext cx="334937" cy="334937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0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149" y="6022162"/>
            <a:ext cx="180866" cy="180866"/>
          </a:xfrm>
          <a:prstGeom prst="rect">
            <a:avLst/>
          </a:prstGeom>
        </p:spPr>
      </p:pic>
      <p:sp>
        <p:nvSpPr>
          <p:cNvPr id="110" name="Text 98"/>
          <p:cNvSpPr txBox="1"/>
          <p:nvPr/>
        </p:nvSpPr>
        <p:spPr>
          <a:xfrm>
            <a:off x="5719044" y="6313556"/>
            <a:ext cx="92107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endParaRPr lang="en-US" sz="900" dirty="0"/>
          </a:p>
        </p:txBody>
      </p:sp>
      <p:sp>
        <p:nvSpPr>
          <p:cNvPr id="111" name="Shape 99"/>
          <p:cNvSpPr/>
          <p:nvPr/>
        </p:nvSpPr>
        <p:spPr>
          <a:xfrm>
            <a:off x="7000177" y="5945126"/>
            <a:ext cx="334937" cy="334937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1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7212" y="6022162"/>
            <a:ext cx="180866" cy="180866"/>
          </a:xfrm>
          <a:prstGeom prst="rect">
            <a:avLst/>
          </a:prstGeom>
        </p:spPr>
      </p:pic>
      <p:sp>
        <p:nvSpPr>
          <p:cNvPr id="113" name="Text 100"/>
          <p:cNvSpPr txBox="1"/>
          <p:nvPr/>
        </p:nvSpPr>
        <p:spPr>
          <a:xfrm>
            <a:off x="6707107" y="6313556"/>
            <a:ext cx="92107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900" dirty="0"/>
          </a:p>
        </p:txBody>
      </p:sp>
      <p:sp>
        <p:nvSpPr>
          <p:cNvPr id="114" name="Shape 101"/>
          <p:cNvSpPr/>
          <p:nvPr/>
        </p:nvSpPr>
        <p:spPr>
          <a:xfrm>
            <a:off x="7988240" y="5945126"/>
            <a:ext cx="334937" cy="334937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1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5275" y="6022162"/>
            <a:ext cx="180866" cy="180866"/>
          </a:xfrm>
          <a:prstGeom prst="rect">
            <a:avLst/>
          </a:prstGeom>
        </p:spPr>
      </p:pic>
      <p:sp>
        <p:nvSpPr>
          <p:cNvPr id="116" name="Text 102"/>
          <p:cNvSpPr txBox="1"/>
          <p:nvPr/>
        </p:nvSpPr>
        <p:spPr>
          <a:xfrm>
            <a:off x="7695170" y="6313556"/>
            <a:ext cx="92107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</a:t>
            </a:r>
            <a:endParaRPr lang="en-US" sz="900" dirty="0"/>
          </a:p>
        </p:txBody>
      </p:sp>
      <p:sp>
        <p:nvSpPr>
          <p:cNvPr id="117" name="Text 103"/>
          <p:cNvSpPr txBox="1"/>
          <p:nvPr/>
        </p:nvSpPr>
        <p:spPr>
          <a:xfrm>
            <a:off x="9210759" y="6045607"/>
            <a:ext cx="2512025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72F0ABCE-DD62-753C-E7F4-43A145C531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462" y="147532"/>
            <a:ext cx="477285" cy="4553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440228" y="200962"/>
            <a:ext cx="3600569" cy="38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</a:t>
            </a:r>
            <a:r>
              <a:rPr lang="en-US" sz="27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1465348" y="602886"/>
            <a:ext cx="301443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7787278" y="150722"/>
            <a:ext cx="2930696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787278" y="385177"/>
            <a:ext cx="293069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84215" y="1021557"/>
            <a:ext cx="770354" cy="636380"/>
          </a:xfrm>
          <a:prstGeom prst="roundRect">
            <a:avLst>
              <a:gd name="adj" fmla="val 25864"/>
            </a:avLst>
          </a:prstGeom>
          <a:solidFill>
            <a:srgbClr val="1228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4215" y="1021557"/>
            <a:ext cx="770354" cy="63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155532" y="971316"/>
            <a:ext cx="10048100" cy="485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VIEWS, </a:t>
            </a:r>
            <a:r>
              <a:rPr lang="en-US" sz="29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</a:t>
            </a:r>
            <a:r>
              <a:rPr lang="en-US" sz="2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VALIDATION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1172278" y="1473721"/>
            <a:ext cx="9210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data consistency, security and accurate information retrieval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4937" y="6548012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ACADEMIC MANAGEMENT SYSTEM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8205949" y="6548012"/>
            <a:ext cx="360056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334937" y="1791911"/>
            <a:ext cx="4102974" cy="4002493"/>
          </a:xfrm>
          <a:prstGeom prst="roundRect">
            <a:avLst>
              <a:gd name="adj" fmla="val 914"/>
            </a:avLst>
          </a:prstGeom>
          <a:solidFill>
            <a:srgbClr val="EAF1FB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58" y="1909139"/>
            <a:ext cx="351684" cy="35168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71316" y="1875645"/>
            <a:ext cx="1674683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971316" y="2076607"/>
            <a:ext cx="3349367" cy="368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view is a virtual table based on one or more tables to simplify complex queries and provide restricted access.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468911" y="2528772"/>
            <a:ext cx="3768038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View to get student details with department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2165" y="2712987"/>
            <a:ext cx="3868519" cy="1155532"/>
          </a:xfrm>
          <a:prstGeom prst="roundRect">
            <a:avLst>
              <a:gd name="adj" fmla="val 4748"/>
            </a:avLst>
          </a:prstGeom>
          <a:solidFill>
            <a:srgbClr val="0F172A"/>
          </a:solidFill>
          <a:ln/>
        </p:spPr>
      </p:sp>
      <p:sp>
        <p:nvSpPr>
          <p:cNvPr id="22" name="Shape 18"/>
          <p:cNvSpPr/>
          <p:nvPr/>
        </p:nvSpPr>
        <p:spPr>
          <a:xfrm>
            <a:off x="535899" y="2788348"/>
            <a:ext cx="75361" cy="75361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19"/>
          <p:cNvSpPr/>
          <p:nvPr/>
        </p:nvSpPr>
        <p:spPr>
          <a:xfrm>
            <a:off x="669873" y="2788348"/>
            <a:ext cx="75361" cy="75361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20"/>
          <p:cNvSpPr/>
          <p:nvPr/>
        </p:nvSpPr>
        <p:spPr>
          <a:xfrm>
            <a:off x="803848" y="2788348"/>
            <a:ext cx="75361" cy="75361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3567076" y="2746481"/>
            <a:ext cx="669873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535899" y="2930696"/>
            <a:ext cx="3734544" cy="904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student_details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s.student_id, s.name, s.email,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d.dept_name, c.course_id, c.title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 s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 d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s.dept_id = d.dept_id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enrollment e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s.student_id = e.student_id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course c </a:t>
            </a:r>
            <a:r>
              <a:rPr lang="en-US" sz="80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8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e.course_id = c.course_id;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468911" y="3969000"/>
            <a:ext cx="2512025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Querying the View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2165" y="4153215"/>
            <a:ext cx="3868519" cy="468911"/>
          </a:xfrm>
          <a:prstGeom prst="roundRect">
            <a:avLst>
              <a:gd name="adj" fmla="val 11700"/>
            </a:avLst>
          </a:prstGeom>
          <a:solidFill>
            <a:srgbClr val="0F172A"/>
          </a:solidFill>
          <a:ln/>
        </p:spPr>
      </p:sp>
      <p:sp>
        <p:nvSpPr>
          <p:cNvPr id="29" name="Shape 25"/>
          <p:cNvSpPr/>
          <p:nvPr/>
        </p:nvSpPr>
        <p:spPr>
          <a:xfrm>
            <a:off x="535899" y="4228576"/>
            <a:ext cx="75361" cy="75361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0" name="Shape 26"/>
          <p:cNvSpPr/>
          <p:nvPr/>
        </p:nvSpPr>
        <p:spPr>
          <a:xfrm>
            <a:off x="669873" y="4228576"/>
            <a:ext cx="75361" cy="75361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1" name="Shape 27"/>
          <p:cNvSpPr/>
          <p:nvPr/>
        </p:nvSpPr>
        <p:spPr>
          <a:xfrm>
            <a:off x="803848" y="4228576"/>
            <a:ext cx="75361" cy="75361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3567076" y="4186709"/>
            <a:ext cx="669873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535899" y="4370924"/>
            <a:ext cx="3734544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850" dirty="0">
                <a:solidFill>
                  <a:srgbClr val="63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student_details;</a:t>
            </a:r>
            <a:endParaRPr lang="en-US" sz="8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165" y="4705860"/>
          <a:ext cx="3868518" cy="578742"/>
        </p:xfrm>
        <a:graphic>
          <a:graphicData uri="http://schemas.openxmlformats.org/drawingml/2006/table">
            <a:tbl>
              <a:tblPr/>
              <a:tblGrid>
                <a:gridCol w="573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4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4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student_id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dept_name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course_id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25B11DS045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Rohith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rohithb@aditya.edu.in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Science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C101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DBMS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25B11DS211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K. Siva Lakshmi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sivalk@aditya.edu.in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Science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C101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DBMS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Shape 30"/>
          <p:cNvSpPr/>
          <p:nvPr/>
        </p:nvSpPr>
        <p:spPr>
          <a:xfrm>
            <a:off x="452165" y="5358987"/>
            <a:ext cx="3868519" cy="251203"/>
          </a:xfrm>
          <a:prstGeom prst="roundRect">
            <a:avLst>
              <a:gd name="adj" fmla="val 18200"/>
            </a:avLst>
          </a:prstGeom>
          <a:solidFill>
            <a:srgbClr val="E8F5EC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519152" y="5358987"/>
            <a:ext cx="3768038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View created and executed successfully.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4571886" y="1791911"/>
            <a:ext cx="3684303" cy="4002493"/>
          </a:xfrm>
          <a:prstGeom prst="roundRect">
            <a:avLst>
              <a:gd name="adj" fmla="val 993"/>
            </a:avLst>
          </a:prstGeom>
          <a:solidFill>
            <a:srgbClr val="E8F5EC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860" y="1892392"/>
            <a:ext cx="334937" cy="334937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5158025" y="1858899"/>
            <a:ext cx="2846962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5158025" y="2076607"/>
            <a:ext cx="3014430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Maintaining accurate, consistent and reliable data using database constraints.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4672367" y="2445038"/>
            <a:ext cx="3483341" cy="653127"/>
          </a:xfrm>
          <a:prstGeom prst="roundRect">
            <a:avLst>
              <a:gd name="adj" fmla="val 8400"/>
            </a:avLst>
          </a:prstGeom>
          <a:solidFill>
            <a:srgbClr val="FCECEC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848" y="2629253"/>
            <a:ext cx="284696" cy="284696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5174772" y="2495278"/>
            <a:ext cx="2846962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</a:t>
            </a:r>
            <a:endParaRPr lang="en-US" sz="1050" dirty="0"/>
          </a:p>
        </p:txBody>
      </p:sp>
      <p:sp>
        <p:nvSpPr>
          <p:cNvPr id="44" name="Text 37"/>
          <p:cNvSpPr txBox="1"/>
          <p:nvPr/>
        </p:nvSpPr>
        <p:spPr>
          <a:xfrm>
            <a:off x="5174772" y="2654373"/>
            <a:ext cx="2846962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each record is unique.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5174772" y="2796721"/>
            <a:ext cx="2930696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student_id INT PRIMARY KEY</a:t>
            </a:r>
            <a:endParaRPr lang="en-US" sz="850" dirty="0"/>
          </a:p>
        </p:txBody>
      </p:sp>
      <p:sp>
        <p:nvSpPr>
          <p:cNvPr id="46" name="Shape 39"/>
          <p:cNvSpPr/>
          <p:nvPr/>
        </p:nvSpPr>
        <p:spPr>
          <a:xfrm>
            <a:off x="4672367" y="3148405"/>
            <a:ext cx="3483341" cy="653127"/>
          </a:xfrm>
          <a:prstGeom prst="roundRect">
            <a:avLst>
              <a:gd name="adj" fmla="val 8400"/>
            </a:avLst>
          </a:prstGeom>
          <a:solidFill>
            <a:srgbClr val="EAF1FB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848" y="3332620"/>
            <a:ext cx="284696" cy="284696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5174772" y="3198645"/>
            <a:ext cx="2846962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</a:t>
            </a:r>
            <a:endParaRPr lang="en-US" sz="1050" dirty="0"/>
          </a:p>
        </p:txBody>
      </p:sp>
      <p:sp>
        <p:nvSpPr>
          <p:cNvPr id="49" name="Text 41"/>
          <p:cNvSpPr txBox="1"/>
          <p:nvPr/>
        </p:nvSpPr>
        <p:spPr>
          <a:xfrm>
            <a:off x="5174772" y="3357740"/>
            <a:ext cx="2846962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relationships between tables.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5174772" y="3500088"/>
            <a:ext cx="2930696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dept_id INT, FOREIGN KEY (dept_id) REFERENCES department(dept_id)</a:t>
            </a:r>
            <a:endParaRPr lang="en-US" sz="850" dirty="0"/>
          </a:p>
        </p:txBody>
      </p:sp>
      <p:sp>
        <p:nvSpPr>
          <p:cNvPr id="51" name="Shape 43"/>
          <p:cNvSpPr/>
          <p:nvPr/>
        </p:nvSpPr>
        <p:spPr>
          <a:xfrm>
            <a:off x="4672367" y="3851772"/>
            <a:ext cx="3483341" cy="653127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848" y="4035987"/>
            <a:ext cx="284696" cy="284696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5174772" y="3902012"/>
            <a:ext cx="2846962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NULL</a:t>
            </a:r>
            <a:endParaRPr lang="en-US" sz="1050" dirty="0"/>
          </a:p>
        </p:txBody>
      </p:sp>
      <p:sp>
        <p:nvSpPr>
          <p:cNvPr id="54" name="Text 45"/>
          <p:cNvSpPr txBox="1"/>
          <p:nvPr/>
        </p:nvSpPr>
        <p:spPr>
          <a:xfrm>
            <a:off x="5174772" y="4061107"/>
            <a:ext cx="2846962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required fields are not empty.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5174772" y="4203455"/>
            <a:ext cx="2930696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name VARCHAR(100) NOT NULL</a:t>
            </a:r>
            <a:endParaRPr lang="en-US" sz="850" dirty="0"/>
          </a:p>
        </p:txBody>
      </p:sp>
      <p:sp>
        <p:nvSpPr>
          <p:cNvPr id="56" name="Shape 47"/>
          <p:cNvSpPr/>
          <p:nvPr/>
        </p:nvSpPr>
        <p:spPr>
          <a:xfrm>
            <a:off x="4672367" y="4555139"/>
            <a:ext cx="3483341" cy="653127"/>
          </a:xfrm>
          <a:prstGeom prst="roundRect">
            <a:avLst>
              <a:gd name="adj" fmla="val 8400"/>
            </a:avLst>
          </a:prstGeom>
          <a:solidFill>
            <a:srgbClr val="F0EDFB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2848" y="4739354"/>
            <a:ext cx="284696" cy="284696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5174772" y="4605379"/>
            <a:ext cx="2846962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</a:t>
            </a:r>
            <a:endParaRPr lang="en-US" sz="1050" dirty="0"/>
          </a:p>
        </p:txBody>
      </p:sp>
      <p:sp>
        <p:nvSpPr>
          <p:cNvPr id="59" name="Text 49"/>
          <p:cNvSpPr txBox="1"/>
          <p:nvPr/>
        </p:nvSpPr>
        <p:spPr>
          <a:xfrm>
            <a:off x="5174772" y="4764474"/>
            <a:ext cx="2846962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duplicate values.</a:t>
            </a:r>
            <a:endParaRPr lang="en-US" sz="900" dirty="0"/>
          </a:p>
        </p:txBody>
      </p:sp>
      <p:sp>
        <p:nvSpPr>
          <p:cNvPr id="60" name="Text 50"/>
          <p:cNvSpPr txBox="1"/>
          <p:nvPr/>
        </p:nvSpPr>
        <p:spPr>
          <a:xfrm>
            <a:off x="5174772" y="4906822"/>
            <a:ext cx="2930696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email VARCHAR(100) UNIQUE</a:t>
            </a:r>
            <a:endParaRPr lang="en-US" sz="850" dirty="0"/>
          </a:p>
        </p:txBody>
      </p:sp>
      <p:sp>
        <p:nvSpPr>
          <p:cNvPr id="61" name="Text 51"/>
          <p:cNvSpPr txBox="1"/>
          <p:nvPr/>
        </p:nvSpPr>
        <p:spPr>
          <a:xfrm>
            <a:off x="4689114" y="5292000"/>
            <a:ext cx="3449848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“Constraints keep our data accurate, consistent and trustworthy.”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8390164" y="1791911"/>
            <a:ext cx="3466595" cy="4002493"/>
          </a:xfrm>
          <a:prstGeom prst="roundRect">
            <a:avLst>
              <a:gd name="adj" fmla="val 1055"/>
            </a:avLst>
          </a:prstGeom>
          <a:solidFill>
            <a:srgbClr val="FDEFE6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4139" y="1892392"/>
            <a:ext cx="334937" cy="334937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8976303" y="1858899"/>
            <a:ext cx="2679493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65" name="Text 54"/>
          <p:cNvSpPr txBox="1"/>
          <p:nvPr/>
        </p:nvSpPr>
        <p:spPr>
          <a:xfrm>
            <a:off x="8976303" y="2076607"/>
            <a:ext cx="2763228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appropriate data types and constraints to prevent invalid data entry.</a:t>
            </a:r>
            <a:endParaRPr lang="en-US" sz="950" dirty="0"/>
          </a:p>
        </p:txBody>
      </p:sp>
      <p:sp>
        <p:nvSpPr>
          <p:cNvPr id="66" name="Shape 55"/>
          <p:cNvSpPr/>
          <p:nvPr/>
        </p:nvSpPr>
        <p:spPr>
          <a:xfrm>
            <a:off x="8490645" y="2445038"/>
            <a:ext cx="3265633" cy="2512025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/>
        </p:spPr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1126" y="2595759"/>
            <a:ext cx="217709" cy="217709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8926063" y="2512025"/>
            <a:ext cx="276322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Data Types</a:t>
            </a:r>
            <a:endParaRPr lang="en-US" sz="1000" dirty="0"/>
          </a:p>
        </p:txBody>
      </p:sp>
      <p:sp>
        <p:nvSpPr>
          <p:cNvPr id="69" name="Text 57"/>
          <p:cNvSpPr txBox="1"/>
          <p:nvPr/>
        </p:nvSpPr>
        <p:spPr>
          <a:xfrm>
            <a:off x="8926063" y="2654373"/>
            <a:ext cx="2763228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suitable data types (INT, VARCHAR, DATE, etc.) for each column.</a:t>
            </a:r>
            <a:endParaRPr lang="en-US" sz="850" dirty="0"/>
          </a:p>
        </p:txBody>
      </p:sp>
      <p:sp>
        <p:nvSpPr>
          <p:cNvPr id="70" name="Shape 58"/>
          <p:cNvSpPr/>
          <p:nvPr/>
        </p:nvSpPr>
        <p:spPr>
          <a:xfrm>
            <a:off x="8591126" y="2964190"/>
            <a:ext cx="3081417" cy="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pic>
        <p:nvPicPr>
          <p:cNvPr id="7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1126" y="3081417"/>
            <a:ext cx="217709" cy="217709"/>
          </a:xfrm>
          <a:prstGeom prst="rect">
            <a:avLst/>
          </a:prstGeom>
        </p:spPr>
      </p:pic>
      <p:sp>
        <p:nvSpPr>
          <p:cNvPr id="72" name="Text 59"/>
          <p:cNvSpPr txBox="1"/>
          <p:nvPr/>
        </p:nvSpPr>
        <p:spPr>
          <a:xfrm>
            <a:off x="8926063" y="2997683"/>
            <a:ext cx="276322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73" name="Text 60"/>
          <p:cNvSpPr txBox="1"/>
          <p:nvPr/>
        </p:nvSpPr>
        <p:spPr>
          <a:xfrm>
            <a:off x="8926063" y="3140031"/>
            <a:ext cx="2763228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data entered is in the correct format (e.g., valid email, date).</a:t>
            </a:r>
            <a:endParaRPr lang="en-US" sz="850" dirty="0"/>
          </a:p>
        </p:txBody>
      </p:sp>
      <p:sp>
        <p:nvSpPr>
          <p:cNvPr id="74" name="Shape 61"/>
          <p:cNvSpPr/>
          <p:nvPr/>
        </p:nvSpPr>
        <p:spPr>
          <a:xfrm>
            <a:off x="8591126" y="3449848"/>
            <a:ext cx="3081417" cy="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pic>
        <p:nvPicPr>
          <p:cNvPr id="7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126" y="3567076"/>
            <a:ext cx="217709" cy="217709"/>
          </a:xfrm>
          <a:prstGeom prst="rect">
            <a:avLst/>
          </a:prstGeom>
        </p:spPr>
      </p:pic>
      <p:sp>
        <p:nvSpPr>
          <p:cNvPr id="76" name="Text 62"/>
          <p:cNvSpPr txBox="1"/>
          <p:nvPr/>
        </p:nvSpPr>
        <p:spPr>
          <a:xfrm>
            <a:off x="8926063" y="3483341"/>
            <a:ext cx="276322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77" name="Text 63"/>
          <p:cNvSpPr txBox="1"/>
          <p:nvPr/>
        </p:nvSpPr>
        <p:spPr>
          <a:xfrm>
            <a:off x="8926063" y="3625690"/>
            <a:ext cx="2763228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NULL, UNIQUE, PRIMARY KEY and FOREIGN KEY constraints are used.</a:t>
            </a:r>
            <a:endParaRPr lang="en-US" sz="850" dirty="0"/>
          </a:p>
        </p:txBody>
      </p:sp>
      <p:sp>
        <p:nvSpPr>
          <p:cNvPr id="78" name="Shape 64"/>
          <p:cNvSpPr/>
          <p:nvPr/>
        </p:nvSpPr>
        <p:spPr>
          <a:xfrm>
            <a:off x="8591126" y="3935506"/>
            <a:ext cx="3081417" cy="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pic>
        <p:nvPicPr>
          <p:cNvPr id="7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1126" y="4052734"/>
            <a:ext cx="217709" cy="217709"/>
          </a:xfrm>
          <a:prstGeom prst="rect">
            <a:avLst/>
          </a:prstGeom>
        </p:spPr>
      </p:pic>
      <p:sp>
        <p:nvSpPr>
          <p:cNvPr id="80" name="Text 65"/>
          <p:cNvSpPr txBox="1"/>
          <p:nvPr/>
        </p:nvSpPr>
        <p:spPr>
          <a:xfrm>
            <a:off x="8926063" y="3969000"/>
            <a:ext cx="276322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Rules</a:t>
            </a:r>
            <a:endParaRPr lang="en-US" sz="1000" dirty="0"/>
          </a:p>
        </p:txBody>
      </p:sp>
      <p:sp>
        <p:nvSpPr>
          <p:cNvPr id="81" name="Text 66"/>
          <p:cNvSpPr txBox="1"/>
          <p:nvPr/>
        </p:nvSpPr>
        <p:spPr>
          <a:xfrm>
            <a:off x="8926063" y="4111348"/>
            <a:ext cx="2763228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values are enforced (e.g., valid semester, grade range).</a:t>
            </a:r>
            <a:endParaRPr lang="en-US" sz="850" dirty="0"/>
          </a:p>
        </p:txBody>
      </p:sp>
      <p:sp>
        <p:nvSpPr>
          <p:cNvPr id="82" name="Shape 67"/>
          <p:cNvSpPr/>
          <p:nvPr/>
        </p:nvSpPr>
        <p:spPr>
          <a:xfrm>
            <a:off x="8591126" y="4421164"/>
            <a:ext cx="3081417" cy="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pic>
        <p:nvPicPr>
          <p:cNvPr id="83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1126" y="4538392"/>
            <a:ext cx="217709" cy="217709"/>
          </a:xfrm>
          <a:prstGeom prst="rect">
            <a:avLst/>
          </a:prstGeom>
        </p:spPr>
      </p:pic>
      <p:sp>
        <p:nvSpPr>
          <p:cNvPr id="84" name="Text 68"/>
          <p:cNvSpPr txBox="1"/>
          <p:nvPr/>
        </p:nvSpPr>
        <p:spPr>
          <a:xfrm>
            <a:off x="8926063" y="4454658"/>
            <a:ext cx="276322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Invalid Data</a:t>
            </a:r>
            <a:endParaRPr lang="en-US" sz="1000" dirty="0"/>
          </a:p>
        </p:txBody>
      </p:sp>
      <p:sp>
        <p:nvSpPr>
          <p:cNvPr id="85" name="Text 69"/>
          <p:cNvSpPr txBox="1"/>
          <p:nvPr/>
        </p:nvSpPr>
        <p:spPr>
          <a:xfrm>
            <a:off x="8926063" y="4597006"/>
            <a:ext cx="2763228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constraints and validation rules help maintain data integrity and consistency.</a:t>
            </a:r>
            <a:endParaRPr lang="en-US" sz="850" dirty="0"/>
          </a:p>
        </p:txBody>
      </p:sp>
      <p:sp>
        <p:nvSpPr>
          <p:cNvPr id="86" name="Shape 70"/>
          <p:cNvSpPr/>
          <p:nvPr/>
        </p:nvSpPr>
        <p:spPr>
          <a:xfrm>
            <a:off x="8490645" y="5057544"/>
            <a:ext cx="3265633" cy="63638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F7C9A6"/>
            </a:solidFill>
            <a:prstDash val="solid"/>
          </a:ln>
        </p:spPr>
      </p:sp>
      <p:sp>
        <p:nvSpPr>
          <p:cNvPr id="87" name="Text 71"/>
          <p:cNvSpPr txBox="1"/>
          <p:nvPr/>
        </p:nvSpPr>
        <p:spPr>
          <a:xfrm>
            <a:off x="8607873" y="5057544"/>
            <a:ext cx="3031177" cy="63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r>
              <a:rPr lang="en-US" sz="1050" i="1" dirty="0">
                <a:solidFill>
                  <a:srgbClr val="1228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every step, because good data builds great systems.</a:t>
            </a:r>
            <a:endParaRPr lang="en-US" sz="1050" dirty="0"/>
          </a:p>
        </p:txBody>
      </p:sp>
      <p:pic>
        <p:nvPicPr>
          <p:cNvPr id="88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405" y="6045607"/>
            <a:ext cx="251203" cy="251203"/>
          </a:xfrm>
          <a:prstGeom prst="rect">
            <a:avLst/>
          </a:prstGeom>
        </p:spPr>
      </p:pic>
      <p:sp>
        <p:nvSpPr>
          <p:cNvPr id="89" name="Text 72"/>
          <p:cNvSpPr txBox="1"/>
          <p:nvPr/>
        </p:nvSpPr>
        <p:spPr>
          <a:xfrm>
            <a:off x="837342" y="6012113"/>
            <a:ext cx="1674683" cy="318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Data</a:t>
            </a:r>
            <a:endParaRPr lang="en-US" sz="1050" dirty="0"/>
          </a:p>
        </p:txBody>
      </p:sp>
      <p:pic>
        <p:nvPicPr>
          <p:cNvPr id="90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79493" y="6045607"/>
            <a:ext cx="251203" cy="251203"/>
          </a:xfrm>
          <a:prstGeom prst="rect">
            <a:avLst/>
          </a:prstGeom>
        </p:spPr>
      </p:pic>
      <p:sp>
        <p:nvSpPr>
          <p:cNvPr id="91" name="Text 73"/>
          <p:cNvSpPr txBox="1"/>
          <p:nvPr/>
        </p:nvSpPr>
        <p:spPr>
          <a:xfrm>
            <a:off x="3014430" y="6012113"/>
            <a:ext cx="1674683" cy="318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</a:t>
            </a:r>
            <a:endParaRPr lang="en-US" sz="1050" dirty="0"/>
          </a:p>
        </p:txBody>
      </p:sp>
      <p:pic>
        <p:nvPicPr>
          <p:cNvPr id="92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56582" y="6045607"/>
            <a:ext cx="251203" cy="251203"/>
          </a:xfrm>
          <a:prstGeom prst="rect">
            <a:avLst/>
          </a:prstGeom>
        </p:spPr>
      </p:pic>
      <p:sp>
        <p:nvSpPr>
          <p:cNvPr id="93" name="Text 74"/>
          <p:cNvSpPr txBox="1"/>
          <p:nvPr/>
        </p:nvSpPr>
        <p:spPr>
          <a:xfrm>
            <a:off x="5191519" y="6012113"/>
            <a:ext cx="1674683" cy="318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Decisions</a:t>
            </a:r>
            <a:endParaRPr lang="en-US" sz="1050" dirty="0"/>
          </a:p>
        </p:txBody>
      </p:sp>
      <p:pic>
        <p:nvPicPr>
          <p:cNvPr id="94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670" y="6045607"/>
            <a:ext cx="251203" cy="251203"/>
          </a:xfrm>
          <a:prstGeom prst="rect">
            <a:avLst/>
          </a:prstGeom>
        </p:spPr>
      </p:pic>
      <p:sp>
        <p:nvSpPr>
          <p:cNvPr id="95" name="Text 75"/>
          <p:cNvSpPr txBox="1"/>
          <p:nvPr/>
        </p:nvSpPr>
        <p:spPr>
          <a:xfrm>
            <a:off x="7368607" y="6012113"/>
            <a:ext cx="1674683" cy="318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Management</a:t>
            </a:r>
            <a:endParaRPr lang="en-US" sz="1050" dirty="0"/>
          </a:p>
        </p:txBody>
      </p:sp>
      <p:sp>
        <p:nvSpPr>
          <p:cNvPr id="97" name="Text 77"/>
          <p:cNvSpPr txBox="1"/>
          <p:nvPr/>
        </p:nvSpPr>
        <p:spPr>
          <a:xfrm>
            <a:off x="9428468" y="5995367"/>
            <a:ext cx="2344557" cy="401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2F42B0EA-255D-A2F4-DD9A-BFB02FE8EB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2462" y="147532"/>
            <a:ext cx="477285" cy="4553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440228" y="200962"/>
            <a:ext cx="3600569" cy="38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</a:t>
            </a:r>
            <a:r>
              <a:rPr lang="en-US" sz="27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1465348" y="602886"/>
            <a:ext cx="301443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7787278" y="150722"/>
            <a:ext cx="2930696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787278" y="385177"/>
            <a:ext cx="293069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84215" y="1021557"/>
            <a:ext cx="770354" cy="636380"/>
          </a:xfrm>
          <a:prstGeom prst="roundRect">
            <a:avLst>
              <a:gd name="adj" fmla="val 25864"/>
            </a:avLst>
          </a:prstGeom>
          <a:solidFill>
            <a:srgbClr val="1228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4215" y="1021557"/>
            <a:ext cx="770354" cy="63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155532" y="971316"/>
            <a:ext cx="10048100" cy="485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</a:t>
            </a:r>
            <a:r>
              <a:rPr lang="en-US" sz="29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r>
              <a:rPr lang="en-US" sz="2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FUTURE SCOPE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1172278" y="1473721"/>
            <a:ext cx="9210759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a functional system with scope for real-world impact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4937" y="6548012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ACADEMIC MANAGEMENT SYSTEM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8205949" y="6548012"/>
            <a:ext cx="360056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318190" y="1825405"/>
            <a:ext cx="3181898" cy="4437911"/>
          </a:xfrm>
          <a:prstGeom prst="roundRect">
            <a:avLst>
              <a:gd name="adj" fmla="val 1150"/>
            </a:avLst>
          </a:prstGeom>
          <a:solidFill>
            <a:srgbClr val="EAF1FB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0778" y="1984500"/>
            <a:ext cx="418671" cy="418671"/>
          </a:xfrm>
          <a:prstGeom prst="ellipse">
            <a:avLst/>
          </a:prstGeom>
          <a:solidFill>
            <a:srgbClr val="12285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73" y="2080794"/>
            <a:ext cx="226082" cy="22608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5051" y="2009620"/>
            <a:ext cx="234455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OUTCOMES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055051" y="2244076"/>
            <a:ext cx="2344557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achieved through this project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18671" y="2562266"/>
            <a:ext cx="2980936" cy="552646"/>
          </a:xfrm>
          <a:prstGeom prst="roundRect">
            <a:avLst>
              <a:gd name="adj" fmla="val 992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05" y="2704614"/>
            <a:ext cx="267949" cy="2679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0835" y="2579012"/>
            <a:ext cx="2478531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and implemented a fully functional University Academic Management System using Flask and MySQL.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18671" y="3165152"/>
            <a:ext cx="2980936" cy="552646"/>
          </a:xfrm>
          <a:prstGeom prst="roundRect">
            <a:avLst>
              <a:gd name="adj" fmla="val 992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05" y="3307500"/>
            <a:ext cx="267949" cy="26794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70835" y="3181898"/>
            <a:ext cx="2478531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and normalized the database with multiple related tables (COLLEGE, DEPARTMENT, STUDENT, FACULTY, COURSE, ENROLLMENT).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18671" y="3768038"/>
            <a:ext cx="2980936" cy="552646"/>
          </a:xfrm>
          <a:prstGeom prst="roundRect">
            <a:avLst>
              <a:gd name="adj" fmla="val 992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05" y="3910386"/>
            <a:ext cx="267949" cy="26794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70835" y="3784784"/>
            <a:ext cx="2478531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essential DBMS operations (DDL, DML, DQL) and complex queries with JOINs and aggregate functions.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418671" y="4370924"/>
            <a:ext cx="2980936" cy="552646"/>
          </a:xfrm>
          <a:prstGeom prst="roundRect">
            <a:avLst>
              <a:gd name="adj" fmla="val 992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405" y="4513272"/>
            <a:ext cx="267949" cy="267949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70835" y="4387671"/>
            <a:ext cx="2478531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Ensured data integrity using constraints (PRIMARY KEY, FOREIGN KEY, UNIQUE, NOT NULL).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418671" y="4973810"/>
            <a:ext cx="2980936" cy="552646"/>
          </a:xfrm>
          <a:prstGeom prst="roundRect">
            <a:avLst>
              <a:gd name="adj" fmla="val 992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405" y="5116158"/>
            <a:ext cx="267949" cy="267949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70835" y="4990557"/>
            <a:ext cx="2478531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a user-friendly web interface for easy interaction and data management.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418671" y="5576696"/>
            <a:ext cx="2980936" cy="552646"/>
          </a:xfrm>
          <a:prstGeom prst="roundRect">
            <a:avLst>
              <a:gd name="adj" fmla="val 992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405" y="5719044"/>
            <a:ext cx="267949" cy="267949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70835" y="5593443"/>
            <a:ext cx="2478531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tested the system with sample data and real-time queries.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3600569" y="1858899"/>
            <a:ext cx="1189025" cy="870835"/>
          </a:xfrm>
          <a:prstGeom prst="roundRect">
            <a:avLst>
              <a:gd name="adj" fmla="val 8400"/>
            </a:avLst>
          </a:prstGeom>
          <a:solidFill>
            <a:srgbClr val="EAF1FB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4601" y="1942633"/>
            <a:ext cx="200962" cy="20096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3600569" y="2193835"/>
            <a:ext cx="1189025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39" name="Text 28"/>
          <p:cNvSpPr txBox="1"/>
          <p:nvPr/>
        </p:nvSpPr>
        <p:spPr>
          <a:xfrm>
            <a:off x="3600569" y="2461785"/>
            <a:ext cx="1189025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4856582" y="1858899"/>
            <a:ext cx="1189025" cy="870835"/>
          </a:xfrm>
          <a:prstGeom prst="roundRect">
            <a:avLst>
              <a:gd name="adj" fmla="val 8400"/>
            </a:avLst>
          </a:prstGeom>
          <a:solidFill>
            <a:srgbClr val="E8F5EC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0613" y="1942633"/>
            <a:ext cx="200962" cy="200962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4856582" y="2193835"/>
            <a:ext cx="1189025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43" name="Text 31"/>
          <p:cNvSpPr txBox="1"/>
          <p:nvPr/>
        </p:nvSpPr>
        <p:spPr>
          <a:xfrm>
            <a:off x="4856582" y="2461785"/>
            <a:ext cx="1189025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Tables</a:t>
            </a:r>
            <a:endParaRPr lang="en-US" sz="950" dirty="0"/>
          </a:p>
        </p:txBody>
      </p:sp>
      <p:sp>
        <p:nvSpPr>
          <p:cNvPr id="44" name="Shape 32"/>
          <p:cNvSpPr/>
          <p:nvPr/>
        </p:nvSpPr>
        <p:spPr>
          <a:xfrm>
            <a:off x="6112594" y="1858899"/>
            <a:ext cx="1189025" cy="870835"/>
          </a:xfrm>
          <a:prstGeom prst="roundRect">
            <a:avLst>
              <a:gd name="adj" fmla="val 8400"/>
            </a:avLst>
          </a:prstGeom>
          <a:solidFill>
            <a:srgbClr val="FDEFE6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6626" y="1942633"/>
            <a:ext cx="200962" cy="20096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112594" y="2193835"/>
            <a:ext cx="1189025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1900" dirty="0"/>
          </a:p>
        </p:txBody>
      </p:sp>
      <p:sp>
        <p:nvSpPr>
          <p:cNvPr id="47" name="Text 34"/>
          <p:cNvSpPr txBox="1"/>
          <p:nvPr/>
        </p:nvSpPr>
        <p:spPr>
          <a:xfrm>
            <a:off x="6112594" y="2461785"/>
            <a:ext cx="1189025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</a:t>
            </a:r>
            <a:endParaRPr lang="en-US" sz="950" dirty="0"/>
          </a:p>
        </p:txBody>
      </p:sp>
      <p:sp>
        <p:nvSpPr>
          <p:cNvPr id="48" name="Shape 35"/>
          <p:cNvSpPr/>
          <p:nvPr/>
        </p:nvSpPr>
        <p:spPr>
          <a:xfrm>
            <a:off x="7368607" y="1858899"/>
            <a:ext cx="1189025" cy="870835"/>
          </a:xfrm>
          <a:prstGeom prst="roundRect">
            <a:avLst>
              <a:gd name="adj" fmla="val 8400"/>
            </a:avLst>
          </a:prstGeom>
          <a:solidFill>
            <a:srgbClr val="F0EDFB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2639" y="1942633"/>
            <a:ext cx="200962" cy="200962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7368607" y="2193835"/>
            <a:ext cx="1189025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900" dirty="0"/>
          </a:p>
        </p:txBody>
      </p:sp>
      <p:sp>
        <p:nvSpPr>
          <p:cNvPr id="51" name="Text 37"/>
          <p:cNvSpPr txBox="1"/>
          <p:nvPr/>
        </p:nvSpPr>
        <p:spPr>
          <a:xfrm>
            <a:off x="7368607" y="2461785"/>
            <a:ext cx="1189025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Modules</a:t>
            </a:r>
            <a:endParaRPr lang="en-US" sz="950" dirty="0"/>
          </a:p>
        </p:txBody>
      </p:sp>
      <p:sp>
        <p:nvSpPr>
          <p:cNvPr id="52" name="Shape 38"/>
          <p:cNvSpPr/>
          <p:nvPr/>
        </p:nvSpPr>
        <p:spPr>
          <a:xfrm>
            <a:off x="3600569" y="2846962"/>
            <a:ext cx="4990557" cy="2779974"/>
          </a:xfrm>
          <a:prstGeom prst="roundRect">
            <a:avLst>
              <a:gd name="adj" fmla="val 987"/>
            </a:avLst>
          </a:prstGeom>
          <a:solidFill>
            <a:srgbClr val="12285F"/>
          </a:solidFill>
          <a:ln/>
        </p:spPr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4544" y="2897202"/>
            <a:ext cx="184215" cy="184215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4002493" y="2863709"/>
            <a:ext cx="1674683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INTERFACE</a:t>
            </a:r>
            <a:endParaRPr lang="en-US" sz="1100" dirty="0"/>
          </a:p>
        </p:txBody>
      </p:sp>
      <p:sp>
        <p:nvSpPr>
          <p:cNvPr id="55" name="Text 40"/>
          <p:cNvSpPr txBox="1"/>
          <p:nvPr/>
        </p:nvSpPr>
        <p:spPr>
          <a:xfrm>
            <a:off x="5861392" y="2863709"/>
            <a:ext cx="2595759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 |  Efficient  |  User Friendly</a:t>
            </a:r>
            <a:endParaRPr lang="en-US" sz="950" dirty="0"/>
          </a:p>
        </p:txBody>
      </p:sp>
      <p:sp>
        <p:nvSpPr>
          <p:cNvPr id="56" name="Shape 41"/>
          <p:cNvSpPr/>
          <p:nvPr/>
        </p:nvSpPr>
        <p:spPr>
          <a:xfrm>
            <a:off x="3667557" y="3148405"/>
            <a:ext cx="4856582" cy="2411544"/>
          </a:xfrm>
          <a:prstGeom prst="roundRect">
            <a:avLst>
              <a:gd name="adj" fmla="val 758"/>
            </a:avLst>
          </a:prstGeom>
          <a:solidFill>
            <a:srgbClr val="FFFFFF"/>
          </a:solidFill>
          <a:ln/>
        </p:spPr>
      </p:sp>
      <p:sp>
        <p:nvSpPr>
          <p:cNvPr id="57" name="Text 42"/>
          <p:cNvSpPr txBox="1"/>
          <p:nvPr/>
        </p:nvSpPr>
        <p:spPr>
          <a:xfrm>
            <a:off x="3784784" y="3181898"/>
            <a:ext cx="2177088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University</a:t>
            </a:r>
            <a:endParaRPr lang="en-US" sz="950" dirty="0"/>
          </a:p>
          <a:p>
            <a:pPr marL="0" indent="0">
              <a:buNone/>
            </a:pPr>
            <a:r>
              <a:rPr lang="en-US" sz="6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Management System</a:t>
            </a:r>
            <a:endParaRPr lang="en-US" sz="950" dirty="0"/>
          </a:p>
        </p:txBody>
      </p:sp>
      <p:sp>
        <p:nvSpPr>
          <p:cNvPr id="58" name="Text 43"/>
          <p:cNvSpPr txBox="1"/>
          <p:nvPr/>
        </p:nvSpPr>
        <p:spPr>
          <a:xfrm>
            <a:off x="7201139" y="3181898"/>
            <a:ext cx="1004810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Welcome, Admin</a:t>
            </a:r>
            <a:endParaRPr lang="en-US" sz="750" dirty="0"/>
          </a:p>
        </p:txBody>
      </p:sp>
      <p:sp>
        <p:nvSpPr>
          <p:cNvPr id="59" name="Shape 44"/>
          <p:cNvSpPr/>
          <p:nvPr/>
        </p:nvSpPr>
        <p:spPr>
          <a:xfrm>
            <a:off x="3734544" y="3500088"/>
            <a:ext cx="904329" cy="1976126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60" name="Shape 45"/>
          <p:cNvSpPr/>
          <p:nvPr/>
        </p:nvSpPr>
        <p:spPr>
          <a:xfrm>
            <a:off x="3751291" y="3567076"/>
            <a:ext cx="870835" cy="200962"/>
          </a:xfrm>
          <a:prstGeom prst="roundRect">
            <a:avLst>
              <a:gd name="adj" fmla="val 91002"/>
            </a:avLst>
          </a:prstGeom>
          <a:solidFill>
            <a:srgbClr val="DCE8F7"/>
          </a:solidFill>
          <a:ln/>
        </p:spPr>
      </p:sp>
      <p:sp>
        <p:nvSpPr>
          <p:cNvPr id="61" name="Text 46"/>
          <p:cNvSpPr txBox="1"/>
          <p:nvPr/>
        </p:nvSpPr>
        <p:spPr>
          <a:xfrm>
            <a:off x="3835025" y="3567076"/>
            <a:ext cx="753608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750" dirty="0"/>
          </a:p>
        </p:txBody>
      </p:sp>
      <p:sp>
        <p:nvSpPr>
          <p:cNvPr id="62" name="Text 47"/>
          <p:cNvSpPr txBox="1"/>
          <p:nvPr/>
        </p:nvSpPr>
        <p:spPr>
          <a:xfrm>
            <a:off x="3835025" y="3784784"/>
            <a:ext cx="753608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750" dirty="0"/>
          </a:p>
        </p:txBody>
      </p:sp>
      <p:sp>
        <p:nvSpPr>
          <p:cNvPr id="63" name="Text 48"/>
          <p:cNvSpPr txBox="1"/>
          <p:nvPr/>
        </p:nvSpPr>
        <p:spPr>
          <a:xfrm>
            <a:off x="3835025" y="4002493"/>
            <a:ext cx="753608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endParaRPr lang="en-US" sz="750" dirty="0"/>
          </a:p>
        </p:txBody>
      </p:sp>
      <p:sp>
        <p:nvSpPr>
          <p:cNvPr id="64" name="Text 49"/>
          <p:cNvSpPr txBox="1"/>
          <p:nvPr/>
        </p:nvSpPr>
        <p:spPr>
          <a:xfrm>
            <a:off x="3835025" y="4220202"/>
            <a:ext cx="753608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</a:t>
            </a:r>
            <a:endParaRPr lang="en-US" sz="750" dirty="0"/>
          </a:p>
        </p:txBody>
      </p:sp>
      <p:sp>
        <p:nvSpPr>
          <p:cNvPr id="65" name="Text 50"/>
          <p:cNvSpPr txBox="1"/>
          <p:nvPr/>
        </p:nvSpPr>
        <p:spPr>
          <a:xfrm>
            <a:off x="3835025" y="4437911"/>
            <a:ext cx="753608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750" dirty="0"/>
          </a:p>
        </p:txBody>
      </p:sp>
      <p:sp>
        <p:nvSpPr>
          <p:cNvPr id="66" name="Text 51"/>
          <p:cNvSpPr txBox="1"/>
          <p:nvPr/>
        </p:nvSpPr>
        <p:spPr>
          <a:xfrm>
            <a:off x="3835025" y="4655620"/>
            <a:ext cx="753608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Enrollments</a:t>
            </a:r>
            <a:endParaRPr lang="en-US" sz="750" dirty="0"/>
          </a:p>
        </p:txBody>
      </p:sp>
      <p:sp>
        <p:nvSpPr>
          <p:cNvPr id="67" name="Text 52"/>
          <p:cNvSpPr txBox="1"/>
          <p:nvPr/>
        </p:nvSpPr>
        <p:spPr>
          <a:xfrm>
            <a:off x="3835025" y="4873329"/>
            <a:ext cx="753608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750" dirty="0"/>
          </a:p>
        </p:txBody>
      </p:sp>
      <p:sp>
        <p:nvSpPr>
          <p:cNvPr id="68" name="Shape 53"/>
          <p:cNvSpPr/>
          <p:nvPr/>
        </p:nvSpPr>
        <p:spPr>
          <a:xfrm>
            <a:off x="4739354" y="3516835"/>
            <a:ext cx="887582" cy="418671"/>
          </a:xfrm>
          <a:prstGeom prst="roundRect">
            <a:avLst>
              <a:gd name="adj" fmla="val 17472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69" name="Text 54"/>
          <p:cNvSpPr txBox="1"/>
          <p:nvPr/>
        </p:nvSpPr>
        <p:spPr>
          <a:xfrm>
            <a:off x="4806341" y="3550329"/>
            <a:ext cx="753608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</a:t>
            </a:r>
            <a:endParaRPr lang="en-US" sz="1300" dirty="0"/>
          </a:p>
        </p:txBody>
      </p:sp>
      <p:sp>
        <p:nvSpPr>
          <p:cNvPr id="70" name="Text 55"/>
          <p:cNvSpPr txBox="1"/>
          <p:nvPr/>
        </p:nvSpPr>
        <p:spPr>
          <a:xfrm>
            <a:off x="4806341" y="3751291"/>
            <a:ext cx="80384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Students</a:t>
            </a:r>
            <a:endParaRPr lang="en-US" sz="650" dirty="0"/>
          </a:p>
        </p:txBody>
      </p:sp>
      <p:sp>
        <p:nvSpPr>
          <p:cNvPr id="71" name="Shape 56"/>
          <p:cNvSpPr/>
          <p:nvPr/>
        </p:nvSpPr>
        <p:spPr>
          <a:xfrm>
            <a:off x="5677177" y="3516835"/>
            <a:ext cx="887582" cy="418671"/>
          </a:xfrm>
          <a:prstGeom prst="roundRect">
            <a:avLst>
              <a:gd name="adj" fmla="val 17472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2" name="Text 57"/>
          <p:cNvSpPr txBox="1"/>
          <p:nvPr/>
        </p:nvSpPr>
        <p:spPr>
          <a:xfrm>
            <a:off x="5744164" y="3550329"/>
            <a:ext cx="753608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73" name="Text 58"/>
          <p:cNvSpPr txBox="1"/>
          <p:nvPr/>
        </p:nvSpPr>
        <p:spPr>
          <a:xfrm>
            <a:off x="5744164" y="3751291"/>
            <a:ext cx="80384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Faculty</a:t>
            </a:r>
            <a:endParaRPr lang="en-US" sz="650" dirty="0"/>
          </a:p>
        </p:txBody>
      </p:sp>
      <p:sp>
        <p:nvSpPr>
          <p:cNvPr id="74" name="Shape 59"/>
          <p:cNvSpPr/>
          <p:nvPr/>
        </p:nvSpPr>
        <p:spPr>
          <a:xfrm>
            <a:off x="6614999" y="3516835"/>
            <a:ext cx="887582" cy="418671"/>
          </a:xfrm>
          <a:prstGeom prst="roundRect">
            <a:avLst>
              <a:gd name="adj" fmla="val 17472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5" name="Text 60"/>
          <p:cNvSpPr txBox="1"/>
          <p:nvPr/>
        </p:nvSpPr>
        <p:spPr>
          <a:xfrm>
            <a:off x="6681987" y="3550329"/>
            <a:ext cx="753608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300" dirty="0"/>
          </a:p>
        </p:txBody>
      </p:sp>
      <p:sp>
        <p:nvSpPr>
          <p:cNvPr id="76" name="Text 61"/>
          <p:cNvSpPr txBox="1"/>
          <p:nvPr/>
        </p:nvSpPr>
        <p:spPr>
          <a:xfrm>
            <a:off x="6681987" y="3751291"/>
            <a:ext cx="80384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Courses</a:t>
            </a:r>
            <a:endParaRPr lang="en-US" sz="650" dirty="0"/>
          </a:p>
        </p:txBody>
      </p:sp>
      <p:sp>
        <p:nvSpPr>
          <p:cNvPr id="77" name="Shape 62"/>
          <p:cNvSpPr/>
          <p:nvPr/>
        </p:nvSpPr>
        <p:spPr>
          <a:xfrm>
            <a:off x="7552822" y="3516835"/>
            <a:ext cx="887582" cy="418671"/>
          </a:xfrm>
          <a:prstGeom prst="roundRect">
            <a:avLst>
              <a:gd name="adj" fmla="val 17472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8" name="Text 63"/>
          <p:cNvSpPr txBox="1"/>
          <p:nvPr/>
        </p:nvSpPr>
        <p:spPr>
          <a:xfrm>
            <a:off x="7619810" y="3550329"/>
            <a:ext cx="753608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79" name="Text 64"/>
          <p:cNvSpPr txBox="1"/>
          <p:nvPr/>
        </p:nvSpPr>
        <p:spPr>
          <a:xfrm>
            <a:off x="7619810" y="3751291"/>
            <a:ext cx="80384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Departments</a:t>
            </a:r>
            <a:endParaRPr lang="en-US" sz="650" dirty="0"/>
          </a:p>
        </p:txBody>
      </p:sp>
      <p:sp>
        <p:nvSpPr>
          <p:cNvPr id="80" name="Text 65"/>
          <p:cNvSpPr txBox="1"/>
          <p:nvPr/>
        </p:nvSpPr>
        <p:spPr>
          <a:xfrm>
            <a:off x="4739354" y="4019240"/>
            <a:ext cx="2093354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Enrollments</a:t>
            </a:r>
            <a:endParaRPr lang="en-US" sz="85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39354" y="4203455"/>
          <a:ext cx="2495278" cy="804054"/>
        </p:xfrm>
        <a:graphic>
          <a:graphicData uri="http://schemas.openxmlformats.org/drawingml/2006/table">
            <a:tbl>
              <a:tblPr/>
              <a:tblGrid>
                <a:gridCol w="586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ID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228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25B11DS045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Rohith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DBMS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2026-09-10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25B11DS211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K. Siva Lakshmi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Structures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2026-09-09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25B11DS331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M. Gowri Shankar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Programming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2026-09-08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2" name="Text 66"/>
          <p:cNvSpPr txBox="1"/>
          <p:nvPr/>
        </p:nvSpPr>
        <p:spPr>
          <a:xfrm>
            <a:off x="7301620" y="4019240"/>
            <a:ext cx="1172278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</a:t>
            </a:r>
            <a:endParaRPr lang="en-US" sz="850" dirty="0"/>
          </a:p>
        </p:txBody>
      </p:sp>
      <p:sp>
        <p:nvSpPr>
          <p:cNvPr id="83" name="Shape 67"/>
          <p:cNvSpPr/>
          <p:nvPr/>
        </p:nvSpPr>
        <p:spPr>
          <a:xfrm>
            <a:off x="7301620" y="4220202"/>
            <a:ext cx="1155532" cy="251203"/>
          </a:xfrm>
          <a:prstGeom prst="roundRect">
            <a:avLst>
              <a:gd name="adj" fmla="val 54601"/>
            </a:avLst>
          </a:prstGeom>
          <a:solidFill>
            <a:srgbClr val="1F6FD6"/>
          </a:solidFill>
          <a:ln/>
        </p:spPr>
      </p:sp>
      <p:sp>
        <p:nvSpPr>
          <p:cNvPr id="84" name="Text 68"/>
          <p:cNvSpPr txBox="1"/>
          <p:nvPr/>
        </p:nvSpPr>
        <p:spPr>
          <a:xfrm>
            <a:off x="7301620" y="4220202"/>
            <a:ext cx="1155532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Student</a:t>
            </a:r>
            <a:endParaRPr lang="en-US" sz="800" dirty="0"/>
          </a:p>
        </p:txBody>
      </p:sp>
      <p:sp>
        <p:nvSpPr>
          <p:cNvPr id="85" name="Shape 69"/>
          <p:cNvSpPr/>
          <p:nvPr/>
        </p:nvSpPr>
        <p:spPr>
          <a:xfrm>
            <a:off x="7301620" y="4538392"/>
            <a:ext cx="1155532" cy="251203"/>
          </a:xfrm>
          <a:prstGeom prst="roundRect">
            <a:avLst>
              <a:gd name="adj" fmla="val 54601"/>
            </a:avLst>
          </a:prstGeom>
          <a:solidFill>
            <a:srgbClr val="0F7B4D"/>
          </a:solidFill>
          <a:ln/>
        </p:spPr>
      </p:sp>
      <p:sp>
        <p:nvSpPr>
          <p:cNvPr id="86" name="Text 70"/>
          <p:cNvSpPr txBox="1"/>
          <p:nvPr/>
        </p:nvSpPr>
        <p:spPr>
          <a:xfrm>
            <a:off x="7301620" y="4538392"/>
            <a:ext cx="1155532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Course</a:t>
            </a:r>
            <a:endParaRPr lang="en-US" sz="800" dirty="0"/>
          </a:p>
        </p:txBody>
      </p:sp>
      <p:sp>
        <p:nvSpPr>
          <p:cNvPr id="87" name="Shape 71"/>
          <p:cNvSpPr/>
          <p:nvPr/>
        </p:nvSpPr>
        <p:spPr>
          <a:xfrm>
            <a:off x="7301620" y="4856582"/>
            <a:ext cx="1155532" cy="251203"/>
          </a:xfrm>
          <a:prstGeom prst="roundRect">
            <a:avLst>
              <a:gd name="adj" fmla="val 54601"/>
            </a:avLst>
          </a:prstGeom>
          <a:solidFill>
            <a:srgbClr val="F26A1B"/>
          </a:solidFill>
          <a:ln/>
        </p:spPr>
      </p:sp>
      <p:sp>
        <p:nvSpPr>
          <p:cNvPr id="88" name="Text 72"/>
          <p:cNvSpPr txBox="1"/>
          <p:nvPr/>
        </p:nvSpPr>
        <p:spPr>
          <a:xfrm>
            <a:off x="7301620" y="4856582"/>
            <a:ext cx="1155532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Reports</a:t>
            </a:r>
            <a:endParaRPr lang="en-US" sz="800" dirty="0"/>
          </a:p>
        </p:txBody>
      </p:sp>
      <p:sp>
        <p:nvSpPr>
          <p:cNvPr id="89" name="Shape 73"/>
          <p:cNvSpPr/>
          <p:nvPr/>
        </p:nvSpPr>
        <p:spPr>
          <a:xfrm>
            <a:off x="8708354" y="1825405"/>
            <a:ext cx="3181898" cy="3801531"/>
          </a:xfrm>
          <a:prstGeom prst="roundRect">
            <a:avLst>
              <a:gd name="adj" fmla="val 1150"/>
            </a:avLst>
          </a:prstGeom>
          <a:solidFill>
            <a:srgbClr val="E8F5E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90" name="Shape 74"/>
          <p:cNvSpPr/>
          <p:nvPr/>
        </p:nvSpPr>
        <p:spPr>
          <a:xfrm>
            <a:off x="8917689" y="1984500"/>
            <a:ext cx="418671" cy="418671"/>
          </a:xfrm>
          <a:prstGeom prst="ellipse">
            <a:avLst/>
          </a:prstGeom>
          <a:solidFill>
            <a:srgbClr val="0F7B4D"/>
          </a:solidFill>
          <a:ln/>
        </p:spPr>
      </p:sp>
      <p:pic>
        <p:nvPicPr>
          <p:cNvPr id="91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3983" y="2080794"/>
            <a:ext cx="226082" cy="226082"/>
          </a:xfrm>
          <a:prstGeom prst="rect">
            <a:avLst/>
          </a:prstGeom>
        </p:spPr>
      </p:pic>
      <p:sp>
        <p:nvSpPr>
          <p:cNvPr id="92" name="Text 75"/>
          <p:cNvSpPr txBox="1"/>
          <p:nvPr/>
        </p:nvSpPr>
        <p:spPr>
          <a:xfrm>
            <a:off x="9478708" y="2009620"/>
            <a:ext cx="234455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93" name="Text 76"/>
          <p:cNvSpPr txBox="1"/>
          <p:nvPr/>
        </p:nvSpPr>
        <p:spPr>
          <a:xfrm>
            <a:off x="9478708" y="2244076"/>
            <a:ext cx="2344557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can take this project next</a:t>
            </a:r>
            <a:endParaRPr lang="en-US" sz="950" dirty="0"/>
          </a:p>
        </p:txBody>
      </p:sp>
      <p:sp>
        <p:nvSpPr>
          <p:cNvPr id="94" name="Shape 77"/>
          <p:cNvSpPr/>
          <p:nvPr/>
        </p:nvSpPr>
        <p:spPr>
          <a:xfrm>
            <a:off x="8808835" y="2528772"/>
            <a:ext cx="2980936" cy="468911"/>
          </a:xfrm>
          <a:prstGeom prst="roundRect">
            <a:avLst>
              <a:gd name="adj" fmla="val 117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95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09316" y="2646000"/>
            <a:ext cx="234456" cy="234456"/>
          </a:xfrm>
          <a:prstGeom prst="rect">
            <a:avLst/>
          </a:prstGeom>
        </p:spPr>
      </p:pic>
      <p:sp>
        <p:nvSpPr>
          <p:cNvPr id="96" name="Text 78"/>
          <p:cNvSpPr txBox="1"/>
          <p:nvPr/>
        </p:nvSpPr>
        <p:spPr>
          <a:xfrm>
            <a:off x="9260999" y="2528772"/>
            <a:ext cx="2478531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system on a cloud platform (e.g., Render, AWS, Azure) for real-time access.</a:t>
            </a:r>
            <a:endParaRPr lang="en-US" sz="900" dirty="0"/>
          </a:p>
        </p:txBody>
      </p:sp>
      <p:sp>
        <p:nvSpPr>
          <p:cNvPr id="97" name="Shape 79"/>
          <p:cNvSpPr/>
          <p:nvPr/>
        </p:nvSpPr>
        <p:spPr>
          <a:xfrm>
            <a:off x="8808835" y="3039550"/>
            <a:ext cx="2980936" cy="468911"/>
          </a:xfrm>
          <a:prstGeom prst="roundRect">
            <a:avLst>
              <a:gd name="adj" fmla="val 117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98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09316" y="3156778"/>
            <a:ext cx="234456" cy="234456"/>
          </a:xfrm>
          <a:prstGeom prst="rect">
            <a:avLst/>
          </a:prstGeom>
        </p:spPr>
      </p:pic>
      <p:sp>
        <p:nvSpPr>
          <p:cNvPr id="99" name="Text 80"/>
          <p:cNvSpPr txBox="1"/>
          <p:nvPr/>
        </p:nvSpPr>
        <p:spPr>
          <a:xfrm>
            <a:off x="9260999" y="3039550"/>
            <a:ext cx="2478531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mobile application (Android/iOS) for students and faculty.</a:t>
            </a:r>
            <a:endParaRPr lang="en-US" sz="900" dirty="0"/>
          </a:p>
        </p:txBody>
      </p:sp>
      <p:sp>
        <p:nvSpPr>
          <p:cNvPr id="100" name="Shape 81"/>
          <p:cNvSpPr/>
          <p:nvPr/>
        </p:nvSpPr>
        <p:spPr>
          <a:xfrm>
            <a:off x="8808835" y="3550329"/>
            <a:ext cx="2980936" cy="468911"/>
          </a:xfrm>
          <a:prstGeom prst="roundRect">
            <a:avLst>
              <a:gd name="adj" fmla="val 117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101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9316" y="3667557"/>
            <a:ext cx="234456" cy="234456"/>
          </a:xfrm>
          <a:prstGeom prst="rect">
            <a:avLst/>
          </a:prstGeom>
        </p:spPr>
      </p:pic>
      <p:sp>
        <p:nvSpPr>
          <p:cNvPr id="102" name="Text 82"/>
          <p:cNvSpPr txBox="1"/>
          <p:nvPr/>
        </p:nvSpPr>
        <p:spPr>
          <a:xfrm>
            <a:off x="9260999" y="3550329"/>
            <a:ext cx="2478531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role-based access (Admin, Student, Faculty, HOD) with authentication.</a:t>
            </a:r>
            <a:endParaRPr lang="en-US" sz="900" dirty="0"/>
          </a:p>
        </p:txBody>
      </p:sp>
      <p:sp>
        <p:nvSpPr>
          <p:cNvPr id="103" name="Shape 83"/>
          <p:cNvSpPr/>
          <p:nvPr/>
        </p:nvSpPr>
        <p:spPr>
          <a:xfrm>
            <a:off x="8808835" y="4061107"/>
            <a:ext cx="2980936" cy="468911"/>
          </a:xfrm>
          <a:prstGeom prst="roundRect">
            <a:avLst>
              <a:gd name="adj" fmla="val 117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104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09316" y="4178335"/>
            <a:ext cx="234456" cy="234456"/>
          </a:xfrm>
          <a:prstGeom prst="rect">
            <a:avLst/>
          </a:prstGeom>
        </p:spPr>
      </p:pic>
      <p:sp>
        <p:nvSpPr>
          <p:cNvPr id="105" name="Text 84"/>
          <p:cNvSpPr txBox="1"/>
          <p:nvPr/>
        </p:nvSpPr>
        <p:spPr>
          <a:xfrm>
            <a:off x="9260999" y="4061107"/>
            <a:ext cx="2478531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advanced analytics and reports (using data visualization tools).</a:t>
            </a:r>
            <a:endParaRPr lang="en-US" sz="900" dirty="0"/>
          </a:p>
        </p:txBody>
      </p:sp>
      <p:sp>
        <p:nvSpPr>
          <p:cNvPr id="106" name="Shape 85"/>
          <p:cNvSpPr/>
          <p:nvPr/>
        </p:nvSpPr>
        <p:spPr>
          <a:xfrm>
            <a:off x="8808835" y="4571886"/>
            <a:ext cx="2980936" cy="468911"/>
          </a:xfrm>
          <a:prstGeom prst="roundRect">
            <a:avLst>
              <a:gd name="adj" fmla="val 117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107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09316" y="4689114"/>
            <a:ext cx="234456" cy="234456"/>
          </a:xfrm>
          <a:prstGeom prst="rect">
            <a:avLst/>
          </a:prstGeom>
        </p:spPr>
      </p:pic>
      <p:sp>
        <p:nvSpPr>
          <p:cNvPr id="108" name="Text 86"/>
          <p:cNvSpPr txBox="1"/>
          <p:nvPr/>
        </p:nvSpPr>
        <p:spPr>
          <a:xfrm>
            <a:off x="9260999" y="4571886"/>
            <a:ext cx="2478531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automated notifications (e.g., exam schedules, results, announcements).</a:t>
            </a:r>
            <a:endParaRPr lang="en-US" sz="900" dirty="0"/>
          </a:p>
        </p:txBody>
      </p:sp>
      <p:sp>
        <p:nvSpPr>
          <p:cNvPr id="109" name="Shape 87"/>
          <p:cNvSpPr/>
          <p:nvPr/>
        </p:nvSpPr>
        <p:spPr>
          <a:xfrm>
            <a:off x="8808835" y="5082664"/>
            <a:ext cx="2980936" cy="468911"/>
          </a:xfrm>
          <a:prstGeom prst="roundRect">
            <a:avLst>
              <a:gd name="adj" fmla="val 117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pic>
        <p:nvPicPr>
          <p:cNvPr id="110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09316" y="5199892"/>
            <a:ext cx="234456" cy="234456"/>
          </a:xfrm>
          <a:prstGeom prst="rect">
            <a:avLst/>
          </a:prstGeom>
        </p:spPr>
      </p:pic>
      <p:sp>
        <p:nvSpPr>
          <p:cNvPr id="111" name="Text 88"/>
          <p:cNvSpPr txBox="1"/>
          <p:nvPr/>
        </p:nvSpPr>
        <p:spPr>
          <a:xfrm>
            <a:off x="9260999" y="5082664"/>
            <a:ext cx="2478531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university systems (e.g., library, placements, fee management).</a:t>
            </a:r>
            <a:endParaRPr lang="en-US" sz="900" dirty="0"/>
          </a:p>
        </p:txBody>
      </p:sp>
      <p:sp>
        <p:nvSpPr>
          <p:cNvPr id="112" name="Shape 89"/>
          <p:cNvSpPr/>
          <p:nvPr/>
        </p:nvSpPr>
        <p:spPr>
          <a:xfrm>
            <a:off x="3600569" y="5744164"/>
            <a:ext cx="8289683" cy="519152"/>
          </a:xfrm>
          <a:prstGeom prst="roundRect">
            <a:avLst>
              <a:gd name="adj" fmla="val 17613"/>
            </a:avLst>
          </a:prstGeom>
          <a:solidFill>
            <a:srgbClr val="FFF7F0"/>
          </a:solidFill>
          <a:ln w="9525">
            <a:solidFill>
              <a:srgbClr val="F26A1B"/>
            </a:solidFill>
            <a:prstDash val="solid"/>
          </a:ln>
        </p:spPr>
      </p:sp>
      <p:pic>
        <p:nvPicPr>
          <p:cNvPr id="113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34544" y="5844645"/>
            <a:ext cx="318190" cy="318190"/>
          </a:xfrm>
          <a:prstGeom prst="rect">
            <a:avLst/>
          </a:prstGeom>
        </p:spPr>
      </p:pic>
      <p:sp>
        <p:nvSpPr>
          <p:cNvPr id="114" name="Text 90"/>
          <p:cNvSpPr txBox="1"/>
          <p:nvPr/>
        </p:nvSpPr>
        <p:spPr>
          <a:xfrm>
            <a:off x="4153215" y="5744164"/>
            <a:ext cx="921076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</a:t>
            </a:r>
            <a:endParaRPr lang="en-US" sz="1300" dirty="0"/>
          </a:p>
        </p:txBody>
      </p:sp>
      <p:sp>
        <p:nvSpPr>
          <p:cNvPr id="115" name="Text 91"/>
          <p:cNvSpPr txBox="1"/>
          <p:nvPr/>
        </p:nvSpPr>
        <p:spPr>
          <a:xfrm>
            <a:off x="5275253" y="5744164"/>
            <a:ext cx="6447531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423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build a scalable, real-world solution that enhances academic management and contributes to a smarter, more efficient university ecosystem.</a:t>
            </a:r>
            <a:endParaRPr lang="en-US" sz="1150" dirty="0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773CEC84-A0D5-50E5-222F-87D528DD276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2462" y="147532"/>
            <a:ext cx="477285" cy="4553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bld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012" y="3181898"/>
            <a:ext cx="4102974" cy="168181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90468" y="200962"/>
            <a:ext cx="3600569" cy="38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</a:t>
            </a:r>
            <a:r>
              <a:rPr lang="en-US" sz="27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515588" y="602886"/>
            <a:ext cx="301443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6" name="Text 2"/>
          <p:cNvSpPr txBox="1"/>
          <p:nvPr/>
        </p:nvSpPr>
        <p:spPr>
          <a:xfrm>
            <a:off x="7536075" y="150722"/>
            <a:ext cx="3014430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536075" y="385177"/>
            <a:ext cx="301443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703367" y="1758418"/>
            <a:ext cx="2260823" cy="80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2846962" y="1423481"/>
            <a:ext cx="6363797" cy="1088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</a:t>
            </a:r>
            <a:r>
              <a:rPr lang="en-US" sz="7000" b="1" dirty="0">
                <a:solidFill>
                  <a:srgbClr val="F26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You!</a:t>
            </a:r>
            <a:endParaRPr lang="en-US" sz="7000" dirty="0"/>
          </a:p>
        </p:txBody>
      </p:sp>
      <p:sp>
        <p:nvSpPr>
          <p:cNvPr id="10" name="Text 6"/>
          <p:cNvSpPr txBox="1"/>
          <p:nvPr/>
        </p:nvSpPr>
        <p:spPr>
          <a:xfrm>
            <a:off x="2512025" y="2562266"/>
            <a:ext cx="7201139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1507215" y="3349367"/>
            <a:ext cx="921076" cy="837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186709" y="3349367"/>
            <a:ext cx="3751291" cy="837342"/>
          </a:xfrm>
          <a:prstGeom prst="roundRect">
            <a:avLst>
              <a:gd name="adj" fmla="val 54601"/>
            </a:avLst>
          </a:prstGeom>
          <a:solidFill>
            <a:srgbClr val="E6EEFA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152" y="3567076"/>
            <a:ext cx="452165" cy="45216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275253" y="3550329"/>
            <a:ext cx="0" cy="435418"/>
          </a:xfrm>
          <a:prstGeom prst="line">
            <a:avLst/>
          </a:prstGeom>
          <a:noFill/>
          <a:ln w="12700">
            <a:solidFill>
              <a:srgbClr val="9DB4D6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543202" y="3391234"/>
            <a:ext cx="2260823" cy="75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1100" dirty="0"/>
          </a:p>
          <a:p>
            <a:pPr marL="0" indent="0">
              <a:buNone/>
            </a:pPr>
            <a:r>
              <a:rPr lang="en-US" sz="1300" kern="0" spc="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Discuss!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456" y="4689114"/>
            <a:ext cx="368430" cy="36843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126848" y="4655620"/>
            <a:ext cx="2512025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2126848" y="5024050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25B11DS045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3114911" y="5024050"/>
            <a:ext cx="2679493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B. Rohith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2126848" y="5241759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25B11DS286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3114911" y="5241759"/>
            <a:ext cx="2679493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K. Anand Sai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2126848" y="5459468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25B11DS331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3114911" y="5459468"/>
            <a:ext cx="2679493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M. Gowri Shankar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2126848" y="5677177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25B11DS211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3114911" y="5677177"/>
            <a:ext cx="2679493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K. Siva Lakshmi Rahul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2126848" y="5894886"/>
            <a:ext cx="1088544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25B11DS034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3114911" y="5894886"/>
            <a:ext cx="2679493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Ayush Kumar Singh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777658" y="4705860"/>
            <a:ext cx="0" cy="1239266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810" y="4705860"/>
            <a:ext cx="301443" cy="30144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15961" y="4655620"/>
            <a:ext cx="2930696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Guidance of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815961" y="5124531"/>
            <a:ext cx="2930696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Mrs. Parasa Keerthana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6815961" y="5358987"/>
            <a:ext cx="2930696" cy="653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Member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Data Science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University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10918936" y="133975"/>
            <a:ext cx="1172278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Today for a Brighter Tomorrow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10918936" y="5208265"/>
            <a:ext cx="1172278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334937" y="6548012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300" dirty="0">
                <a:solidFill>
                  <a:srgbClr val="122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ACADEMIC MANAGEMENT SYSTEM</a:t>
            </a:r>
            <a:endParaRPr lang="en-US" sz="650" dirty="0"/>
          </a:p>
        </p:txBody>
      </p:sp>
      <p:sp>
        <p:nvSpPr>
          <p:cNvPr id="40" name="Text 32"/>
          <p:cNvSpPr txBox="1"/>
          <p:nvPr/>
        </p:nvSpPr>
        <p:spPr>
          <a:xfrm>
            <a:off x="7117404" y="6548012"/>
            <a:ext cx="3349367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4967F96-A88E-5490-13FE-638D48E684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462" y="147532"/>
            <a:ext cx="477285" cy="4553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2849</Words>
  <Application>Microsoft Office PowerPoint</Application>
  <PresentationFormat>Widescreen</PresentationFormat>
  <Paragraphs>661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Academic Management System</dc:title>
  <dc:subject>PptxGenJS Presentation</dc:subject>
  <dc:creator>PptxGenJS</dc:creator>
  <cp:lastModifiedBy>Rohith Bandi</cp:lastModifiedBy>
  <cp:revision>2</cp:revision>
  <dcterms:created xsi:type="dcterms:W3CDTF">2026-09-29T09:57:40Z</dcterms:created>
  <dcterms:modified xsi:type="dcterms:W3CDTF">2026-09-30T06:28:19Z</dcterms:modified>
</cp:coreProperties>
</file>